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96" r:id="rId4"/>
    <p:sldId id="309" r:id="rId5"/>
    <p:sldId id="305" r:id="rId6"/>
    <p:sldId id="310" r:id="rId7"/>
    <p:sldId id="311" r:id="rId8"/>
    <p:sldId id="345" r:id="rId9"/>
    <p:sldId id="312" r:id="rId10"/>
    <p:sldId id="313" r:id="rId11"/>
    <p:sldId id="346" r:id="rId12"/>
    <p:sldId id="316" r:id="rId13"/>
    <p:sldId id="317" r:id="rId14"/>
    <p:sldId id="355" r:id="rId15"/>
    <p:sldId id="347" r:id="rId16"/>
    <p:sldId id="320" r:id="rId17"/>
    <p:sldId id="323" r:id="rId18"/>
    <p:sldId id="324" r:id="rId19"/>
    <p:sldId id="325" r:id="rId20"/>
    <p:sldId id="327" r:id="rId21"/>
    <p:sldId id="328" r:id="rId22"/>
    <p:sldId id="329" r:id="rId23"/>
    <p:sldId id="356" r:id="rId24"/>
    <p:sldId id="315" r:id="rId25"/>
    <p:sldId id="360" r:id="rId26"/>
    <p:sldId id="336" r:id="rId27"/>
    <p:sldId id="338" r:id="rId28"/>
    <p:sldId id="339" r:id="rId29"/>
    <p:sldId id="362" r:id="rId30"/>
    <p:sldId id="341" r:id="rId31"/>
    <p:sldId id="349" r:id="rId32"/>
    <p:sldId id="350" r:id="rId33"/>
    <p:sldId id="358" r:id="rId34"/>
    <p:sldId id="361" r:id="rId35"/>
    <p:sldId id="359" r:id="rId36"/>
    <p:sldId id="357" r:id="rId37"/>
    <p:sldId id="351" r:id="rId38"/>
    <p:sldId id="352" r:id="rId39"/>
    <p:sldId id="363" r:id="rId40"/>
    <p:sldId id="364" r:id="rId41"/>
    <p:sldId id="365" r:id="rId42"/>
    <p:sldId id="366" r:id="rId43"/>
    <p:sldId id="367" r:id="rId44"/>
    <p:sldId id="304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2C06"/>
    <a:srgbClr val="6FB9D7"/>
    <a:srgbClr val="808080"/>
    <a:srgbClr val="969696"/>
    <a:srgbClr val="FF7F00"/>
    <a:srgbClr val="000000"/>
    <a:srgbClr val="3333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87109" autoAdjust="0"/>
  </p:normalViewPr>
  <p:slideViewPr>
    <p:cSldViewPr>
      <p:cViewPr varScale="1">
        <p:scale>
          <a:sx n="58" d="100"/>
          <a:sy n="58" d="100"/>
        </p:scale>
        <p:origin x="149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0EF85-4A41-45D6-A549-9AEC42253074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F200B-8160-4A3D-ABF0-2A267F002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42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02-01T01:33:55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13194 5433 0,'0'17'141,"0"1"-110,0 17-15,0 1 15,0 17-15,0-1-16,-17 1 15,17 36 1,-18-19-16,18 18 16,0-17-1,0-36 1,0 0 0,0 18-16,0-35 15,0 17 1,0-17-1,0 17 1,0-17-16,0-1 16,0 1-1,0 0-15,0-1 16,0 1 0,0 0-1,0-1 1,0 1-16,0 0 15,0-1 1,0 1 15,0-1-31,0 1 16,0 0 15,0 17-31,0 0 16,0-17-1,18 17 1,-1 1-16,-17-1 16,0 0-1,18-17 1,-18-1-16,18 36 16,-18-35 15,17-18 94,1 0-31,-1 0-79,19 0-15,-1 0 16,18 0-1,0 0-15,35 0 16,-35 0 0,35 0-1,-35 0 1,0 0-16,-18-18 16,1 18-1,52 0-15,-71 0 16,36-17-1,0 17 1,-18 0 0,1-18-1,-19 18-15,1 0 16,53-18 0,-36 18-16,18-17 15,-18-1 1,0 18-1,1 0 1,-19-18-16,1 18 47,-18-17-47,35 17 16,-17-18-1,-1 18 1,1 0-16,0 0 15,-1 0 79,1 0-47,0 0-47,-1 0 16,1 0-1,35 18 1,-36-1 0,1-17-1,0 0 1,-18 18-1,17-18-15,1 0 16,0 0 0,-1 0 93,-17-18-15,0 1-79,0-36 1,0-71 0,0 36-1,0 18 1,0 17 0,0-18-16,0 18 15,0 18-15,0-18 16,0 35-1,0-17 1,0 0 0,0 0-1,0-1-15,0 19 16,-17-54 0,17 36-16,0 0 15,0-1 1,0 19 15,0-1-31,0 0 16,0 1 15,0-1-31,0 0 187,0 1-155,0-1 15,0 1-1,0-1 1,0 0-15,0 1 77,0-1-93,0-17-1,0 17 1,0-17-1,0 17 1,0 1 15,0-1-31,0 0 188,-18 18-110,0 0-47,1 0 32,-19 0-48,1-17-15,0 17 16,-18-18 0,18 0-1,-36 18-15,18 0 16,18-17-1,-18 17 1,35 0-16,-17-18 16,-18 18-1,0 0 1,18 0 0,0 0-16,-1 0 15,1 0 1,18 0-1,-1 0-15,0 0 16,1 0 0,-1 0-1,-17 18 1,-1-18-16,19 17 31,-18-17-15,-1 0 15,19 0-15,-1 0-1,0 0 17,1 0-17,-1 0-15,18 18 31,-35 0-31,-1-18 16,19 17 0,-18-17-1,17 18 1,-17 0-16,-1-1 16,19-17-1,-1 0 1,0 0-16,18 18 15,-17-18 79,-1 0 62,1 0-140,-1 0 15,0 0 1,1 0-17,-1 0 1,0 0 78</inkml:trace>
  <inkml:trace contextRef="#ctx0" brushRef="#br0" timeOffset="3007.19">13829 7444 0,'0'17'203,"18"-17"-188,0 36 1,-1-36-16,1 35 16,-18 0-1,17-17 1,1 17 0,-18-17-16,0 35 15,0-18 1,0 35-16,0-17 15,0-17 1,-18-19 0,1 19-1,17-19-15,-18 1 16,1-1 0,17 1-1,-18-18-15,18 18 31,-18-18-15,1 0 203,-1 0-188,0 0 16,1 0-31,-1 0-1,0 0 1</inkml:trace>
  <inkml:trace contextRef="#ctx0" brushRef="#br0" timeOffset="5856.69">14358 7532 0,'-17'0'188,"-1"0"-141,0 0-32,-17 0 16,18 0-15,-1-18 15,-17 18 1,-1 0-32,1 0 15,17 0 1,1 0-1,-1 0 32,18 18-15,-17-18-1,17 17 16,0 1 62,0 0-93,0 17-1,0-17-15,0 17 32,0-17-1,0 17-16,0-18 1,17-17 0,-17 18-1,0 0 1,0-1 31,0 1-16,18-18-31,-18 18 16,17-18 15,-17 17-15,18-17-1,0 0 1,-1 0-1,-17 18 1,18-18 0,0 0-16,-1 0 15,1 0 17,0 18-17,-1-18-15,18 0 47,-17 0-31,0 0 15,-1 0-15,1 0-16,0 0 15,-1 0 1,1 0 15,0 0-15,-1 0 15,1 0 16</inkml:trace>
  <inkml:trace contextRef="#ctx0" brushRef="#br0" timeOffset="8027.79">13459 6209 0,'0'-18'32,"0"1"-17,0-1 1,0 0 0,17 18-1,-17-17-15,0-1 16,18 0-1,17-34 1,-17 16-16,0-17 16,-1 18-1,1 0 1,0-36 0,-1 54-16,1-19 31,-18 19-16,0-1 17,0 36 171,0-1-172,0 1-15,0 35-1,0-18 1,0 0-16,0 18 16,0-17-1,0 17 1,0 17-16,0-35 15,0-17 1,0 0 0,0-1-16,0 1 15,0 0 17,0-1 77,0 1-93</inkml:trace>
  <inkml:trace contextRef="#ctx0" brushRef="#br0" timeOffset="10643.63">14076 5856 0,'-17'0'188,"-1"0"-157,0 0 0,1 18 0,-19-1-31,19 1 16,-19-18 0,19 18-1,17-1 16,-18-17-15,1 18 0,-19 0-1,19 17-15,-1-35 16,0 18 0,1-18-16,17 17 15,0 1 16,0-1-15,0 1 31,0 0-31,0 17 15,0-17-16,17 17-15,1-17 16,0-18 0,17 17-1,-17 1-15,-1-1 16,1-17 0,-1 0-1,19 0-15,-1 18 16,-17-18-1,17 0 1,0 0-16,0 0 16,1-18-1,17-17 1,-18 18 0,0-1-1,-17 0-15,-18 1 16,0-1-1,17 18 32,-17-18 0,0 1-31,0-19 15,0 19-15,0-1-1,-17 1 1,17-1 0,-18 0-16,1 18 31,17-17-16,0-1-15,-18 18 47,18-18-31,-18 18-16,1 0 31,-1 0-15,0 0-1,1 0 17,-1-17-17,0 17 17,1 0-17,-1 0 16,1-18-15,-1 18 15,0 0-15,1 0 31</inkml:trace>
  <inkml:trace contextRef="#ctx0" brushRef="#br0" timeOffset="32104.46">18645 5592 0,'0'17'93,"0"1"-77,0-1 15,0 1-15,0 0-16,17 52 15,1-17 1,0-18-16,-18 18 16,17-17-1,-17-1 1,18 0 0,-18 1-16,17-1 15,-17 0 1,0 0-1,36 18 1,-36-17-16,0 34 16,0-52-1,0 17-15,17 0 16,-17-17 0,0 17-1,0-17 1,0 17-16,0 0 15,0-17 1,0 0 0</inkml:trace>
  <inkml:trace contextRef="#ctx0" brushRef="#br0" timeOffset="34222.04">18750 5380 0,'0'-18'109,"0"1"-78,18 17 1,-18-18-32,35 0 31,54-35-15,-19 0-1,-17 18 1,35 0-1,-35 17 1,0 1 0,-18 17-16,18 0 15,-35 0-15,0 0 32,-1 0-17,1 0 1,-1 0 15,1 0-15,0 0-16,-1 0 15,1 0 1,0 17 0,-1 1-1,1-18-15,-18 18 16,0-1 15,0 1-31,0-1 31,0 1 16,0 0-31,0 17-1,-18 0 1,1 1 0,-1-1-1,0-17-15,18-1 32,-17 1-17,-19-18-15,19 35 16,-18 0-1,17-17 1,-17-18-16,-1 53 16,-17-18-1,18-17 1,0-1-16,0 1 16,17 0-1,-17-18 1,-1 17-1,1 19 1,0-19 0,17 1-1,1-18-15,17 18 16,-18-18 0,0 0 93</inkml:trace>
  <inkml:trace contextRef="#ctx0" brushRef="#br0" timeOffset="35867.61">19562 6703 0,'0'-18'16,"18"1"15,-18-1-15,0 0-1,0 1 16,17 17-15,-17-18 0,18-53-16,88-87 15,-89 87 1,-17 18 0,53-88-1,-35 53 1,-1 35-1,1 18-15,-18 17 47,0 36 78,0-1-93,0 1-17,0 0-15,0 35 16,0-1-1,0 1 1,0 36-16,0-19 16,18 18-1,-18-17 1,0-1 0,17-17-16,-17 0 15,36 0 1,-36-35-16,0 17 15,0-17 1</inkml:trace>
  <inkml:trace contextRef="#ctx0" brushRef="#br0" timeOffset="40475.01">18486 5909 0,'-35'0'266,"-54"0"-251,19 0 1,-71 18 0,-36 35-16,19-36 15,17 19 1,52-19-1,36-17 1,-35 0-16,18 0 16,17 18-1,-35-1 1,35-17-16,-36 18 16,37 0-1,-1-18-15,0 0 16,-18 0-1,1 0 1,-19 0 0,-16 0-16,-1 0 15,-35 35 1,52-35 0,-16 0-16,52 0 15,-18 0 1,1 0-1,17 0 1,0 0-16,0 0 16,18 0-1,-36-18-15,53 18 16,-35-17 0,36 17-1,-1 0 1,-17 0-16,17-18 15,1 18 17,-19 0-32,1 0 15,35-18 1,-18 1 15,1 17 110,-1 0-16,-52 0-94,-1 0-15,0 0-16,19 17 15,16-17 1,1 0 0,17 0-16,1 0 156,-1 0-141,-17 18 1,17-18 0,0 0-16,1 0 31</inkml:trace>
  <inkml:trace contextRef="#ctx0" brushRef="#br0" timeOffset="42916.07">15523 5733 0,'-18'0'63,"18"17"78,0 1-141,0 17 46,-88 36-30,35-18 0,18-36-1,17 19 1,0-19-16,1-17 16,-1 18-1,0 0 1,1-1-1,-1-17 17,0 0 30,18 18-46,-17-18-1,-1 0-15,1 0 16,17 17 31,-18-17-47,0 36 16,1-36-1,-19 17 1,54-17 234,35 18-235,-18 0-15,0 17 16,18 0 0,0 18-1,-17-35 1,34 17-16,-52-35 16,17 18-1,0-1 1,-17-17-1,0 18 1,17 0 0,-18-18-16,19 17 15,-19-17 17,1 0-32,0 0 31,-1 0-16,1 0 17</inkml:trace>
  <inkml:trace contextRef="#ctx0" brushRef="#br0" timeOffset="77655.75">4410 9384 0,'0'18'156,"0"-1"-140,0 36-1,0 18 1,0-18 0,0 52-16,0-16 15,0-19 1,0 1-1,0-1 1,0 18-16,0 1 16,-18-19-1,18-17-15,0-18 16,0 1 0,0-19-1,0 1 1,18-18-1,-18 18 17,18-18-32,-1 17 62,1-17-62,0 0 16,35 18-1,-1-18-15,-16 0 16,70 0 0,-54 0-1,37 0 1,17 0 0,-1 0-16,-34 0 15,17 0 1,-17 0-16,17 0 15,-18 0 1,19-18 0,-19 18-1,18 0-15,-17 0 16,17 0 0,-17 0-1,-1 0-15,-17 0 16,0-17-1,0 17 1,-18-18 0,53 18-16,-17-18 15,0 18 1,-1 0 0,-17 0-16,18 0 15,-36 18 1,18-18-1,-18 0 1,-17 0-16,17 18 16,0-18-1,1 0 1,-1 0 0,0 0-1,0 0 1,-17 0-16,53 0 15,-36 0 1,18 0 0,0 0-16,0 0 15,17 17 1,-52-17 0,70 18-1,-70-18-15,35 0 16,-18 0-1,18 0-15,-18 0 16,18 0 0,35 0-1,-35 0 1,-18 0-16,1 0 16,16 0-1,-34 0 1,0 0-16,52 0 15,-34 0 1,-19 0 15,1 0-31,0 0 16,-1 0 0,1 0-1,17 18 1,-17-1 15,-1 1-15,1-18-16,17 0 15,-17 0 1,0 0 0,-1 0-1,1 0 1,-1 0-1,1 0 17,35 0-32,-18-35 31,1 17-15,16 0-1,-34 18-15,17-17 16,-17 17-1,-18-18 1,35 18 0,-17-18-16,0 1 15,17-1 1,-35-17 0,18-18-16,-1-35 15,1-18 1,-18 0-1,0 18-15,0-18 16,0 53 0,0 18-1,0 17-15,0 0 32,-18 18 14,18-17-46,-17 17 32,-1 0 15,18-18-32,-18 18 1,1 0-1,-1-17 1,-17-1 0,17 18-16,0 0 15,-17-18 1,17 18 0,-17-17-1,18 17 1,-19-36-1,1 19-15,0-1 16,-18 0 0,18-17-1,17 35-15,-35-17 16,18-1 0,-1-17-1,-34 17-15,35 0 16,-1 18-1,36-17 1,-35 17-16,0-18 16,-1 18-1,1-18 1,0 18-16,0 0 16,-1 0-1,1 0 1,0 0-1,17 0-15,1 0 16,-19 0 0,1 0-1,-36 0-15,19 0 16,-1 0 0,17 0-1,-17 0 1,18 0-16,0 0 15,0 0 1,-1 0 0,-17 0-16,0 0 15,-35 0 1,35 0 0,-17 0-16,-1 0 15,18 0 1,0 0-1,-17 0-15,-1 0 16,1 0 0,17 0-1,18 0 1,-1 0-16,-34 0 16,52 0-1,-70 0 1,17 0-1,-17 0-15,18 0 16,-19 0 0,1 0-16,35 0 15,18 0 1,-18 0 15,18 18-31,-18-18 0,0 18 16,-18-18-1,36 17-15,0-17 16,-18 18 0,0 0-1,0-1 1,-17 1 0,-1 17-16,0-17 15,36-18 1,0 0-1,17 0 1,1 0 15,-1 0-15,0 0 0,1 0 62,-1 0-78,-17 0 15</inkml:trace>
  <inkml:trace contextRef="#ctx0" brushRef="#br0" timeOffset="81395.5">18839 7990 0,'0'18'63,"0"0"-48,0-1 1,0 1 15,0 0-15,0-1-16,0 54 16,0-1-1,0 36-15,0 0 16,0 35-1,0-17 1,17-19 0,-17 1-16,18 18 15,0 52 1,-18-70 0,0 17-16,0-17 15,0-35 16,0-18-15,0-18-16,0-17 16,0-36 93,0 0-93,0-17-16</inkml:trace>
  <inkml:trace contextRef="#ctx0" brushRef="#br0" timeOffset="83172.52">18892 7779 0,'17'0'94,"1"0"-79,-18-18 1,18 18 0,17 0-1,35-18-15,19 1 16,-1-1 0,-18 1-1,18 17-15,-17 0 16,35 0-1,-18 0 1,-35 0 0,-18 17-16,1 18 15,-1-17 1,-18 17-16,1 1 16,0-1-1,-18 0 1,0 1-1,0-1-15,0 18 16,0-18 0,-18 18-1,-17-35 1,0 70-16,-36-18 16,18-17-1,-35 18-15,35-36 16,0 0-1,18 18 1,-1-35 0,1 0-16,0 17 15,0-18 1,-18 19 0,53-19-16,-36 1 15,19 0 1,-1-18-1,1 0 1,-1 0-16,0 0 16,1 0 15,-1 0 31,0 0 17</inkml:trace>
  <inkml:trace contextRef="#ctx0" brushRef="#br0" timeOffset="85115.2">19615 9384 0,'0'-18'141,"17"1"-110,1 17-16,17-18 1,1 0 0,17 18-1,-18 0-15,18 0 16,17 0 0,-52 0-1,52 0-15,-17 0 16,0 18-1,-17 17 1,-1-17 0,-35 0-16,18 17 15,-18 0 1,0-17-16,0-1 16,0 19-1,-36-1 1,1 18-1,-36 35-15,-17 18 16,35-71 0,36-17-1,-19 17-15,1-35 16,17 0 0,1 0-1,-1 18 1,1-18 15,17 17 47,35-17-31,-18 0-31,1 0-1,35 0 1,18 0-16,-19 0 16,37-17-1,17 17 1,-18-53-1,0 53-15,-18-35 16,1 35 0,-18 0-16,-18-18 15,0 18 1,-17 0 0</inkml:trace>
  <inkml:trace contextRef="#ctx0" brushRef="#br0" timeOffset="88011.69">18521 8961 0,'0'-18'204,"-88"-17"-173,0-1-16,-89 1 1,-17-18 0,-88-35-16,18 17 15,-19-17 1,54 35 0,-18-35-16,18 35 31,17-35-31,53 35 15,36-17 1,35 17-16,0-18 16,-1 18-1,19-17 1,17 52-16,0-17 16,-18-1-1,36-17 1,-18 36-16,0-18 15,0-1 1,18 19 0,0-19-16,17 19 15,18-1 1,-17 0 0,17 1-16,-18-1 15,0 1 1,1-19-1,-1 1 1,-17-18-16,17 18 16,0 0-1,1 17 1,-1 18-16,0-18 31,1 1-15,-1-1-1,18 0-15,-17 1 16,17-1 0,-18 18-16,0 0 62,1-18-46,-1 1 15,18-1 0,-18 0-15,18 1 0,-17-1-16,-1 1 31,18-1-16,-18 18-15,18-18 16,-17 1 0,17-1-1,-18 18-15</inkml:trace>
  <inkml:trace contextRef="#ctx0" brushRef="#br0" timeOffset="89993.85">14623 7514 0,'0'-17'31,"0"-1"47,0 0-62,0 1 15,0-1-15,0-17-16,0-71 15,0 0 1,0 18-16,0 17 16,0 18-1,0 0 1,-35 18-1,35 18-15,0-1 16,0 0 0,0 1-1,0-1 1,0 0 15,0 1 16,0-1 0,0 36 125,35-18-172,18 0 15,-18 0 1,36 17 0,-18-17-16,-18 18 15,18 0 1,0-18 0,17 0-1,-34 17-15,-1 19 16,0-36-1,18 17-15,-18 1 16,-17-1 0,0 1-1,-1-18 1,-17 18 15,18-18-15,0 0 15,-1 0-15,-17 17-1,18-17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02-01T01:37:05.3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21361 10407 0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02-01T01:38:54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5380 7091 0,'18'0'234,"-1"0"-202,19 0-1,-1 0-15,0 0-1,-17 0 1,35 0-16,-18-18 15,0 18 1,1-17-16,-1 17 16,0 0-1,-17 0 1,0 0 0,-1 0-16,1 0 15,-1 0 1,-17-18-1,18 18 1,0 0 0,-1 0-1,19 0 17,-19 0-17,1 0 1,17 0-16,-17 0 15,-1 0 1,1 0-16,0 0 16,-1 0 15,1 0-15,0 0-16,-1 0 15,19 0 1,-19 0-1,-17-18-15,18 18 16,0 0 31,-1 0-16,1 0-15,-1 0-1,-17 18 1,18-18 0,0 18-16,17-18 15,-17 0 1,-1 0 0,-17 17-16,18 1 15,17-18 1,-17 17-1,-1-17 1,1 0-16,0 0 16,-18 18 15,17-18 0,1 0-31,17 0 16,1 0 15,-19 0-15,1 0-16,-1 0 47,1 0-32,0 0 32,-1 0 31,1 0 47,0 0-31,-18-18-16,17 18 16,1 0-47,0 0 0,-1 0-16,1 0-16,0 0 1,-1 0 15,1-17-31,-1 17 32,1 0-17,0 0 16</inkml:trace>
  <inkml:trace contextRef="#ctx0" brushRef="#br0" timeOffset="12140.64">13900 5980 0,'0'0'0,"0"17"47,0 1 0,0 0 31,0-1-47,0 1-15,0-1-16,0 1 47,0 0-47,0 17 31,17 36-16,19-1-15,-36 1 16,17-1 0,36 18-1,-35-35 1,0-17-16,-18-1 16,0-17-1,17 17 1,-17 0-16,0 18 15,18-18 1,-18 1 0,0-19-16,17-17 15,-17 18 1,0-1 0,0 1-1,18 17 1,-18 1-1,18 34 1,-1-35-16,1-35 16,-18 18-1,0 0 1,0-1-16,0 1 31,18 0-31,-18-1 16,17-17-16,-17 18 15,18-18 17,0 0 15,-1 0-32,18-18 16,36 18-15,-36-17-16,18 17 16,0-18-1,0 0 1,-18 1 0,36 17-16,-36-18 15,0 0 1,1 18-1,17 0-15,-36 0 16,19-17 0,16 17-1,-16 0 1,-1-18-16,0 18 16,1-17-1,-1 17 1,0 0-16,-17 0 31,17 0-15,0 0-16,-17-18 15,17 18 1,-17 0 0,0 0-16,17 0 15,0 0 1,0 0-1,1 0-15,-1 0 16,18 0 0,0 0-1,-18 0 1,36 0-16,-36 0 16,0 0 15,-17 0-31,-1 0 15,19 0 1,-19 0 0,-17 18-16,18-18 15,17 17 1,1 1 15,-19-1-31,1 1 16,17 0-1,-17-1 1,-18 1 0,0 0 31,0-1-32,17 1 1,1 0-1,-18-1 1,18-17 0,-1 0 31,1 0-32,0 0 1,17 0 31,-18 0-32,1-17 1,35-1 0,-35 0-16,17 1 15,-17-1 16,-1 18-15,1 0-16,0 0 31,-18-18-31,0 1 32,0-1-1,17 18-31,-17-18 15,35-70 17,36-35-17,-71 52 1,0 54 15,18 17-15,-18-18-1,0 0 32,0 1-15,0-1-17,0-17 1,0 0-1,-36-18-15,19 0 16,-1 0 0,0 0-1,1 18-15,-1-1 16,18 1 0,-17 0-1,-1 35-15,18-18 16,-18 0-1,18 1 1,-17 17 0,17-18-1,-18 18 1,18-35 0,-18 17-16,1 18 31,17-17-31,0-1 15,-18 18 1,-17-18 0,17 1-1,-17 17-15,17-18 16,-17 18 0,0-18-1,35 1-15,-36 17 16,1 0-1,0-18 1,0 18 0,-1 0-16,1-17 15,17 17 1,1 0 15,-1 0-15,-35 0 15,-17 0-15,17 0-1,-18 0 1,18 0-16,18 0 16,-36 0-1,36 0 1,-18 0-16,18 0 15,-18 0 17,18 0-32,-1 0 15,-16 0 1,16 0 0,-34 0-16,34 0 15,1 0 1,17 0-1,1 0 1,-1 0-16,1 0 16,-19 0-1,-17 0 1,0 17-16,18-17 16,0 0-1,0 0 1,17 0-16,-35 0 15,18 0 1,0 0 0,-1 0-1,19 0 1,-1 0 0,0 0-16,1 0 46,-19 0-14,19 0-17,-1 0 1,0 0-16,1 0 47,-1 0-32,1 0 48,-19 0-47,1 0-1,17 0-15,1 0 31,-1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EF2EDDF-53BD-43A0-BA3A-2C1DA5B1E4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201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Bộ nhớ trong chương trình C/C++ của bạn được phân thành hai phần:</a:t>
            </a:r>
          </a:p>
          <a:p>
            <a:pPr lvl="1"/>
            <a:r>
              <a:rPr lang="vi-VN" b="1" dirty="0">
                <a:solidFill>
                  <a:srgbClr val="FF0000"/>
                </a:solidFill>
              </a:rPr>
              <a:t>Stack</a:t>
            </a:r>
            <a:r>
              <a:rPr lang="vi-VN" dirty="0"/>
              <a:t>: Tất cả biến được khai báo bên trong hàm sẽ nhận bộ nhớ từ stack trong C/C++.</a:t>
            </a:r>
          </a:p>
          <a:p>
            <a:pPr lvl="1"/>
            <a:r>
              <a:rPr lang="vi-VN" b="1" dirty="0">
                <a:solidFill>
                  <a:srgbClr val="FF0000"/>
                </a:solidFill>
              </a:rPr>
              <a:t>Heap</a:t>
            </a:r>
            <a:r>
              <a:rPr lang="vi-VN" dirty="0"/>
              <a:t>: Được sử dụng để cấp phát bộ nhớ động khi chương trình chạy.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2EDDF-53BD-43A0-BA3A-2C1DA5B1E41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52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Malloc: memory allocation: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2EDDF-53BD-43A0-BA3A-2C1DA5B1E41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35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vi-VN" dirty="0"/>
              <a:t>Giữa mảng và con trỏ có một sự liên hệ rất chặt chẽ:</a:t>
            </a:r>
          </a:p>
          <a:p>
            <a:pPr lvl="1" algn="just"/>
            <a:r>
              <a:rPr lang="vi-VN" dirty="0"/>
              <a:t>Những phần tử của mảng được xác định bằng chỉ số trong mảng và cũng có thể được xác định qua biến con trỏ.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2EDDF-53BD-43A0-BA3A-2C1DA5B1E41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18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Vì bộ nhớ trong máy tính được tổ chức tuyến tính nên không thể lưu trữ mảng 2 chiều trong các hàng và cột. Khái niệm về hàng và cột chỉ là lý thuyết, thực tế một mảng 2 chiều được lưu theo thứ tự chính hàng, tức là các hàng được đặt cạnh nhau. Hình dưới đây cho thấy mảng 2-D ở trên sẽ được lưu trữ trong bộ nhớ.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2EDDF-53BD-43A0-BA3A-2C1DA5B1E41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14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2EDDF-53BD-43A0-BA3A-2C1DA5B1E41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4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Freeform 12"/>
          <p:cNvSpPr>
            <a:spLocks/>
          </p:cNvSpPr>
          <p:nvPr/>
        </p:nvSpPr>
        <p:spPr bwMode="gray">
          <a:xfrm>
            <a:off x="-9525" y="2997200"/>
            <a:ext cx="2205038" cy="2663825"/>
          </a:xfrm>
          <a:custGeom>
            <a:avLst/>
            <a:gdLst/>
            <a:ahLst/>
            <a:cxnLst>
              <a:cxn ang="0">
                <a:pos x="0" y="1678"/>
              </a:cxn>
              <a:cxn ang="0">
                <a:pos x="0" y="1134"/>
              </a:cxn>
              <a:cxn ang="0">
                <a:pos x="1406" y="0"/>
              </a:cxn>
              <a:cxn ang="0">
                <a:pos x="1406" y="91"/>
              </a:cxn>
              <a:cxn ang="0">
                <a:pos x="0" y="1678"/>
              </a:cxn>
            </a:cxnLst>
            <a:rect l="0" t="0" r="r" b="b"/>
            <a:pathLst>
              <a:path w="1406" h="1678">
                <a:moveTo>
                  <a:pt x="0" y="1678"/>
                </a:moveTo>
                <a:lnTo>
                  <a:pt x="0" y="1134"/>
                </a:lnTo>
                <a:lnTo>
                  <a:pt x="1406" y="0"/>
                </a:lnTo>
                <a:lnTo>
                  <a:pt x="1406" y="91"/>
                </a:lnTo>
                <a:lnTo>
                  <a:pt x="0" y="1678"/>
                </a:lnTo>
                <a:close/>
              </a:path>
            </a:pathLst>
          </a:custGeom>
          <a:solidFill>
            <a:srgbClr val="E0E0E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4103" name="Picture 7" descr="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1447800" y="1782763"/>
            <a:ext cx="7359650" cy="1609725"/>
          </a:xfrm>
          <a:prstGeom prst="rect">
            <a:avLst/>
          </a:prstGeom>
          <a:noFill/>
        </p:spPr>
      </p:pic>
      <p:sp>
        <p:nvSpPr>
          <p:cNvPr id="4104" name="Freeform 8"/>
          <p:cNvSpPr>
            <a:spLocks/>
          </p:cNvSpPr>
          <p:nvPr/>
        </p:nvSpPr>
        <p:spPr bwMode="gray">
          <a:xfrm>
            <a:off x="568325" y="-9525"/>
            <a:ext cx="1784350" cy="6875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90" y="2"/>
              </a:cxn>
              <a:cxn ang="0">
                <a:pos x="1124" y="1373"/>
              </a:cxn>
              <a:cxn ang="0">
                <a:pos x="1124" y="2036"/>
              </a:cxn>
              <a:cxn ang="0">
                <a:pos x="889" y="4343"/>
              </a:cxn>
              <a:cxn ang="0">
                <a:pos x="526" y="4343"/>
              </a:cxn>
              <a:cxn ang="0">
                <a:pos x="1079" y="2031"/>
              </a:cxn>
              <a:cxn ang="0">
                <a:pos x="1079" y="1383"/>
              </a:cxn>
              <a:cxn ang="0">
                <a:pos x="0" y="0"/>
              </a:cxn>
            </a:cxnLst>
            <a:rect l="0" t="0" r="r" b="b"/>
            <a:pathLst>
              <a:path w="1124" h="4343">
                <a:moveTo>
                  <a:pt x="0" y="0"/>
                </a:moveTo>
                <a:lnTo>
                  <a:pt x="490" y="2"/>
                </a:lnTo>
                <a:lnTo>
                  <a:pt x="1124" y="1373"/>
                </a:lnTo>
                <a:lnTo>
                  <a:pt x="1124" y="2036"/>
                </a:lnTo>
                <a:lnTo>
                  <a:pt x="889" y="4343"/>
                </a:lnTo>
                <a:lnTo>
                  <a:pt x="526" y="4343"/>
                </a:lnTo>
                <a:lnTo>
                  <a:pt x="1079" y="2031"/>
                </a:lnTo>
                <a:lnTo>
                  <a:pt x="1079" y="13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5" name="Freeform 9"/>
          <p:cNvSpPr>
            <a:spLocks/>
          </p:cNvSpPr>
          <p:nvPr/>
        </p:nvSpPr>
        <p:spPr bwMode="gray">
          <a:xfrm>
            <a:off x="-12700" y="-9525"/>
            <a:ext cx="2392363" cy="6880225"/>
          </a:xfrm>
          <a:custGeom>
            <a:avLst/>
            <a:gdLst/>
            <a:ahLst/>
            <a:cxnLst>
              <a:cxn ang="0">
                <a:pos x="181" y="0"/>
              </a:cxn>
              <a:cxn ang="0">
                <a:pos x="1507" y="1379"/>
              </a:cxn>
              <a:cxn ang="0">
                <a:pos x="1507" y="2036"/>
              </a:cxn>
              <a:cxn ang="0">
                <a:pos x="727" y="4334"/>
              </a:cxn>
              <a:cxn ang="0">
                <a:pos x="2" y="4334"/>
              </a:cxn>
              <a:cxn ang="0">
                <a:pos x="2" y="4162"/>
              </a:cxn>
              <a:cxn ang="0">
                <a:pos x="1441" y="1936"/>
              </a:cxn>
              <a:cxn ang="0">
                <a:pos x="1441" y="1447"/>
              </a:cxn>
              <a:cxn ang="0">
                <a:pos x="8" y="434"/>
              </a:cxn>
              <a:cxn ang="0">
                <a:pos x="0" y="6"/>
              </a:cxn>
              <a:cxn ang="0">
                <a:pos x="181" y="0"/>
              </a:cxn>
            </a:cxnLst>
            <a:rect l="0" t="0" r="r" b="b"/>
            <a:pathLst>
              <a:path w="1507" h="4334">
                <a:moveTo>
                  <a:pt x="181" y="0"/>
                </a:moveTo>
                <a:lnTo>
                  <a:pt x="1507" y="1379"/>
                </a:lnTo>
                <a:lnTo>
                  <a:pt x="1507" y="2036"/>
                </a:lnTo>
                <a:lnTo>
                  <a:pt x="727" y="4334"/>
                </a:lnTo>
                <a:lnTo>
                  <a:pt x="2" y="4334"/>
                </a:lnTo>
                <a:lnTo>
                  <a:pt x="2" y="4162"/>
                </a:lnTo>
                <a:lnTo>
                  <a:pt x="1441" y="1936"/>
                </a:lnTo>
                <a:lnTo>
                  <a:pt x="1441" y="1447"/>
                </a:lnTo>
                <a:lnTo>
                  <a:pt x="8" y="434"/>
                </a:lnTo>
                <a:lnTo>
                  <a:pt x="0" y="6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6" name="Freeform 10"/>
          <p:cNvSpPr>
            <a:spLocks/>
          </p:cNvSpPr>
          <p:nvPr/>
        </p:nvSpPr>
        <p:spPr bwMode="gray">
          <a:xfrm>
            <a:off x="2557463" y="0"/>
            <a:ext cx="3022600" cy="6858000"/>
          </a:xfrm>
          <a:custGeom>
            <a:avLst/>
            <a:gdLst/>
            <a:ahLst/>
            <a:cxnLst>
              <a:cxn ang="0">
                <a:pos x="1904" y="0"/>
              </a:cxn>
              <a:cxn ang="0">
                <a:pos x="1178" y="0"/>
              </a:cxn>
              <a:cxn ang="0">
                <a:pos x="0" y="1342"/>
              </a:cxn>
              <a:cxn ang="0">
                <a:pos x="0" y="1950"/>
              </a:cxn>
              <a:cxn ang="0">
                <a:pos x="498" y="4354"/>
              </a:cxn>
              <a:cxn ang="0">
                <a:pos x="1088" y="4354"/>
              </a:cxn>
              <a:cxn ang="0">
                <a:pos x="44" y="1985"/>
              </a:cxn>
              <a:cxn ang="0">
                <a:pos x="44" y="1361"/>
              </a:cxn>
              <a:cxn ang="0">
                <a:pos x="1904" y="0"/>
              </a:cxn>
            </a:cxnLst>
            <a:rect l="0" t="0" r="r" b="b"/>
            <a:pathLst>
              <a:path w="1904" h="4354">
                <a:moveTo>
                  <a:pt x="1904" y="0"/>
                </a:moveTo>
                <a:lnTo>
                  <a:pt x="1178" y="0"/>
                </a:lnTo>
                <a:lnTo>
                  <a:pt x="0" y="1342"/>
                </a:lnTo>
                <a:lnTo>
                  <a:pt x="0" y="1950"/>
                </a:lnTo>
                <a:lnTo>
                  <a:pt x="498" y="4354"/>
                </a:lnTo>
                <a:lnTo>
                  <a:pt x="1088" y="4354"/>
                </a:lnTo>
                <a:lnTo>
                  <a:pt x="44" y="1985"/>
                </a:lnTo>
                <a:lnTo>
                  <a:pt x="44" y="1361"/>
                </a:lnTo>
                <a:lnTo>
                  <a:pt x="1904" y="0"/>
                </a:lnTo>
                <a:close/>
              </a:path>
            </a:pathLst>
          </a:custGeom>
          <a:solidFill>
            <a:srgbClr val="D3D3D3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7" name="Freeform 11"/>
          <p:cNvSpPr>
            <a:spLocks/>
          </p:cNvSpPr>
          <p:nvPr/>
        </p:nvSpPr>
        <p:spPr bwMode="gray">
          <a:xfrm>
            <a:off x="2959100" y="-14288"/>
            <a:ext cx="2711450" cy="1887538"/>
          </a:xfrm>
          <a:custGeom>
            <a:avLst/>
            <a:gdLst/>
            <a:ahLst/>
            <a:cxnLst>
              <a:cxn ang="0">
                <a:pos x="1708" y="1"/>
              </a:cxn>
              <a:cxn ang="0">
                <a:pos x="1379" y="0"/>
              </a:cxn>
              <a:cxn ang="0">
                <a:pos x="0" y="1189"/>
              </a:cxn>
              <a:cxn ang="0">
                <a:pos x="1708" y="1"/>
              </a:cxn>
            </a:cxnLst>
            <a:rect l="0" t="0" r="r" b="b"/>
            <a:pathLst>
              <a:path w="1708" h="1189">
                <a:moveTo>
                  <a:pt x="1708" y="1"/>
                </a:moveTo>
                <a:lnTo>
                  <a:pt x="1379" y="0"/>
                </a:lnTo>
                <a:lnTo>
                  <a:pt x="0" y="1189"/>
                </a:lnTo>
                <a:lnTo>
                  <a:pt x="1708" y="1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9" name="Freeform 13"/>
          <p:cNvSpPr>
            <a:spLocks/>
          </p:cNvSpPr>
          <p:nvPr/>
        </p:nvSpPr>
        <p:spPr bwMode="gray">
          <a:xfrm>
            <a:off x="2498725" y="-9525"/>
            <a:ext cx="6105525" cy="6867525"/>
          </a:xfrm>
          <a:custGeom>
            <a:avLst/>
            <a:gdLst/>
            <a:ahLst/>
            <a:cxnLst>
              <a:cxn ang="0">
                <a:pos x="3665" y="0"/>
              </a:cxn>
              <a:cxn ang="0">
                <a:pos x="2122" y="0"/>
              </a:cxn>
              <a:cxn ang="0">
                <a:pos x="0" y="1339"/>
              </a:cxn>
              <a:cxn ang="0">
                <a:pos x="0" y="1950"/>
              </a:cxn>
              <a:cxn ang="0">
                <a:pos x="1215" y="4354"/>
              </a:cxn>
              <a:cxn ang="0">
                <a:pos x="1941" y="4354"/>
              </a:cxn>
              <a:cxn ang="0">
                <a:pos x="72" y="1877"/>
              </a:cxn>
              <a:cxn ang="0">
                <a:pos x="72" y="1361"/>
              </a:cxn>
              <a:cxn ang="0">
                <a:pos x="3846" y="0"/>
              </a:cxn>
              <a:cxn ang="0">
                <a:pos x="2122" y="0"/>
              </a:cxn>
            </a:cxnLst>
            <a:rect l="0" t="0" r="r" b="b"/>
            <a:pathLst>
              <a:path w="3846" h="4354">
                <a:moveTo>
                  <a:pt x="3665" y="0"/>
                </a:moveTo>
                <a:lnTo>
                  <a:pt x="2122" y="0"/>
                </a:lnTo>
                <a:lnTo>
                  <a:pt x="0" y="1339"/>
                </a:lnTo>
                <a:lnTo>
                  <a:pt x="0" y="1950"/>
                </a:lnTo>
                <a:lnTo>
                  <a:pt x="1215" y="4354"/>
                </a:lnTo>
                <a:lnTo>
                  <a:pt x="1941" y="4354"/>
                </a:lnTo>
                <a:lnTo>
                  <a:pt x="72" y="1877"/>
                </a:lnTo>
                <a:lnTo>
                  <a:pt x="72" y="1361"/>
                </a:lnTo>
                <a:lnTo>
                  <a:pt x="3846" y="0"/>
                </a:lnTo>
                <a:lnTo>
                  <a:pt x="2122" y="0"/>
                </a:lnTo>
              </a:path>
            </a:pathLst>
          </a:cu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0" name="Freeform 14"/>
          <p:cNvSpPr>
            <a:spLocks/>
          </p:cNvSpPr>
          <p:nvPr/>
        </p:nvSpPr>
        <p:spPr bwMode="gray">
          <a:xfrm>
            <a:off x="-9525" y="185738"/>
            <a:ext cx="2246313" cy="59848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5" y="1197"/>
              </a:cxn>
              <a:cxn ang="0">
                <a:pos x="1415" y="1862"/>
              </a:cxn>
              <a:cxn ang="0">
                <a:pos x="0" y="3770"/>
              </a:cxn>
              <a:cxn ang="0">
                <a:pos x="0" y="3272"/>
              </a:cxn>
              <a:cxn ang="0">
                <a:pos x="1376" y="1801"/>
              </a:cxn>
              <a:cxn ang="0">
                <a:pos x="1376" y="1272"/>
              </a:cxn>
              <a:cxn ang="0">
                <a:pos x="6" y="962"/>
              </a:cxn>
              <a:cxn ang="0">
                <a:pos x="0" y="0"/>
              </a:cxn>
            </a:cxnLst>
            <a:rect l="0" t="0" r="r" b="b"/>
            <a:pathLst>
              <a:path w="1415" h="3770">
                <a:moveTo>
                  <a:pt x="0" y="0"/>
                </a:moveTo>
                <a:lnTo>
                  <a:pt x="1415" y="1197"/>
                </a:lnTo>
                <a:lnTo>
                  <a:pt x="1415" y="1862"/>
                </a:lnTo>
                <a:lnTo>
                  <a:pt x="0" y="3770"/>
                </a:lnTo>
                <a:lnTo>
                  <a:pt x="0" y="3272"/>
                </a:lnTo>
                <a:lnTo>
                  <a:pt x="1376" y="1801"/>
                </a:lnTo>
                <a:lnTo>
                  <a:pt x="1376" y="1272"/>
                </a:lnTo>
                <a:lnTo>
                  <a:pt x="6" y="9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1" name="Freeform 15"/>
          <p:cNvSpPr>
            <a:spLocks/>
          </p:cNvSpPr>
          <p:nvPr/>
        </p:nvSpPr>
        <p:spPr bwMode="gray">
          <a:xfrm>
            <a:off x="2608263" y="642938"/>
            <a:ext cx="6540500" cy="6215062"/>
          </a:xfrm>
          <a:custGeom>
            <a:avLst/>
            <a:gdLst/>
            <a:ahLst/>
            <a:cxnLst>
              <a:cxn ang="0">
                <a:pos x="4115" y="0"/>
              </a:cxn>
              <a:cxn ang="0">
                <a:pos x="4120" y="500"/>
              </a:cxn>
              <a:cxn ang="0">
                <a:pos x="61" y="1059"/>
              </a:cxn>
              <a:cxn ang="0">
                <a:pos x="61" y="1466"/>
              </a:cxn>
              <a:cxn ang="0">
                <a:pos x="2419" y="3915"/>
              </a:cxn>
              <a:cxn ang="0">
                <a:pos x="1830" y="3915"/>
              </a:cxn>
              <a:cxn ang="0">
                <a:pos x="0" y="1449"/>
              </a:cxn>
              <a:cxn ang="0">
                <a:pos x="0" y="967"/>
              </a:cxn>
              <a:cxn ang="0">
                <a:pos x="4115" y="0"/>
              </a:cxn>
            </a:cxnLst>
            <a:rect l="0" t="0" r="r" b="b"/>
            <a:pathLst>
              <a:path w="4120" h="3915">
                <a:moveTo>
                  <a:pt x="4115" y="0"/>
                </a:moveTo>
                <a:lnTo>
                  <a:pt x="4120" y="500"/>
                </a:lnTo>
                <a:lnTo>
                  <a:pt x="61" y="1059"/>
                </a:lnTo>
                <a:lnTo>
                  <a:pt x="61" y="1466"/>
                </a:lnTo>
                <a:lnTo>
                  <a:pt x="2419" y="3915"/>
                </a:lnTo>
                <a:lnTo>
                  <a:pt x="1830" y="3915"/>
                </a:lnTo>
                <a:lnTo>
                  <a:pt x="0" y="1449"/>
                </a:lnTo>
                <a:lnTo>
                  <a:pt x="0" y="967"/>
                </a:lnTo>
                <a:lnTo>
                  <a:pt x="4115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2" name="Freeform 16"/>
          <p:cNvSpPr>
            <a:spLocks/>
          </p:cNvSpPr>
          <p:nvPr/>
        </p:nvSpPr>
        <p:spPr bwMode="gray">
          <a:xfrm>
            <a:off x="2586038" y="-17463"/>
            <a:ext cx="6557962" cy="6875463"/>
          </a:xfrm>
          <a:custGeom>
            <a:avLst/>
            <a:gdLst/>
            <a:ahLst/>
            <a:cxnLst>
              <a:cxn ang="0">
                <a:pos x="4131" y="0"/>
              </a:cxn>
              <a:cxn ang="0">
                <a:pos x="4126" y="494"/>
              </a:cxn>
              <a:cxn ang="0">
                <a:pos x="55" y="1404"/>
              </a:cxn>
              <a:cxn ang="0">
                <a:pos x="55" y="1853"/>
              </a:cxn>
              <a:cxn ang="0">
                <a:pos x="3156" y="4348"/>
              </a:cxn>
              <a:cxn ang="0">
                <a:pos x="2067" y="4348"/>
              </a:cxn>
              <a:cxn ang="0">
                <a:pos x="0" y="1882"/>
              </a:cxn>
              <a:cxn ang="0">
                <a:pos x="0" y="1355"/>
              </a:cxn>
              <a:cxn ang="0">
                <a:pos x="3615" y="0"/>
              </a:cxn>
              <a:cxn ang="0">
                <a:pos x="4131" y="0"/>
              </a:cxn>
            </a:cxnLst>
            <a:rect l="0" t="0" r="r" b="b"/>
            <a:pathLst>
              <a:path w="4131" h="4348">
                <a:moveTo>
                  <a:pt x="4131" y="0"/>
                </a:moveTo>
                <a:lnTo>
                  <a:pt x="4126" y="494"/>
                </a:lnTo>
                <a:lnTo>
                  <a:pt x="55" y="1404"/>
                </a:lnTo>
                <a:lnTo>
                  <a:pt x="55" y="1853"/>
                </a:lnTo>
                <a:lnTo>
                  <a:pt x="3156" y="4348"/>
                </a:lnTo>
                <a:lnTo>
                  <a:pt x="2067" y="4348"/>
                </a:lnTo>
                <a:lnTo>
                  <a:pt x="0" y="1882"/>
                </a:lnTo>
                <a:lnTo>
                  <a:pt x="0" y="1355"/>
                </a:lnTo>
                <a:lnTo>
                  <a:pt x="3615" y="0"/>
                </a:lnTo>
                <a:lnTo>
                  <a:pt x="4131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3" name="Freeform 17"/>
          <p:cNvSpPr>
            <a:spLocks/>
          </p:cNvSpPr>
          <p:nvPr/>
        </p:nvSpPr>
        <p:spPr bwMode="gray">
          <a:xfrm>
            <a:off x="2771775" y="-26988"/>
            <a:ext cx="5761038" cy="2087563"/>
          </a:xfrm>
          <a:custGeom>
            <a:avLst/>
            <a:gdLst/>
            <a:ahLst/>
            <a:cxnLst>
              <a:cxn ang="0">
                <a:pos x="0" y="1315"/>
              </a:cxn>
              <a:cxn ang="0">
                <a:pos x="2858" y="0"/>
              </a:cxn>
              <a:cxn ang="0">
                <a:pos x="3629" y="0"/>
              </a:cxn>
              <a:cxn ang="0">
                <a:pos x="0" y="1315"/>
              </a:cxn>
            </a:cxnLst>
            <a:rect l="0" t="0" r="r" b="b"/>
            <a:pathLst>
              <a:path w="3629" h="1315">
                <a:moveTo>
                  <a:pt x="0" y="1315"/>
                </a:moveTo>
                <a:lnTo>
                  <a:pt x="2858" y="0"/>
                </a:lnTo>
                <a:lnTo>
                  <a:pt x="3629" y="0"/>
                </a:lnTo>
                <a:lnTo>
                  <a:pt x="0" y="1315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4" name="Freeform 18"/>
          <p:cNvSpPr>
            <a:spLocks/>
          </p:cNvSpPr>
          <p:nvPr/>
        </p:nvSpPr>
        <p:spPr bwMode="gray">
          <a:xfrm>
            <a:off x="2555875" y="2924175"/>
            <a:ext cx="3384550" cy="39449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32" y="2495"/>
              </a:cxn>
              <a:cxn ang="0">
                <a:pos x="1814" y="2495"/>
              </a:cxn>
              <a:cxn ang="0">
                <a:pos x="0" y="0"/>
              </a:cxn>
            </a:cxnLst>
            <a:rect l="0" t="0" r="r" b="b"/>
            <a:pathLst>
              <a:path w="2132" h="2495">
                <a:moveTo>
                  <a:pt x="0" y="0"/>
                </a:moveTo>
                <a:lnTo>
                  <a:pt x="2132" y="2495"/>
                </a:lnTo>
                <a:lnTo>
                  <a:pt x="1814" y="24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5001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0" name="Freeform 24"/>
          <p:cNvSpPr>
            <a:spLocks/>
          </p:cNvSpPr>
          <p:nvPr/>
        </p:nvSpPr>
        <p:spPr bwMode="gray">
          <a:xfrm>
            <a:off x="-19050" y="180975"/>
            <a:ext cx="2262188" cy="1914525"/>
          </a:xfrm>
          <a:custGeom>
            <a:avLst/>
            <a:gdLst/>
            <a:ahLst/>
            <a:cxnLst>
              <a:cxn ang="0">
                <a:pos x="1425" y="1206"/>
              </a:cxn>
              <a:cxn ang="0">
                <a:pos x="0" y="0"/>
              </a:cxn>
              <a:cxn ang="0">
                <a:pos x="0" y="186"/>
              </a:cxn>
              <a:cxn ang="0">
                <a:pos x="1425" y="1206"/>
              </a:cxn>
            </a:cxnLst>
            <a:rect l="0" t="0" r="r" b="b"/>
            <a:pathLst>
              <a:path w="1425" h="1206">
                <a:moveTo>
                  <a:pt x="1425" y="1206"/>
                </a:moveTo>
                <a:lnTo>
                  <a:pt x="0" y="0"/>
                </a:lnTo>
                <a:lnTo>
                  <a:pt x="0" y="186"/>
                </a:lnTo>
                <a:lnTo>
                  <a:pt x="1425" y="1206"/>
                </a:lnTo>
                <a:close/>
              </a:path>
            </a:pathLst>
          </a:custGeom>
          <a:solidFill>
            <a:srgbClr val="333333">
              <a:alpha val="39999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1" name="Freeform 25"/>
          <p:cNvSpPr>
            <a:spLocks/>
          </p:cNvSpPr>
          <p:nvPr/>
        </p:nvSpPr>
        <p:spPr bwMode="gray">
          <a:xfrm>
            <a:off x="-12700" y="3105150"/>
            <a:ext cx="2327275" cy="3762375"/>
          </a:xfrm>
          <a:custGeom>
            <a:avLst/>
            <a:gdLst/>
            <a:ahLst/>
            <a:cxnLst>
              <a:cxn ang="0">
                <a:pos x="0" y="2248"/>
              </a:cxn>
              <a:cxn ang="0">
                <a:pos x="1466" y="0"/>
              </a:cxn>
              <a:cxn ang="0">
                <a:pos x="194" y="2370"/>
              </a:cxn>
              <a:cxn ang="0">
                <a:pos x="4" y="2364"/>
              </a:cxn>
              <a:cxn ang="0">
                <a:pos x="0" y="2248"/>
              </a:cxn>
            </a:cxnLst>
            <a:rect l="0" t="0" r="r" b="b"/>
            <a:pathLst>
              <a:path w="1466" h="2370">
                <a:moveTo>
                  <a:pt x="0" y="2248"/>
                </a:moveTo>
                <a:lnTo>
                  <a:pt x="1466" y="0"/>
                </a:lnTo>
                <a:lnTo>
                  <a:pt x="194" y="2370"/>
                </a:lnTo>
                <a:lnTo>
                  <a:pt x="4" y="2364"/>
                </a:lnTo>
                <a:lnTo>
                  <a:pt x="0" y="2248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2" name="Freeform 26"/>
          <p:cNvSpPr>
            <a:spLocks/>
          </p:cNvSpPr>
          <p:nvPr/>
        </p:nvSpPr>
        <p:spPr bwMode="gray">
          <a:xfrm>
            <a:off x="-9525" y="1403350"/>
            <a:ext cx="2317750" cy="5265738"/>
          </a:xfrm>
          <a:custGeom>
            <a:avLst/>
            <a:gdLst/>
            <a:ahLst/>
            <a:cxnLst>
              <a:cxn ang="0">
                <a:pos x="6" y="0"/>
              </a:cxn>
              <a:cxn ang="0">
                <a:pos x="6" y="643"/>
              </a:cxn>
              <a:cxn ang="0">
                <a:pos x="1410" y="564"/>
              </a:cxn>
              <a:cxn ang="0">
                <a:pos x="1410" y="1049"/>
              </a:cxn>
              <a:cxn ang="0">
                <a:pos x="0" y="2852"/>
              </a:cxn>
              <a:cxn ang="0">
                <a:pos x="0" y="3317"/>
              </a:cxn>
              <a:cxn ang="0">
                <a:pos x="1460" y="1062"/>
              </a:cxn>
              <a:cxn ang="0">
                <a:pos x="1460" y="505"/>
              </a:cxn>
              <a:cxn ang="0">
                <a:pos x="6" y="0"/>
              </a:cxn>
            </a:cxnLst>
            <a:rect l="0" t="0" r="r" b="b"/>
            <a:pathLst>
              <a:path w="1460" h="3317">
                <a:moveTo>
                  <a:pt x="6" y="0"/>
                </a:moveTo>
                <a:lnTo>
                  <a:pt x="6" y="643"/>
                </a:lnTo>
                <a:lnTo>
                  <a:pt x="1410" y="564"/>
                </a:lnTo>
                <a:lnTo>
                  <a:pt x="1410" y="1049"/>
                </a:lnTo>
                <a:lnTo>
                  <a:pt x="0" y="2852"/>
                </a:lnTo>
                <a:lnTo>
                  <a:pt x="0" y="3317"/>
                </a:lnTo>
                <a:lnTo>
                  <a:pt x="1460" y="1062"/>
                </a:lnTo>
                <a:lnTo>
                  <a:pt x="1460" y="505"/>
                </a:lnTo>
                <a:lnTo>
                  <a:pt x="6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132" name="Group 36"/>
          <p:cNvGrpSpPr>
            <a:grpSpLocks/>
          </p:cNvGrpSpPr>
          <p:nvPr userDrawn="1"/>
        </p:nvGrpSpPr>
        <p:grpSpPr bwMode="auto">
          <a:xfrm>
            <a:off x="0" y="0"/>
            <a:ext cx="9153525" cy="6886575"/>
            <a:chOff x="0" y="0"/>
            <a:chExt cx="5760" cy="4326"/>
          </a:xfrm>
        </p:grpSpPr>
        <p:pic>
          <p:nvPicPr>
            <p:cNvPr id="4131" name="Picture 35" descr="11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gray">
            <a:xfrm>
              <a:off x="0" y="0"/>
              <a:ext cx="5760" cy="4326"/>
            </a:xfrm>
            <a:prstGeom prst="rect">
              <a:avLst/>
            </a:prstGeom>
            <a:noFill/>
          </p:spPr>
        </p:pic>
        <p:sp>
          <p:nvSpPr>
            <p:cNvPr id="4123" name="Rectangle 27"/>
            <p:cNvSpPr>
              <a:spLocks noChangeArrowheads="1"/>
            </p:cNvSpPr>
            <p:nvPr userDrawn="1"/>
          </p:nvSpPr>
          <p:spPr bwMode="gray">
            <a:xfrm>
              <a:off x="212" y="462"/>
              <a:ext cx="5334" cy="3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3076575"/>
            <a:ext cx="7772400" cy="8858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46" name="Rectangle 50"/>
          <p:cNvSpPr>
            <a:spLocks noChangeArrowheads="1"/>
          </p:cNvSpPr>
          <p:nvPr/>
        </p:nvSpPr>
        <p:spPr bwMode="gray">
          <a:xfrm>
            <a:off x="341313" y="722313"/>
            <a:ext cx="8478837" cy="541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63" y="76200"/>
            <a:ext cx="8326437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48288" y="6593392"/>
            <a:ext cx="505760" cy="304800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B8312829-49E3-4E17-B3A1-69417714C48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60" y="6583878"/>
            <a:ext cx="408640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4453330E-6C32-4BFE-8810-01D51B7355A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14440" y="6576950"/>
            <a:ext cx="429560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87B6DCF0-D2CB-4FE5-BA28-8D3CBF35D10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83325"/>
            <a:ext cx="2895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54160" y="6283325"/>
            <a:ext cx="2133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702CAFE-1915-4C47-8B69-5B6D3A95C5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198438"/>
            <a:ext cx="630237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83325"/>
            <a:ext cx="2895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83325"/>
            <a:ext cx="2133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E79F10D-A928-4C9A-BDF9-033C4E4BA2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Freeform 9"/>
          <p:cNvSpPr>
            <a:spLocks/>
          </p:cNvSpPr>
          <p:nvPr/>
        </p:nvSpPr>
        <p:spPr bwMode="gray">
          <a:xfrm>
            <a:off x="7658100" y="0"/>
            <a:ext cx="1104900" cy="6848475"/>
          </a:xfrm>
          <a:custGeom>
            <a:avLst/>
            <a:gdLst/>
            <a:ahLst/>
            <a:cxnLst>
              <a:cxn ang="0">
                <a:pos x="312" y="0"/>
              </a:cxn>
              <a:cxn ang="0">
                <a:pos x="528" y="444"/>
              </a:cxn>
              <a:cxn ang="0">
                <a:pos x="696" y="960"/>
              </a:cxn>
              <a:cxn ang="0">
                <a:pos x="426" y="4314"/>
              </a:cxn>
              <a:cxn ang="0">
                <a:pos x="108" y="4314"/>
              </a:cxn>
              <a:cxn ang="0">
                <a:pos x="648" y="960"/>
              </a:cxn>
              <a:cxn ang="0">
                <a:pos x="456" y="432"/>
              </a:cxn>
              <a:cxn ang="0">
                <a:pos x="0" y="0"/>
              </a:cxn>
              <a:cxn ang="0">
                <a:pos x="312" y="0"/>
              </a:cxn>
            </a:cxnLst>
            <a:rect l="0" t="0" r="r" b="b"/>
            <a:pathLst>
              <a:path w="696" h="4314">
                <a:moveTo>
                  <a:pt x="312" y="0"/>
                </a:moveTo>
                <a:lnTo>
                  <a:pt x="528" y="444"/>
                </a:lnTo>
                <a:lnTo>
                  <a:pt x="696" y="960"/>
                </a:lnTo>
                <a:lnTo>
                  <a:pt x="426" y="4314"/>
                </a:lnTo>
                <a:lnTo>
                  <a:pt x="108" y="4314"/>
                </a:lnTo>
                <a:lnTo>
                  <a:pt x="648" y="960"/>
                </a:lnTo>
                <a:lnTo>
                  <a:pt x="456" y="432"/>
                </a:lnTo>
                <a:lnTo>
                  <a:pt x="0" y="0"/>
                </a:lnTo>
                <a:lnTo>
                  <a:pt x="312" y="0"/>
                </a:lnTo>
                <a:close/>
              </a:path>
            </a:pathLst>
          </a:cu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4" name="Freeform 10"/>
          <p:cNvSpPr>
            <a:spLocks/>
          </p:cNvSpPr>
          <p:nvPr/>
        </p:nvSpPr>
        <p:spPr bwMode="gray">
          <a:xfrm>
            <a:off x="1066800" y="0"/>
            <a:ext cx="7543800" cy="685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36" y="0"/>
              </a:cxn>
              <a:cxn ang="0">
                <a:pos x="4590" y="450"/>
              </a:cxn>
              <a:cxn ang="0">
                <a:pos x="4752" y="972"/>
              </a:cxn>
              <a:cxn ang="0">
                <a:pos x="3600" y="4320"/>
              </a:cxn>
              <a:cxn ang="0">
                <a:pos x="3312" y="4320"/>
              </a:cxn>
              <a:cxn ang="0">
                <a:pos x="4712" y="994"/>
              </a:cxn>
              <a:cxn ang="0">
                <a:pos x="4518" y="524"/>
              </a:cxn>
              <a:cxn ang="0">
                <a:pos x="0" y="0"/>
              </a:cxn>
            </a:cxnLst>
            <a:rect l="0" t="0" r="r" b="b"/>
            <a:pathLst>
              <a:path w="4752" h="4320">
                <a:moveTo>
                  <a:pt x="0" y="0"/>
                </a:moveTo>
                <a:lnTo>
                  <a:pt x="1536" y="0"/>
                </a:lnTo>
                <a:lnTo>
                  <a:pt x="4590" y="450"/>
                </a:lnTo>
                <a:lnTo>
                  <a:pt x="4752" y="972"/>
                </a:lnTo>
                <a:lnTo>
                  <a:pt x="3600" y="4320"/>
                </a:lnTo>
                <a:lnTo>
                  <a:pt x="3312" y="4320"/>
                </a:lnTo>
                <a:lnTo>
                  <a:pt x="4712" y="994"/>
                </a:lnTo>
                <a:lnTo>
                  <a:pt x="4518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5" name="Freeform 11"/>
          <p:cNvSpPr>
            <a:spLocks/>
          </p:cNvSpPr>
          <p:nvPr/>
        </p:nvSpPr>
        <p:spPr bwMode="gray">
          <a:xfrm>
            <a:off x="5486400" y="1657350"/>
            <a:ext cx="2990850" cy="5200650"/>
          </a:xfrm>
          <a:custGeom>
            <a:avLst/>
            <a:gdLst/>
            <a:ahLst/>
            <a:cxnLst>
              <a:cxn ang="0">
                <a:pos x="384" y="3276"/>
              </a:cxn>
              <a:cxn ang="0">
                <a:pos x="1884" y="0"/>
              </a:cxn>
              <a:cxn ang="0">
                <a:pos x="0" y="3276"/>
              </a:cxn>
              <a:cxn ang="0">
                <a:pos x="384" y="3276"/>
              </a:cxn>
            </a:cxnLst>
            <a:rect l="0" t="0" r="r" b="b"/>
            <a:pathLst>
              <a:path w="1884" h="3276">
                <a:moveTo>
                  <a:pt x="384" y="3276"/>
                </a:moveTo>
                <a:lnTo>
                  <a:pt x="1884" y="0"/>
                </a:lnTo>
                <a:lnTo>
                  <a:pt x="0" y="3276"/>
                </a:lnTo>
                <a:lnTo>
                  <a:pt x="384" y="3276"/>
                </a:lnTo>
                <a:close/>
              </a:path>
            </a:pathLst>
          </a:custGeom>
          <a:solidFill>
            <a:srgbClr val="E0E0E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6" name="Freeform 12"/>
          <p:cNvSpPr>
            <a:spLocks/>
          </p:cNvSpPr>
          <p:nvPr/>
        </p:nvSpPr>
        <p:spPr bwMode="gray">
          <a:xfrm>
            <a:off x="3429000" y="0"/>
            <a:ext cx="5172075" cy="685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82" y="475"/>
              </a:cxn>
              <a:cxn ang="0">
                <a:pos x="3210" y="936"/>
              </a:cxn>
              <a:cxn ang="0">
                <a:pos x="1728" y="4320"/>
              </a:cxn>
              <a:cxn ang="0">
                <a:pos x="1872" y="4320"/>
              </a:cxn>
              <a:cxn ang="0">
                <a:pos x="3258" y="912"/>
              </a:cxn>
              <a:cxn ang="0">
                <a:pos x="3120" y="432"/>
              </a:cxn>
              <a:cxn ang="0">
                <a:pos x="1296" y="0"/>
              </a:cxn>
              <a:cxn ang="0">
                <a:pos x="0" y="0"/>
              </a:cxn>
            </a:cxnLst>
            <a:rect l="0" t="0" r="r" b="b"/>
            <a:pathLst>
              <a:path w="3258" h="4320">
                <a:moveTo>
                  <a:pt x="0" y="0"/>
                </a:moveTo>
                <a:lnTo>
                  <a:pt x="3082" y="475"/>
                </a:lnTo>
                <a:lnTo>
                  <a:pt x="3210" y="936"/>
                </a:lnTo>
                <a:lnTo>
                  <a:pt x="1728" y="4320"/>
                </a:lnTo>
                <a:lnTo>
                  <a:pt x="1872" y="4320"/>
                </a:lnTo>
                <a:lnTo>
                  <a:pt x="3258" y="912"/>
                </a:lnTo>
                <a:lnTo>
                  <a:pt x="3120" y="432"/>
                </a:lnTo>
                <a:lnTo>
                  <a:pt x="1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8" name="Freeform 14"/>
          <p:cNvSpPr>
            <a:spLocks/>
          </p:cNvSpPr>
          <p:nvPr/>
        </p:nvSpPr>
        <p:spPr bwMode="gray">
          <a:xfrm>
            <a:off x="8382000" y="0"/>
            <a:ext cx="762000" cy="11430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96"/>
              </a:cxn>
              <a:cxn ang="0">
                <a:pos x="354" y="690"/>
              </a:cxn>
              <a:cxn ang="0">
                <a:pos x="480" y="720"/>
              </a:cxn>
              <a:cxn ang="0">
                <a:pos x="480" y="576"/>
              </a:cxn>
              <a:cxn ang="0">
                <a:pos x="48" y="96"/>
              </a:cxn>
              <a:cxn ang="0">
                <a:pos x="89" y="0"/>
              </a:cxn>
              <a:cxn ang="0">
                <a:pos x="48" y="0"/>
              </a:cxn>
            </a:cxnLst>
            <a:rect l="0" t="0" r="r" b="b"/>
            <a:pathLst>
              <a:path w="480" h="720">
                <a:moveTo>
                  <a:pt x="48" y="0"/>
                </a:moveTo>
                <a:lnTo>
                  <a:pt x="0" y="96"/>
                </a:lnTo>
                <a:lnTo>
                  <a:pt x="354" y="690"/>
                </a:lnTo>
                <a:lnTo>
                  <a:pt x="480" y="720"/>
                </a:lnTo>
                <a:lnTo>
                  <a:pt x="480" y="576"/>
                </a:lnTo>
                <a:lnTo>
                  <a:pt x="48" y="96"/>
                </a:lnTo>
                <a:lnTo>
                  <a:pt x="89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9" name="Freeform 15"/>
          <p:cNvSpPr>
            <a:spLocks/>
          </p:cNvSpPr>
          <p:nvPr/>
        </p:nvSpPr>
        <p:spPr bwMode="gray">
          <a:xfrm>
            <a:off x="8610600" y="228600"/>
            <a:ext cx="533400" cy="533400"/>
          </a:xfrm>
          <a:custGeom>
            <a:avLst/>
            <a:gdLst/>
            <a:ahLst/>
            <a:cxnLst>
              <a:cxn ang="0">
                <a:pos x="336" y="336"/>
              </a:cxn>
              <a:cxn ang="0">
                <a:pos x="0" y="0"/>
              </a:cxn>
              <a:cxn ang="0">
                <a:pos x="336" y="240"/>
              </a:cxn>
              <a:cxn ang="0">
                <a:pos x="336" y="336"/>
              </a:cxn>
            </a:cxnLst>
            <a:rect l="0" t="0" r="r" b="b"/>
            <a:pathLst>
              <a:path w="336" h="336">
                <a:moveTo>
                  <a:pt x="336" y="336"/>
                </a:moveTo>
                <a:lnTo>
                  <a:pt x="0" y="0"/>
                </a:lnTo>
                <a:lnTo>
                  <a:pt x="336" y="240"/>
                </a:lnTo>
                <a:lnTo>
                  <a:pt x="336" y="336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073" name="Group 49"/>
          <p:cNvGrpSpPr>
            <a:grpSpLocks/>
          </p:cNvGrpSpPr>
          <p:nvPr/>
        </p:nvGrpSpPr>
        <p:grpSpPr bwMode="auto">
          <a:xfrm>
            <a:off x="5562600" y="0"/>
            <a:ext cx="3267075" cy="6858000"/>
            <a:chOff x="3504" y="0"/>
            <a:chExt cx="2058" cy="4320"/>
          </a:xfrm>
        </p:grpSpPr>
        <p:sp>
          <p:nvSpPr>
            <p:cNvPr id="1037" name="Freeform 13"/>
            <p:cNvSpPr>
              <a:spLocks/>
            </p:cNvSpPr>
            <p:nvPr userDrawn="1"/>
          </p:nvSpPr>
          <p:spPr bwMode="gray">
            <a:xfrm>
              <a:off x="3504" y="0"/>
              <a:ext cx="2058" cy="43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6" y="0"/>
                </a:cxn>
                <a:cxn ang="0">
                  <a:pos x="1854" y="402"/>
                </a:cxn>
                <a:cxn ang="0">
                  <a:pos x="2058" y="972"/>
                </a:cxn>
                <a:cxn ang="0">
                  <a:pos x="1296" y="4320"/>
                </a:cxn>
                <a:cxn ang="0">
                  <a:pos x="720" y="4320"/>
                </a:cxn>
                <a:cxn ang="0">
                  <a:pos x="1920" y="912"/>
                </a:cxn>
                <a:cxn ang="0">
                  <a:pos x="1776" y="432"/>
                </a:cxn>
                <a:cxn ang="0">
                  <a:pos x="0" y="0"/>
                </a:cxn>
              </a:cxnLst>
              <a:rect l="0" t="0" r="r" b="b"/>
              <a:pathLst>
                <a:path w="2058" h="4320">
                  <a:moveTo>
                    <a:pt x="0" y="0"/>
                  </a:moveTo>
                  <a:lnTo>
                    <a:pt x="1056" y="0"/>
                  </a:lnTo>
                  <a:lnTo>
                    <a:pt x="1854" y="402"/>
                  </a:lnTo>
                  <a:lnTo>
                    <a:pt x="2058" y="972"/>
                  </a:lnTo>
                  <a:lnTo>
                    <a:pt x="1296" y="4320"/>
                  </a:lnTo>
                  <a:lnTo>
                    <a:pt x="720" y="4320"/>
                  </a:lnTo>
                  <a:lnTo>
                    <a:pt x="1920" y="912"/>
                  </a:lnTo>
                  <a:lnTo>
                    <a:pt x="1776" y="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23"/>
            <p:cNvSpPr>
              <a:spLocks/>
            </p:cNvSpPr>
            <p:nvPr userDrawn="1"/>
          </p:nvSpPr>
          <p:spPr bwMode="gray">
            <a:xfrm>
              <a:off x="4217" y="1056"/>
              <a:ext cx="1152" cy="3264"/>
            </a:xfrm>
            <a:custGeom>
              <a:avLst/>
              <a:gdLst/>
              <a:ahLst/>
              <a:cxnLst>
                <a:cxn ang="0">
                  <a:pos x="0" y="3264"/>
                </a:cxn>
                <a:cxn ang="0">
                  <a:pos x="1152" y="0"/>
                </a:cxn>
                <a:cxn ang="0">
                  <a:pos x="96" y="3264"/>
                </a:cxn>
                <a:cxn ang="0">
                  <a:pos x="0" y="3264"/>
                </a:cxn>
              </a:cxnLst>
              <a:rect l="0" t="0" r="r" b="b"/>
              <a:pathLst>
                <a:path w="1152" h="3264">
                  <a:moveTo>
                    <a:pt x="0" y="3264"/>
                  </a:moveTo>
                  <a:lnTo>
                    <a:pt x="1152" y="0"/>
                  </a:lnTo>
                  <a:lnTo>
                    <a:pt x="96" y="3264"/>
                  </a:lnTo>
                  <a:lnTo>
                    <a:pt x="0" y="326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6" name="Group 22"/>
          <p:cNvGrpSpPr>
            <a:grpSpLocks/>
          </p:cNvGrpSpPr>
          <p:nvPr userDrawn="1"/>
        </p:nvGrpSpPr>
        <p:grpSpPr bwMode="auto">
          <a:xfrm>
            <a:off x="142875" y="685800"/>
            <a:ext cx="8858250" cy="5943600"/>
            <a:chOff x="90" y="480"/>
            <a:chExt cx="5580" cy="3744"/>
          </a:xfrm>
        </p:grpSpPr>
        <p:sp>
          <p:nvSpPr>
            <p:cNvPr id="1040" name="Rectangle 16"/>
            <p:cNvSpPr>
              <a:spLocks noChangeArrowheads="1"/>
            </p:cNvSpPr>
            <p:nvPr userDrawn="1"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Rectangle 17"/>
            <p:cNvSpPr>
              <a:spLocks noChangeArrowheads="1"/>
            </p:cNvSpPr>
            <p:nvPr userDrawn="1"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2" name="Rectangle 18"/>
          <p:cNvSpPr>
            <a:spLocks noChangeArrowheads="1"/>
          </p:cNvSpPr>
          <p:nvPr/>
        </p:nvSpPr>
        <p:spPr bwMode="gray">
          <a:xfrm>
            <a:off x="381000" y="676275"/>
            <a:ext cx="6248400" cy="152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43" name="Picture 19" descr="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gray">
          <a:xfrm>
            <a:off x="261939" y="218570"/>
            <a:ext cx="371475" cy="371475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65163" y="76200"/>
            <a:ext cx="8097837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304800" y="803872"/>
            <a:ext cx="8572500" cy="574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60" r:id="rId6"/>
  </p:sldLayoutIdLst>
  <p:transition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2895600"/>
            <a:ext cx="5791200" cy="609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KHÁI NIỆM VỀ CON TRỎ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Group 2"/>
          <p:cNvGrpSpPr>
            <a:grpSpLocks/>
          </p:cNvGrpSpPr>
          <p:nvPr/>
        </p:nvGrpSpPr>
        <p:grpSpPr bwMode="auto">
          <a:xfrm>
            <a:off x="2003425" y="2697162"/>
            <a:ext cx="5311775" cy="688975"/>
            <a:chOff x="720" y="1392"/>
            <a:chExt cx="4058" cy="480"/>
          </a:xfrm>
        </p:grpSpPr>
        <p:sp>
          <p:nvSpPr>
            <p:cNvPr id="69635" name="AutoShape 3"/>
            <p:cNvSpPr>
              <a:spLocks noChangeArrowheads="1"/>
            </p:cNvSpPr>
            <p:nvPr/>
          </p:nvSpPr>
          <p:spPr bwMode="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92157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9636" name="Group 4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69637" name="AutoShape 5"/>
              <p:cNvSpPr>
                <a:spLocks noChangeArrowheads="1"/>
              </p:cNvSpPr>
              <p:nvPr/>
            </p:nvSpPr>
            <p:spPr bwMode="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638" name="AutoShape 6"/>
              <p:cNvSpPr>
                <a:spLocks noChangeArrowheads="1"/>
              </p:cNvSpPr>
              <p:nvPr/>
            </p:nvSpPr>
            <p:spPr bwMode="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9649" name="Group 17"/>
          <p:cNvGrpSpPr>
            <a:grpSpLocks/>
          </p:cNvGrpSpPr>
          <p:nvPr/>
        </p:nvGrpSpPr>
        <p:grpSpPr bwMode="auto">
          <a:xfrm>
            <a:off x="2003425" y="1833562"/>
            <a:ext cx="5311775" cy="688975"/>
            <a:chOff x="720" y="1392"/>
            <a:chExt cx="4058" cy="480"/>
          </a:xfrm>
        </p:grpSpPr>
        <p:sp>
          <p:nvSpPr>
            <p:cNvPr id="69650" name="AutoShape 18"/>
            <p:cNvSpPr>
              <a:spLocks noChangeArrowheads="1"/>
            </p:cNvSpPr>
            <p:nvPr/>
          </p:nvSpPr>
          <p:spPr bwMode="lt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92157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9651" name="Group 19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69652" name="AutoShape 20"/>
              <p:cNvSpPr>
                <a:spLocks noChangeArrowheads="1"/>
              </p:cNvSpPr>
              <p:nvPr/>
            </p:nvSpPr>
            <p:spPr bwMode="lt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653" name="AutoShape 21"/>
              <p:cNvSpPr>
                <a:spLocks noChangeArrowheads="1"/>
              </p:cNvSpPr>
              <p:nvPr/>
            </p:nvSpPr>
            <p:spPr bwMode="lt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9654" name="Text Box 22"/>
          <p:cNvSpPr txBox="1">
            <a:spLocks noChangeArrowheads="1"/>
          </p:cNvSpPr>
          <p:nvPr/>
        </p:nvSpPr>
        <p:spPr bwMode="black">
          <a:xfrm>
            <a:off x="2470150" y="1947862"/>
            <a:ext cx="449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 dirty="0" err="1">
                <a:solidFill>
                  <a:srgbClr val="FFFFFF"/>
                </a:solidFill>
              </a:rPr>
              <a:t>Địa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chỉ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của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biến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69655" name="Text Box 23"/>
          <p:cNvSpPr txBox="1">
            <a:spLocks noChangeArrowheads="1"/>
          </p:cNvSpPr>
          <p:nvPr/>
        </p:nvSpPr>
        <p:spPr bwMode="black">
          <a:xfrm>
            <a:off x="2481263" y="2805112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 dirty="0" err="1">
                <a:solidFill>
                  <a:srgbClr val="FFFFFF"/>
                </a:solidFill>
              </a:rPr>
              <a:t>Khái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niệm</a:t>
            </a:r>
            <a:r>
              <a:rPr lang="en-US" sz="2400" b="1" dirty="0">
                <a:solidFill>
                  <a:srgbClr val="FFFFFF"/>
                </a:solidFill>
              </a:rPr>
              <a:t> con </a:t>
            </a:r>
            <a:r>
              <a:rPr lang="en-US" sz="2400" b="1" dirty="0" err="1">
                <a:solidFill>
                  <a:srgbClr val="FFFFFF"/>
                </a:solidFill>
              </a:rPr>
              <a:t>trỏ</a:t>
            </a:r>
            <a:endParaRPr lang="en-US" sz="2400" b="1" dirty="0">
              <a:solidFill>
                <a:srgbClr val="FFFFFF"/>
              </a:solidFill>
            </a:endParaRPr>
          </a:p>
        </p:txBody>
      </p:sp>
      <p:pic>
        <p:nvPicPr>
          <p:cNvPr id="69661" name="Picture 29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819275" y="2686050"/>
            <a:ext cx="792163" cy="949325"/>
          </a:xfrm>
          <a:prstGeom prst="rect">
            <a:avLst/>
          </a:prstGeom>
          <a:noFill/>
        </p:spPr>
      </p:pic>
      <p:pic>
        <p:nvPicPr>
          <p:cNvPr id="69662" name="Picture 30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808163" y="1828800"/>
            <a:ext cx="792162" cy="949325"/>
          </a:xfrm>
          <a:prstGeom prst="rect">
            <a:avLst/>
          </a:prstGeom>
          <a:noFill/>
        </p:spPr>
      </p:pic>
      <p:sp>
        <p:nvSpPr>
          <p:cNvPr id="69664" name="Text Box 32"/>
          <p:cNvSpPr txBox="1">
            <a:spLocks noChangeArrowheads="1"/>
          </p:cNvSpPr>
          <p:nvPr/>
        </p:nvSpPr>
        <p:spPr bwMode="gray">
          <a:xfrm>
            <a:off x="2128838" y="1925637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1</a:t>
            </a:r>
          </a:p>
        </p:txBody>
      </p:sp>
      <p:sp>
        <p:nvSpPr>
          <p:cNvPr id="69665" name="Text Box 33"/>
          <p:cNvSpPr txBox="1">
            <a:spLocks noChangeArrowheads="1"/>
          </p:cNvSpPr>
          <p:nvPr/>
        </p:nvSpPr>
        <p:spPr bwMode="gray">
          <a:xfrm>
            <a:off x="2141538" y="2784475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2</a:t>
            </a:r>
          </a:p>
        </p:txBody>
      </p:sp>
      <p:sp>
        <p:nvSpPr>
          <p:cNvPr id="69667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grpSp>
        <p:nvGrpSpPr>
          <p:cNvPr id="19" name="Group 7"/>
          <p:cNvGrpSpPr>
            <a:grpSpLocks/>
          </p:cNvGrpSpPr>
          <p:nvPr/>
        </p:nvGrpSpPr>
        <p:grpSpPr bwMode="auto">
          <a:xfrm>
            <a:off x="2003425" y="3508375"/>
            <a:ext cx="5311775" cy="688975"/>
            <a:chOff x="720" y="1392"/>
            <a:chExt cx="4058" cy="480"/>
          </a:xfrm>
        </p:grpSpPr>
        <p:sp>
          <p:nvSpPr>
            <p:cNvPr id="20" name="AutoShape 8"/>
            <p:cNvSpPr>
              <a:spLocks noChangeArrowheads="1"/>
            </p:cNvSpPr>
            <p:nvPr/>
          </p:nvSpPr>
          <p:spPr bwMode="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shade val="92157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" name="Group 9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22" name="AutoShape 10"/>
              <p:cNvSpPr>
                <a:spLocks noChangeArrowheads="1"/>
              </p:cNvSpPr>
              <p:nvPr/>
            </p:nvSpPr>
            <p:spPr bwMode="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hlink">
                      <a:alpha val="0"/>
                    </a:schemeClr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AutoShape 11"/>
              <p:cNvSpPr>
                <a:spLocks noChangeArrowheads="1"/>
              </p:cNvSpPr>
              <p:nvPr/>
            </p:nvSpPr>
            <p:spPr bwMode="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4" name="Text Box 24"/>
          <p:cNvSpPr txBox="1">
            <a:spLocks noChangeArrowheads="1"/>
          </p:cNvSpPr>
          <p:nvPr/>
        </p:nvSpPr>
        <p:spPr bwMode="black">
          <a:xfrm>
            <a:off x="2565400" y="3609975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>
                <a:solidFill>
                  <a:srgbClr val="FFFFFF"/>
                </a:solidFill>
              </a:rPr>
              <a:t>Khai báo con trỏ</a:t>
            </a:r>
            <a:endParaRPr lang="en-US" sz="2400" b="1" dirty="0">
              <a:solidFill>
                <a:srgbClr val="FFFFFF"/>
              </a:solidFill>
            </a:endParaRPr>
          </a:p>
        </p:txBody>
      </p:sp>
      <p:pic>
        <p:nvPicPr>
          <p:cNvPr id="25" name="Picture 28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819275" y="3482975"/>
            <a:ext cx="792163" cy="949325"/>
          </a:xfrm>
          <a:prstGeom prst="rect">
            <a:avLst/>
          </a:prstGeom>
          <a:noFill/>
        </p:spPr>
      </p:pic>
      <p:sp>
        <p:nvSpPr>
          <p:cNvPr id="26" name="Text Box 34"/>
          <p:cNvSpPr txBox="1">
            <a:spLocks noChangeArrowheads="1"/>
          </p:cNvSpPr>
          <p:nvPr/>
        </p:nvSpPr>
        <p:spPr bwMode="gray">
          <a:xfrm>
            <a:off x="2141538" y="3617912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3</a:t>
            </a:r>
          </a:p>
        </p:txBody>
      </p:sp>
      <p:grpSp>
        <p:nvGrpSpPr>
          <p:cNvPr id="27" name="Group 12"/>
          <p:cNvGrpSpPr>
            <a:grpSpLocks/>
          </p:cNvGrpSpPr>
          <p:nvPr/>
        </p:nvGrpSpPr>
        <p:grpSpPr bwMode="auto">
          <a:xfrm>
            <a:off x="2003425" y="4365625"/>
            <a:ext cx="5311775" cy="688975"/>
            <a:chOff x="720" y="1392"/>
            <a:chExt cx="4058" cy="480"/>
          </a:xfrm>
        </p:grpSpPr>
        <p:sp>
          <p:nvSpPr>
            <p:cNvPr id="28" name="AutoShape 13"/>
            <p:cNvSpPr>
              <a:spLocks noChangeArrowheads="1"/>
            </p:cNvSpPr>
            <p:nvPr/>
          </p:nvSpPr>
          <p:spPr bwMode="lt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92157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" name="Group 14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30" name="AutoShape 15"/>
              <p:cNvSpPr>
                <a:spLocks noChangeArrowheads="1"/>
              </p:cNvSpPr>
              <p:nvPr/>
            </p:nvSpPr>
            <p:spPr bwMode="lt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folHlink">
                      <a:alpha val="0"/>
                    </a:schemeClr>
                  </a:gs>
                  <a:gs pos="100000">
                    <a:schemeClr val="folHlink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AutoShape 16"/>
              <p:cNvSpPr>
                <a:spLocks noChangeArrowheads="1"/>
              </p:cNvSpPr>
              <p:nvPr/>
            </p:nvSpPr>
            <p:spPr bwMode="lt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folHlink">
                      <a:gamma/>
                      <a:tint val="0"/>
                      <a:invGamma/>
                    </a:schemeClr>
                  </a:gs>
                  <a:gs pos="100000">
                    <a:schemeClr val="folHlink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2" name="Text Box 25"/>
          <p:cNvSpPr txBox="1">
            <a:spLocks noChangeArrowheads="1"/>
          </p:cNvSpPr>
          <p:nvPr/>
        </p:nvSpPr>
        <p:spPr bwMode="black">
          <a:xfrm>
            <a:off x="2481263" y="4457700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>
                <a:solidFill>
                  <a:srgbClr val="FFFFFF"/>
                </a:solidFill>
              </a:rPr>
              <a:t>Toán tử con trỏ</a:t>
            </a:r>
            <a:endParaRPr lang="en-US" sz="2400" b="1" dirty="0">
              <a:solidFill>
                <a:srgbClr val="FFFFFF"/>
              </a:solidFill>
            </a:endParaRPr>
          </a:p>
        </p:txBody>
      </p:sp>
      <p:pic>
        <p:nvPicPr>
          <p:cNvPr id="33" name="Picture 27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803400" y="4329112"/>
            <a:ext cx="792163" cy="949325"/>
          </a:xfrm>
          <a:prstGeom prst="rect">
            <a:avLst/>
          </a:prstGeom>
          <a:noFill/>
        </p:spPr>
      </p:pic>
      <p:sp>
        <p:nvSpPr>
          <p:cNvPr id="34" name="Text Box 31"/>
          <p:cNvSpPr txBox="1">
            <a:spLocks noChangeArrowheads="1"/>
          </p:cNvSpPr>
          <p:nvPr/>
        </p:nvSpPr>
        <p:spPr bwMode="gray">
          <a:xfrm>
            <a:off x="2149475" y="4465637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4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/>
              <a:t>Thông tin của một biến bao gồm:</a:t>
            </a:r>
          </a:p>
          <a:p>
            <a:pPr lvl="1" algn="just"/>
            <a:r>
              <a:rPr lang="vi-VN" dirty="0"/>
              <a:t>Tên biến</a:t>
            </a:r>
          </a:p>
          <a:p>
            <a:pPr lvl="1" algn="just"/>
            <a:r>
              <a:rPr lang="vi-VN" dirty="0"/>
              <a:t>Kiểu dữ liệu của biến</a:t>
            </a:r>
          </a:p>
          <a:p>
            <a:pPr lvl="1" algn="just"/>
            <a:r>
              <a:rPr lang="vi-VN" dirty="0"/>
              <a:t>Giá trị của biến</a:t>
            </a:r>
          </a:p>
          <a:p>
            <a:pPr algn="just"/>
            <a:r>
              <a:rPr lang="vi-VN" dirty="0"/>
              <a:t>Mỗi  biến  sẽ  được  lưu  trữ  tại  một  vị  trí  xác định trong ô nhớ, nếu kích thước của biến có nhiều byte thì máy tính  sẽ cấp phát một dãy các byte liên tiếp nhau, địa chỉ của  biến sẽ </a:t>
            </a:r>
            <a:r>
              <a:rPr lang="vi-VN" dirty="0">
                <a:solidFill>
                  <a:srgbClr val="FF0000"/>
                </a:solidFill>
              </a:rPr>
              <a:t>lưu byte đầu tiên </a:t>
            </a:r>
            <a:r>
              <a:rPr lang="vi-VN" dirty="0"/>
              <a:t>trong dãy các byte này</a:t>
            </a:r>
          </a:p>
        </p:txBody>
      </p:sp>
    </p:spTree>
    <p:extLst>
      <p:ext uri="{BB962C8B-B14F-4D97-AF65-F5344CB8AC3E}">
        <p14:creationId xmlns:p14="http://schemas.microsoft.com/office/powerpoint/2010/main" val="31530038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:</a:t>
            </a:r>
          </a:p>
          <a:p>
            <a:pPr marL="800100" lvl="2" indent="0" algn="just">
              <a:buNone/>
            </a:pP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x;</a:t>
            </a:r>
          </a:p>
          <a:p>
            <a:pPr marL="800100" lvl="2" indent="0" algn="just">
              <a:buNone/>
            </a:pP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a;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928798"/>
              </p:ext>
            </p:extLst>
          </p:nvPr>
        </p:nvGraphicFramePr>
        <p:xfrm>
          <a:off x="2500961" y="3745292"/>
          <a:ext cx="1066800" cy="190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1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3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4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Left Brace 8"/>
          <p:cNvSpPr/>
          <p:nvPr/>
        </p:nvSpPr>
        <p:spPr>
          <a:xfrm>
            <a:off x="1967561" y="3821492"/>
            <a:ext cx="457200" cy="1676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81761" y="4069410"/>
            <a:ext cx="76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Times New Roman" pitchFamily="18" charset="0"/>
                <a:cs typeface="Times New Roman" pitchFamily="18" charset="0"/>
              </a:rPr>
              <a:t>Các ô nhớ của biến x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648459"/>
              </p:ext>
            </p:extLst>
          </p:nvPr>
        </p:nvGraphicFramePr>
        <p:xfrm>
          <a:off x="6081243" y="3717074"/>
          <a:ext cx="1144118" cy="190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4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100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101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102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Byte 103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Left Brace 15"/>
          <p:cNvSpPr/>
          <p:nvPr/>
        </p:nvSpPr>
        <p:spPr>
          <a:xfrm>
            <a:off x="5624043" y="3793274"/>
            <a:ext cx="457200" cy="1676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772568" y="4021874"/>
            <a:ext cx="76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Times New Roman" pitchFamily="18" charset="0"/>
                <a:cs typeface="Times New Roman" pitchFamily="18" charset="0"/>
              </a:rPr>
              <a:t>Các ô nhớ của biến a</a:t>
            </a:r>
          </a:p>
        </p:txBody>
      </p:sp>
      <p:grpSp>
        <p:nvGrpSpPr>
          <p:cNvPr id="19" name="Group 24"/>
          <p:cNvGrpSpPr>
            <a:grpSpLocks/>
          </p:cNvGrpSpPr>
          <p:nvPr/>
        </p:nvGrpSpPr>
        <p:grpSpPr bwMode="auto">
          <a:xfrm>
            <a:off x="2043761" y="2263774"/>
            <a:ext cx="1905000" cy="436563"/>
            <a:chOff x="3618" y="3480"/>
            <a:chExt cx="1200" cy="275"/>
          </a:xfrm>
        </p:grpSpPr>
        <p:sp>
          <p:nvSpPr>
            <p:cNvPr id="20" name="Freeform 25"/>
            <p:cNvSpPr>
              <a:spLocks/>
            </p:cNvSpPr>
            <p:nvPr/>
          </p:nvSpPr>
          <p:spPr bwMode="ltGray">
            <a:xfrm>
              <a:off x="3682" y="3634"/>
              <a:ext cx="1063" cy="121"/>
            </a:xfrm>
            <a:custGeom>
              <a:avLst/>
              <a:gdLst/>
              <a:ahLst/>
              <a:cxnLst>
                <a:cxn ang="0">
                  <a:pos x="1120" y="252"/>
                </a:cxn>
                <a:cxn ang="0">
                  <a:pos x="1116" y="250"/>
                </a:cxn>
                <a:cxn ang="0">
                  <a:pos x="1100" y="246"/>
                </a:cxn>
                <a:cxn ang="0">
                  <a:pos x="1074" y="240"/>
                </a:cxn>
                <a:cxn ang="0">
                  <a:pos x="1038" y="232"/>
                </a:cxn>
                <a:cxn ang="0">
                  <a:pos x="992" y="222"/>
                </a:cxn>
                <a:cxn ang="0">
                  <a:pos x="938" y="212"/>
                </a:cxn>
                <a:cxn ang="0">
                  <a:pos x="876" y="204"/>
                </a:cxn>
                <a:cxn ang="0">
                  <a:pos x="806" y="196"/>
                </a:cxn>
                <a:cxn ang="0">
                  <a:pos x="730" y="190"/>
                </a:cxn>
                <a:cxn ang="0">
                  <a:pos x="646" y="184"/>
                </a:cxn>
                <a:cxn ang="0">
                  <a:pos x="556" y="184"/>
                </a:cxn>
                <a:cxn ang="0">
                  <a:pos x="466" y="184"/>
                </a:cxn>
                <a:cxn ang="0">
                  <a:pos x="384" y="190"/>
                </a:cxn>
                <a:cxn ang="0">
                  <a:pos x="308" y="196"/>
                </a:cxn>
                <a:cxn ang="0">
                  <a:pos x="238" y="204"/>
                </a:cxn>
                <a:cxn ang="0">
                  <a:pos x="178" y="212"/>
                </a:cxn>
                <a:cxn ang="0">
                  <a:pos x="126" y="222"/>
                </a:cxn>
                <a:cxn ang="0">
                  <a:pos x="82" y="232"/>
                </a:cxn>
                <a:cxn ang="0">
                  <a:pos x="46" y="240"/>
                </a:cxn>
                <a:cxn ang="0">
                  <a:pos x="20" y="246"/>
                </a:cxn>
                <a:cxn ang="0">
                  <a:pos x="6" y="250"/>
                </a:cxn>
                <a:cxn ang="0">
                  <a:pos x="0" y="252"/>
                </a:cxn>
                <a:cxn ang="0">
                  <a:pos x="0" y="62"/>
                </a:cxn>
                <a:cxn ang="0">
                  <a:pos x="560" y="0"/>
                </a:cxn>
                <a:cxn ang="0">
                  <a:pos x="1120" y="62"/>
                </a:cxn>
                <a:cxn ang="0">
                  <a:pos x="1120" y="252"/>
                </a:cxn>
                <a:cxn ang="0">
                  <a:pos x="1120" y="252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ltGray">
            <a:xfrm>
              <a:off x="3618" y="3480"/>
              <a:ext cx="1200" cy="240"/>
            </a:xfrm>
            <a:prstGeom prst="rect">
              <a:avLst/>
            </a:prstGeom>
            <a:solidFill>
              <a:schemeClr val="folHlink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27"/>
          <p:cNvSpPr txBox="1">
            <a:spLocks noChangeArrowheads="1"/>
          </p:cNvSpPr>
          <p:nvPr/>
        </p:nvSpPr>
        <p:spPr bwMode="black">
          <a:xfrm>
            <a:off x="2167586" y="2263774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 err="1">
                <a:solidFill>
                  <a:srgbClr val="FFFFFF"/>
                </a:solidFill>
              </a:rPr>
              <a:t>Địa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chỉ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biến</a:t>
            </a:r>
            <a:r>
              <a:rPr lang="en-US" b="1" dirty="0">
                <a:solidFill>
                  <a:srgbClr val="FFFFFF"/>
                </a:solidFill>
              </a:rPr>
              <a:t> x</a:t>
            </a:r>
          </a:p>
        </p:txBody>
      </p:sp>
      <p:grpSp>
        <p:nvGrpSpPr>
          <p:cNvPr id="27" name="Group 32"/>
          <p:cNvGrpSpPr>
            <a:grpSpLocks/>
          </p:cNvGrpSpPr>
          <p:nvPr/>
        </p:nvGrpSpPr>
        <p:grpSpPr bwMode="auto">
          <a:xfrm>
            <a:off x="5638800" y="2259807"/>
            <a:ext cx="1905000" cy="436563"/>
            <a:chOff x="3618" y="3480"/>
            <a:chExt cx="1200" cy="275"/>
          </a:xfrm>
        </p:grpSpPr>
        <p:sp>
          <p:nvSpPr>
            <p:cNvPr id="28" name="Freeform 33"/>
            <p:cNvSpPr>
              <a:spLocks/>
            </p:cNvSpPr>
            <p:nvPr/>
          </p:nvSpPr>
          <p:spPr bwMode="ltGray">
            <a:xfrm>
              <a:off x="3682" y="3634"/>
              <a:ext cx="1063" cy="121"/>
            </a:xfrm>
            <a:custGeom>
              <a:avLst/>
              <a:gdLst/>
              <a:ahLst/>
              <a:cxnLst>
                <a:cxn ang="0">
                  <a:pos x="1120" y="252"/>
                </a:cxn>
                <a:cxn ang="0">
                  <a:pos x="1116" y="250"/>
                </a:cxn>
                <a:cxn ang="0">
                  <a:pos x="1100" y="246"/>
                </a:cxn>
                <a:cxn ang="0">
                  <a:pos x="1074" y="240"/>
                </a:cxn>
                <a:cxn ang="0">
                  <a:pos x="1038" y="232"/>
                </a:cxn>
                <a:cxn ang="0">
                  <a:pos x="992" y="222"/>
                </a:cxn>
                <a:cxn ang="0">
                  <a:pos x="938" y="212"/>
                </a:cxn>
                <a:cxn ang="0">
                  <a:pos x="876" y="204"/>
                </a:cxn>
                <a:cxn ang="0">
                  <a:pos x="806" y="196"/>
                </a:cxn>
                <a:cxn ang="0">
                  <a:pos x="730" y="190"/>
                </a:cxn>
                <a:cxn ang="0">
                  <a:pos x="646" y="184"/>
                </a:cxn>
                <a:cxn ang="0">
                  <a:pos x="556" y="184"/>
                </a:cxn>
                <a:cxn ang="0">
                  <a:pos x="466" y="184"/>
                </a:cxn>
                <a:cxn ang="0">
                  <a:pos x="384" y="190"/>
                </a:cxn>
                <a:cxn ang="0">
                  <a:pos x="308" y="196"/>
                </a:cxn>
                <a:cxn ang="0">
                  <a:pos x="238" y="204"/>
                </a:cxn>
                <a:cxn ang="0">
                  <a:pos x="178" y="212"/>
                </a:cxn>
                <a:cxn ang="0">
                  <a:pos x="126" y="222"/>
                </a:cxn>
                <a:cxn ang="0">
                  <a:pos x="82" y="232"/>
                </a:cxn>
                <a:cxn ang="0">
                  <a:pos x="46" y="240"/>
                </a:cxn>
                <a:cxn ang="0">
                  <a:pos x="20" y="246"/>
                </a:cxn>
                <a:cxn ang="0">
                  <a:pos x="6" y="250"/>
                </a:cxn>
                <a:cxn ang="0">
                  <a:pos x="0" y="252"/>
                </a:cxn>
                <a:cxn ang="0">
                  <a:pos x="0" y="62"/>
                </a:cxn>
                <a:cxn ang="0">
                  <a:pos x="560" y="0"/>
                </a:cxn>
                <a:cxn ang="0">
                  <a:pos x="1120" y="62"/>
                </a:cxn>
                <a:cxn ang="0">
                  <a:pos x="1120" y="252"/>
                </a:cxn>
                <a:cxn ang="0">
                  <a:pos x="1120" y="252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34"/>
            <p:cNvSpPr>
              <a:spLocks noChangeArrowheads="1"/>
            </p:cNvSpPr>
            <p:nvPr/>
          </p:nvSpPr>
          <p:spPr bwMode="ltGray">
            <a:xfrm>
              <a:off x="3618" y="3480"/>
              <a:ext cx="1200" cy="24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" name="Text Box 35"/>
          <p:cNvSpPr txBox="1">
            <a:spLocks noChangeArrowheads="1"/>
          </p:cNvSpPr>
          <p:nvPr/>
        </p:nvSpPr>
        <p:spPr bwMode="black">
          <a:xfrm>
            <a:off x="5777561" y="22479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 err="1">
                <a:solidFill>
                  <a:srgbClr val="FFFFFF"/>
                </a:solidFill>
              </a:rPr>
              <a:t>Địa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chỉ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biến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6577429" y="2667000"/>
            <a:ext cx="0" cy="128016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020907" y="2600326"/>
            <a:ext cx="0" cy="128016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5413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/>
              <a:t>Địa chỉ của biến luôn luôn là một số nguyên (hệ thập lục phân) dù biến đó chứa giá trị là số nguyên, số thực hay ký tự, …</a:t>
            </a:r>
          </a:p>
          <a:p>
            <a:pPr algn="just"/>
            <a:r>
              <a:rPr lang="vi-VN" dirty="0"/>
              <a:t>Cách lấy địa chỉ của biến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vi-VN" dirty="0">
                <a:solidFill>
                  <a:srgbClr val="EC2C06"/>
                </a:solidFill>
              </a:rPr>
              <a:t>&amp;tênbiến</a:t>
            </a:r>
          </a:p>
          <a:p>
            <a:pPr algn="just"/>
            <a:r>
              <a:rPr lang="vi-VN" dirty="0"/>
              <a:t>Ví dụ:</a:t>
            </a:r>
            <a:endParaRPr lang="en-US" dirty="0"/>
          </a:p>
          <a:p>
            <a:pPr marL="914400" lvl="2" indent="0">
              <a:buNone/>
            </a:pPr>
            <a:r>
              <a:rPr lang="vi-VN" sz="2400" dirty="0">
                <a:solidFill>
                  <a:srgbClr val="0000FF"/>
                </a:solidFill>
              </a:rPr>
              <a:t>int</a:t>
            </a:r>
            <a:r>
              <a:rPr lang="vi-VN" sz="2400" dirty="0"/>
              <a:t> x=7;</a:t>
            </a:r>
          </a:p>
          <a:p>
            <a:pPr marL="914400" lvl="2" indent="0">
              <a:buNone/>
            </a:pPr>
            <a:r>
              <a:rPr lang="vi-VN" sz="2400" dirty="0">
                <a:solidFill>
                  <a:srgbClr val="0000FF"/>
                </a:solidFill>
              </a:rPr>
              <a:t>float </a:t>
            </a:r>
            <a:r>
              <a:rPr lang="vi-VN" sz="2400" dirty="0"/>
              <a:t>y=10.5;</a:t>
            </a:r>
          </a:p>
          <a:p>
            <a:pPr marL="914400" lvl="2" indent="0">
              <a:buNone/>
            </a:pPr>
            <a:r>
              <a:rPr lang="en-US" sz="2400" dirty="0" err="1"/>
              <a:t>printf</a:t>
            </a:r>
            <a:r>
              <a:rPr lang="en-US" sz="2400" dirty="0"/>
              <a:t>(</a:t>
            </a:r>
            <a:r>
              <a:rPr lang="vi-VN" sz="2400" dirty="0"/>
              <a:t>"Dia chi cua bien x = </a:t>
            </a:r>
            <a:r>
              <a:rPr lang="en-US" sz="2400" dirty="0"/>
              <a:t>%p”,</a:t>
            </a:r>
            <a:r>
              <a:rPr lang="vi-VN" sz="2400" dirty="0"/>
              <a:t>&amp;x</a:t>
            </a:r>
            <a:r>
              <a:rPr lang="en-US" sz="2400" dirty="0"/>
              <a:t>)</a:t>
            </a:r>
            <a:r>
              <a:rPr lang="vi-VN" sz="2400" dirty="0"/>
              <a:t>l;</a:t>
            </a:r>
          </a:p>
          <a:p>
            <a:pPr marL="914400" lvl="2" indent="0">
              <a:buNone/>
            </a:pPr>
            <a:r>
              <a:rPr lang="en-US" sz="2400" dirty="0" err="1"/>
              <a:t>printf</a:t>
            </a:r>
            <a:r>
              <a:rPr lang="vi-VN" sz="2400" dirty="0"/>
              <a:t>"Dia chi cua bien y =</a:t>
            </a:r>
            <a:r>
              <a:rPr lang="en-US" sz="2400" dirty="0"/>
              <a:t> %p</a:t>
            </a:r>
            <a:r>
              <a:rPr lang="vi-VN" sz="2400" dirty="0"/>
              <a:t> “</a:t>
            </a:r>
            <a:r>
              <a:rPr lang="en-US" sz="2400" dirty="0"/>
              <a:t>,</a:t>
            </a:r>
            <a:r>
              <a:rPr lang="vi-VN" sz="2400" dirty="0"/>
              <a:t>&amp;y</a:t>
            </a:r>
            <a:r>
              <a:rPr lang="en-US" sz="2400" dirty="0"/>
              <a:t>)</a:t>
            </a:r>
            <a:r>
              <a:rPr lang="vi-VN" sz="2400" dirty="0"/>
              <a:t>; </a:t>
            </a:r>
          </a:p>
          <a:p>
            <a:pPr marL="0" indent="0" algn="just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26190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con </a:t>
            </a:r>
            <a:r>
              <a:rPr lang="en-US" dirty="0" err="1"/>
              <a:t>trỏ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838200"/>
            <a:ext cx="8572500" cy="5638800"/>
          </a:xfrm>
        </p:spPr>
        <p:txBody>
          <a:bodyPr/>
          <a:lstStyle/>
          <a:p>
            <a:pPr algn="just"/>
            <a:r>
              <a:rPr lang="en-US" dirty="0"/>
              <a:t>Con </a:t>
            </a:r>
            <a:r>
              <a:rPr lang="vi-VN" dirty="0"/>
              <a:t>trỏ là </a:t>
            </a:r>
            <a:r>
              <a:rPr lang="vi-VN" dirty="0">
                <a:solidFill>
                  <a:srgbClr val="EC2C06"/>
                </a:solidFill>
              </a:rPr>
              <a:t>1 biến chứa một địa chỉ </a:t>
            </a:r>
            <a:r>
              <a:rPr lang="en-US" dirty="0" err="1">
                <a:solidFill>
                  <a:srgbClr val="EC2C06"/>
                </a:solidFill>
              </a:rPr>
              <a:t>của</a:t>
            </a:r>
            <a:r>
              <a:rPr lang="en-US" dirty="0">
                <a:solidFill>
                  <a:srgbClr val="EC2C06"/>
                </a:solidFill>
              </a:rPr>
              <a:t> </a:t>
            </a:r>
            <a:r>
              <a:rPr lang="en-US" dirty="0" err="1">
                <a:solidFill>
                  <a:srgbClr val="EC2C06"/>
                </a:solidFill>
              </a:rPr>
              <a:t>biến</a:t>
            </a:r>
            <a:r>
              <a:rPr lang="en-US" dirty="0">
                <a:solidFill>
                  <a:srgbClr val="EC2C06"/>
                </a:solidFill>
              </a:rPr>
              <a:t> </a:t>
            </a:r>
            <a:r>
              <a:rPr lang="en-US" dirty="0" err="1">
                <a:solidFill>
                  <a:srgbClr val="EC2C06"/>
                </a:solidFill>
              </a:rPr>
              <a:t>khác</a:t>
            </a:r>
            <a:endParaRPr lang="vi-VN" dirty="0"/>
          </a:p>
          <a:p>
            <a:pPr algn="just"/>
            <a:endParaRPr lang="vi-VN" dirty="0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524000" y="2775993"/>
            <a:ext cx="1368425" cy="1266825"/>
            <a:chOff x="2226" y="2171"/>
            <a:chExt cx="798" cy="741"/>
          </a:xfrm>
        </p:grpSpPr>
        <p:sp>
          <p:nvSpPr>
            <p:cNvPr id="7" name="AutoShape 6"/>
            <p:cNvSpPr>
              <a:spLocks noChangeArrowheads="1"/>
            </p:cNvSpPr>
            <p:nvPr/>
          </p:nvSpPr>
          <p:spPr bwMode="gray">
            <a:xfrm>
              <a:off x="2226" y="2171"/>
              <a:ext cx="798" cy="741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72941"/>
                    <a:invGamma/>
                  </a:schemeClr>
                </a:gs>
              </a:gsLst>
              <a:lin ang="5400000" scaled="1"/>
            </a:gradFill>
            <a:ln w="25400">
              <a:noFill/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gray">
            <a:xfrm>
              <a:off x="2256" y="2208"/>
              <a:ext cx="397" cy="370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0" y="118"/>
                </a:cxn>
                <a:cxn ang="0">
                  <a:pos x="0" y="589"/>
                </a:cxn>
                <a:cxn ang="0">
                  <a:pos x="161" y="174"/>
                </a:cxn>
                <a:cxn ang="0">
                  <a:pos x="589" y="0"/>
                </a:cxn>
                <a:cxn ang="0">
                  <a:pos x="118" y="0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>
                    <a:gamma/>
                    <a:tint val="60392"/>
                    <a:invGamma/>
                  </a:schemeClr>
                </a:gs>
                <a:gs pos="50000">
                  <a:schemeClr val="hlink">
                    <a:alpha val="0"/>
                  </a:schemeClr>
                </a:gs>
                <a:gs pos="100000">
                  <a:schemeClr val="hlink">
                    <a:gamma/>
                    <a:tint val="60392"/>
                    <a:invGamma/>
                  </a:schemeClr>
                </a:gs>
              </a:gsLst>
              <a:lin ang="27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AutoShape 10"/>
          <p:cNvSpPr>
            <a:spLocks noChangeArrowheads="1"/>
          </p:cNvSpPr>
          <p:nvPr/>
        </p:nvSpPr>
        <p:spPr bwMode="gray">
          <a:xfrm>
            <a:off x="2976157" y="2607717"/>
            <a:ext cx="986243" cy="762000"/>
          </a:xfrm>
          <a:custGeom>
            <a:avLst/>
            <a:gdLst>
              <a:gd name="G0" fmla="+- -1028336 0 0"/>
              <a:gd name="G1" fmla="+- -11733423 0 0"/>
              <a:gd name="G2" fmla="+- -1028336 0 -11733423"/>
              <a:gd name="G3" fmla="+- 10800 0 0"/>
              <a:gd name="G4" fmla="+- 0 0 -102833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7986 0 0"/>
              <a:gd name="G9" fmla="+- 0 0 -11733423"/>
              <a:gd name="G10" fmla="+- 7986 0 2700"/>
              <a:gd name="G11" fmla="cos G10 -1028336"/>
              <a:gd name="G12" fmla="sin G10 -1028336"/>
              <a:gd name="G13" fmla="cos 13500 -1028336"/>
              <a:gd name="G14" fmla="sin 13500 -1028336"/>
              <a:gd name="G15" fmla="+- G11 10800 0"/>
              <a:gd name="G16" fmla="+- G12 10800 0"/>
              <a:gd name="G17" fmla="+- G13 10800 0"/>
              <a:gd name="G18" fmla="+- G14 10800 0"/>
              <a:gd name="G19" fmla="*/ 7986 1 2"/>
              <a:gd name="G20" fmla="+- G19 5400 0"/>
              <a:gd name="G21" fmla="cos G20 -1028336"/>
              <a:gd name="G22" fmla="sin G20 -1028336"/>
              <a:gd name="G23" fmla="+- G21 10800 0"/>
              <a:gd name="G24" fmla="+- G12 G23 G22"/>
              <a:gd name="G25" fmla="+- G22 G23 G11"/>
              <a:gd name="G26" fmla="cos 10800 -1028336"/>
              <a:gd name="G27" fmla="sin 10800 -1028336"/>
              <a:gd name="G28" fmla="cos 7986 -1028336"/>
              <a:gd name="G29" fmla="sin 7986 -102833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33423"/>
              <a:gd name="G36" fmla="sin G34 -11733423"/>
              <a:gd name="G37" fmla="+/ -11733423 -102833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7986 G39"/>
              <a:gd name="G43" fmla="sin 7986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9415 w 21600"/>
              <a:gd name="T5" fmla="*/ 89 h 21600"/>
              <a:gd name="T6" fmla="*/ 1408 w 21600"/>
              <a:gd name="T7" fmla="*/ 10642 h 21600"/>
              <a:gd name="T8" fmla="*/ 9776 w 21600"/>
              <a:gd name="T9" fmla="*/ 2879 h 21600"/>
              <a:gd name="T10" fmla="*/ 23796 w 21600"/>
              <a:gd name="T11" fmla="*/ 7148 h 21600"/>
              <a:gd name="T12" fmla="*/ 20953 w 21600"/>
              <a:gd name="T13" fmla="*/ 12212 h 21600"/>
              <a:gd name="T14" fmla="*/ 15889 w 21600"/>
              <a:gd name="T15" fmla="*/ 937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8488" y="8640"/>
                </a:moveTo>
                <a:cubicBezTo>
                  <a:pt x="17520" y="5194"/>
                  <a:pt x="14378" y="2814"/>
                  <a:pt x="10800" y="2814"/>
                </a:cubicBezTo>
                <a:cubicBezTo>
                  <a:pt x="6441" y="2813"/>
                  <a:pt x="2888" y="6308"/>
                  <a:pt x="2815" y="10665"/>
                </a:cubicBezTo>
                <a:lnTo>
                  <a:pt x="1" y="10618"/>
                </a:lnTo>
                <a:cubicBezTo>
                  <a:pt x="100" y="4725"/>
                  <a:pt x="4906" y="-1"/>
                  <a:pt x="10800" y="0"/>
                </a:cubicBezTo>
                <a:cubicBezTo>
                  <a:pt x="15639" y="0"/>
                  <a:pt x="19888" y="3219"/>
                  <a:pt x="21197" y="7879"/>
                </a:cubicBezTo>
                <a:lnTo>
                  <a:pt x="23796" y="7148"/>
                </a:lnTo>
                <a:lnTo>
                  <a:pt x="20953" y="12212"/>
                </a:lnTo>
                <a:lnTo>
                  <a:pt x="15889" y="9370"/>
                </a:lnTo>
                <a:lnTo>
                  <a:pt x="18488" y="8640"/>
                </a:lnTo>
                <a:close/>
              </a:path>
            </a:pathLst>
          </a:custGeom>
          <a:solidFill>
            <a:schemeClr val="tx1">
              <a:alpha val="3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4018368" y="2850793"/>
            <a:ext cx="1196975" cy="1171575"/>
            <a:chOff x="480" y="1200"/>
            <a:chExt cx="1042" cy="1019"/>
          </a:xfrm>
        </p:grpSpPr>
        <p:grpSp>
          <p:nvGrpSpPr>
            <p:cNvPr id="17" name="Group 16"/>
            <p:cNvGrpSpPr>
              <a:grpSpLocks/>
            </p:cNvGrpSpPr>
            <p:nvPr/>
          </p:nvGrpSpPr>
          <p:grpSpPr bwMode="auto">
            <a:xfrm>
              <a:off x="480" y="1200"/>
              <a:ext cx="1042" cy="1019"/>
              <a:chOff x="480" y="1200"/>
              <a:chExt cx="1042" cy="1019"/>
            </a:xfrm>
          </p:grpSpPr>
          <p:pic>
            <p:nvPicPr>
              <p:cNvPr id="19" name="Picture 17" descr="circuler_1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480" y="1200"/>
                <a:ext cx="1042" cy="1016"/>
              </a:xfrm>
              <a:prstGeom prst="rect">
                <a:avLst/>
              </a:prstGeom>
              <a:noFill/>
            </p:spPr>
          </p:pic>
          <p:sp>
            <p:nvSpPr>
              <p:cNvPr id="20" name="Oval 18"/>
              <p:cNvSpPr>
                <a:spLocks noChangeArrowheads="1"/>
              </p:cNvSpPr>
              <p:nvPr/>
            </p:nvSpPr>
            <p:spPr bwMode="gray">
              <a:xfrm>
                <a:off x="480" y="1200"/>
                <a:ext cx="1035" cy="1019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55000"/>
                    </a:schemeClr>
                  </a:gs>
                  <a:gs pos="50000">
                    <a:schemeClr val="hlink">
                      <a:gamma/>
                      <a:shade val="46275"/>
                      <a:invGamma/>
                      <a:alpha val="89999"/>
                    </a:schemeClr>
                  </a:gs>
                  <a:gs pos="100000">
                    <a:schemeClr val="hlink">
                      <a:alpha val="55000"/>
                    </a:scheme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18" name="Picture 19" descr="Picture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gray">
            <a:xfrm>
              <a:off x="584" y="1210"/>
              <a:ext cx="823" cy="360"/>
            </a:xfrm>
            <a:prstGeom prst="rect">
              <a:avLst/>
            </a:prstGeom>
            <a:noFill/>
          </p:spPr>
        </p:pic>
      </p:grpSp>
      <p:sp>
        <p:nvSpPr>
          <p:cNvPr id="31" name="Text Box 30"/>
          <p:cNvSpPr txBox="1">
            <a:spLocks noChangeArrowheads="1"/>
          </p:cNvSpPr>
          <p:nvPr/>
        </p:nvSpPr>
        <p:spPr bwMode="white">
          <a:xfrm>
            <a:off x="4104192" y="3108107"/>
            <a:ext cx="106045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solidFill>
                  <a:srgbClr val="F8F8F8"/>
                </a:solidFill>
                <a:cs typeface="Arial" charset="0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62400" y="2133600"/>
            <a:ext cx="273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Giá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2400" b="1" i="0" u="none" strike="noStrike" kern="0" cap="none" spc="0" normalizeH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trị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2400" b="1" i="0" u="none" strike="noStrike" kern="0" cap="none" spc="0" normalizeH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biến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a = 10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41577" y="2297103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aPtr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70745" y="2635657"/>
            <a:ext cx="256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3157" y="4342439"/>
            <a:ext cx="3728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Con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trỏ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1600" b="1" i="0" u="none" strike="noStrike" kern="0" cap="none" spc="0" normalizeH="0" noProof="0" dirty="0" err="1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trỏ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1600" b="1" i="0" u="none" strike="noStrike" kern="0" cap="none" spc="0" normalizeH="0" noProof="0" dirty="0" err="1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đến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1600" b="1" i="0" u="none" strike="noStrike" kern="0" cap="none" spc="0" normalizeH="0" noProof="0" dirty="0" err="1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vùng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1600" b="1" i="0" u="none" strike="noStrike" kern="0" cap="none" spc="0" normalizeH="0" noProof="0" dirty="0" err="1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nhớ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1600" b="1" i="0" u="none" strike="noStrike" kern="0" cap="none" spc="0" normalizeH="0" noProof="0" dirty="0" err="1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của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</a:t>
            </a:r>
            <a:r>
              <a:rPr kumimoji="0" lang="en-US" sz="1600" b="1" i="0" u="none" strike="noStrike" kern="0" cap="none" spc="0" normalizeH="0" noProof="0" dirty="0" err="1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biến</a:t>
            </a:r>
            <a:r>
              <a:rPr kumimoji="0" lang="en-US" sz="1600" b="1" i="0" u="none" strike="noStrike" kern="0" cap="none" spc="0" normalizeH="0" noProof="0" dirty="0">
                <a:ln>
                  <a:noFill/>
                </a:ln>
                <a:solidFill>
                  <a:srgbClr val="EC2C06"/>
                </a:solidFill>
                <a:effectLst/>
                <a:uLnTx/>
                <a:uFillTx/>
                <a:latin typeface="+mj-lt"/>
                <a:cs typeface="Times New Roman" pitchFamily="18" charset="0"/>
              </a:rPr>
              <a:t> a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EC2C06"/>
              </a:solidFill>
              <a:effectLst/>
              <a:uLnTx/>
              <a:uFillTx/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388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5" grpId="0"/>
      <p:bldP spid="56" grpId="0"/>
      <p:bldP spid="57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con </a:t>
            </a:r>
            <a:r>
              <a:rPr lang="en-US" dirty="0" err="1"/>
              <a:t>trỏ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r>
              <a:rPr lang="en-US" b="1" dirty="0" err="1">
                <a:latin typeface="+mj-lt"/>
                <a:cs typeface="Times New Roman" pitchFamily="18" charset="0"/>
              </a:rPr>
              <a:t>Cú</a:t>
            </a:r>
            <a:r>
              <a:rPr lang="en-US" b="1" dirty="0">
                <a:latin typeface="+mj-lt"/>
                <a:cs typeface="Times New Roman" pitchFamily="18" charset="0"/>
              </a:rPr>
              <a:t> </a:t>
            </a:r>
            <a:r>
              <a:rPr lang="en-US" b="1" dirty="0" err="1">
                <a:latin typeface="+mj-lt"/>
                <a:cs typeface="Times New Roman" pitchFamily="18" charset="0"/>
              </a:rPr>
              <a:t>pháp</a:t>
            </a:r>
            <a:r>
              <a:rPr lang="en-US" dirty="0">
                <a:latin typeface="+mj-lt"/>
                <a:cs typeface="Times New Roman" pitchFamily="18" charset="0"/>
              </a:rPr>
              <a:t>:</a:t>
            </a:r>
          </a:p>
          <a:p>
            <a:pPr algn="ctr">
              <a:buFont typeface="Arial" pitchFamily="34" charset="0"/>
              <a:buNone/>
            </a:pPr>
            <a:r>
              <a:rPr lang="en-US" b="1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&lt;Type&gt; </a:t>
            </a:r>
            <a:r>
              <a:rPr lang="en-US" b="1" dirty="0">
                <a:latin typeface="+mj-lt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040DBC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b="1" dirty="0" err="1">
                <a:solidFill>
                  <a:srgbClr val="C00000"/>
                </a:solidFill>
                <a:latin typeface="+mj-lt"/>
                <a:cs typeface="Times New Roman" pitchFamily="18" charset="0"/>
              </a:rPr>
              <a:t>Tên</a:t>
            </a:r>
            <a:r>
              <a:rPr lang="en-US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+mj-lt"/>
                <a:cs typeface="Times New Roman" pitchFamily="18" charset="0"/>
              </a:rPr>
              <a:t>biến</a:t>
            </a:r>
            <a:r>
              <a:rPr lang="en-US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 con </a:t>
            </a:r>
            <a:r>
              <a:rPr lang="en-US" b="1" dirty="0" err="1">
                <a:solidFill>
                  <a:srgbClr val="C00000"/>
                </a:solidFill>
                <a:latin typeface="+mj-lt"/>
                <a:cs typeface="Times New Roman" pitchFamily="18" charset="0"/>
              </a:rPr>
              <a:t>trỏ</a:t>
            </a:r>
            <a:r>
              <a:rPr lang="en-US" b="1" dirty="0">
                <a:latin typeface="+mj-lt"/>
                <a:cs typeface="Times New Roman" pitchFamily="18" charset="0"/>
              </a:rPr>
              <a:t>;</a:t>
            </a:r>
            <a:endParaRPr lang="en-US" dirty="0">
              <a:latin typeface="+mj-lt"/>
              <a:cs typeface="Times New Roman" pitchFamily="18" charset="0"/>
            </a:endParaRPr>
          </a:p>
          <a:p>
            <a:pPr lvl="2">
              <a:spcBef>
                <a:spcPts val="1200"/>
              </a:spcBef>
              <a:buFont typeface="Arial" pitchFamily="34" charset="0"/>
              <a:buNone/>
            </a:pPr>
            <a:r>
              <a:rPr lang="en-US" b="1" i="1" dirty="0">
                <a:latin typeface="+mj-lt"/>
                <a:cs typeface="Times New Roman" pitchFamily="18" charset="0"/>
              </a:rPr>
              <a:t>	type</a:t>
            </a:r>
            <a:r>
              <a:rPr lang="en-US" dirty="0">
                <a:latin typeface="+mj-lt"/>
                <a:cs typeface="Times New Roman" pitchFamily="18" charset="0"/>
              </a:rPr>
              <a:t>: </a:t>
            </a:r>
            <a:r>
              <a:rPr lang="en-US" dirty="0" err="1">
                <a:latin typeface="+mj-lt"/>
                <a:cs typeface="Times New Roman" pitchFamily="18" charset="0"/>
              </a:rPr>
              <a:t>xác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định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kiểu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dữ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liệu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của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biến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mà</a:t>
            </a:r>
            <a:r>
              <a:rPr lang="en-US" dirty="0">
                <a:latin typeface="+mj-lt"/>
                <a:cs typeface="Times New Roman" pitchFamily="18" charset="0"/>
              </a:rPr>
              <a:t> con </a:t>
            </a:r>
            <a:r>
              <a:rPr lang="en-US" dirty="0" err="1">
                <a:latin typeface="+mj-lt"/>
                <a:cs typeface="Times New Roman" pitchFamily="18" charset="0"/>
              </a:rPr>
              <a:t>trỏ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trỏ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đến</a:t>
            </a:r>
            <a:endParaRPr lang="en-US" dirty="0">
              <a:latin typeface="+mj-lt"/>
              <a:cs typeface="Times New Roman" pitchFamily="18" charset="0"/>
            </a:endParaRPr>
          </a:p>
          <a:p>
            <a:pPr lvl="2">
              <a:spcBef>
                <a:spcPts val="1200"/>
              </a:spcBef>
              <a:buFont typeface="Arial" pitchFamily="34" charset="0"/>
              <a:buNone/>
            </a:pPr>
            <a:r>
              <a:rPr lang="en-US" dirty="0"/>
              <a:t>Sau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pointer variable </a:t>
            </a:r>
            <a:r>
              <a:rPr lang="vi-VN" dirty="0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vi-VN" dirty="0"/>
              <a:t> NULL (chưa trỏ tới 1 đối tượng</a:t>
            </a:r>
            <a:r>
              <a:rPr lang="en-US" dirty="0">
                <a:latin typeface="+mj-lt"/>
                <a:cs typeface="Times New Roman" pitchFamily="18" charset="0"/>
              </a:rPr>
              <a:t>.</a:t>
            </a:r>
          </a:p>
          <a:p>
            <a:pPr lvl="1">
              <a:buFont typeface="Arial" pitchFamily="34" charset="0"/>
              <a:buNone/>
            </a:pPr>
            <a:r>
              <a:rPr lang="en-US" dirty="0" err="1">
                <a:latin typeface="+mj-lt"/>
                <a:cs typeface="Times New Roman" pitchFamily="18" charset="0"/>
              </a:rPr>
              <a:t>Ví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dụ</a:t>
            </a:r>
            <a:r>
              <a:rPr lang="en-US" dirty="0">
                <a:latin typeface="+mj-lt"/>
                <a:cs typeface="Times New Roman" pitchFamily="18" charset="0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0" y="311442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800" dirty="0">
                <a:latin typeface="Tahoma" pitchFamily="34" charset="0"/>
                <a:cs typeface="Tahoma" pitchFamily="34" charset="0"/>
              </a:rPr>
              <a:t> *a;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572000" y="3419220"/>
            <a:ext cx="990600" cy="1588"/>
          </a:xfrm>
          <a:prstGeom prst="straightConnector1">
            <a:avLst/>
          </a:prstGeom>
          <a:ln w="889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72428" y="34264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ahoma" pitchFamily="34" charset="0"/>
                <a:cs typeface="Tahoma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230621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49B7-ACD3-46B0-B6C8-D430C21F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2400" dirty="0"/>
              <a:t>Các biểu tượng được sử dụng trong con trỏ</a:t>
            </a:r>
            <a:endParaRPr lang="en-US" sz="2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03713FA-83F3-4677-8FCB-A895612078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8594"/>
              </p:ext>
            </p:extLst>
          </p:nvPr>
        </p:nvGraphicFramePr>
        <p:xfrm>
          <a:off x="665163" y="1143000"/>
          <a:ext cx="7716839" cy="2480310"/>
        </p:xfrm>
        <a:graphic>
          <a:graphicData uri="http://schemas.openxmlformats.org/drawingml/2006/table">
            <a:tbl>
              <a:tblPr/>
              <a:tblGrid>
                <a:gridCol w="1397445">
                  <a:extLst>
                    <a:ext uri="{9D8B030D-6E8A-4147-A177-3AD203B41FA5}">
                      <a16:colId xmlns:a16="http://schemas.microsoft.com/office/drawing/2014/main" val="3963574319"/>
                    </a:ext>
                  </a:extLst>
                </a:gridCol>
                <a:gridCol w="3159697">
                  <a:extLst>
                    <a:ext uri="{9D8B030D-6E8A-4147-A177-3AD203B41FA5}">
                      <a16:colId xmlns:a16="http://schemas.microsoft.com/office/drawing/2014/main" val="2796552999"/>
                    </a:ext>
                  </a:extLst>
                </a:gridCol>
                <a:gridCol w="3159697">
                  <a:extLst>
                    <a:ext uri="{9D8B030D-6E8A-4147-A177-3AD203B41FA5}">
                      <a16:colId xmlns:a16="http://schemas.microsoft.com/office/drawing/2014/main" val="1650557723"/>
                    </a:ext>
                  </a:extLst>
                </a:gridCol>
              </a:tblGrid>
              <a:tr h="471380">
                <a:tc>
                  <a:txBody>
                    <a:bodyPr/>
                    <a:lstStyle/>
                    <a:p>
                      <a:pPr algn="l" fontAlgn="t"/>
                      <a:r>
                        <a:rPr lang="vi-VN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Biểu tượng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Tên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Mô tả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F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25462"/>
                  </a:ext>
                </a:extLst>
              </a:tr>
              <a:tr h="47138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&amp;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 err="1">
                          <a:effectLst/>
                        </a:rPr>
                        <a:t>Địa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chỉ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của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toán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tử</a:t>
                      </a:r>
                      <a:endParaRPr lang="en-US" sz="2400" dirty="0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 err="1">
                          <a:effectLst/>
                        </a:rPr>
                        <a:t>Xác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định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địa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chỉ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của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một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biến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0962"/>
                  </a:ext>
                </a:extLst>
              </a:tr>
              <a:tr h="82127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*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Toán tử liên kết.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 err="1">
                          <a:effectLst/>
                        </a:rPr>
                        <a:t>Truy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cập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đến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giá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trị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của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địa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chỉ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355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7A6BD-10BC-4652-A7CA-A925AEFD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C00D07-4F5D-40C4-BE60-1E4CF781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5" y="2849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659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(pointer operators)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r>
              <a:rPr lang="vi-VN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Toán tử &amp; </a:t>
            </a:r>
            <a:r>
              <a:rPr lang="vi-VN" dirty="0">
                <a:latin typeface="+mj-lt"/>
                <a:cs typeface="Times New Roman" pitchFamily="18" charset="0"/>
              </a:rPr>
              <a:t>là toán tử 1 ngôi,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vi-VN" dirty="0">
              <a:latin typeface="+mj-lt"/>
              <a:cs typeface="Times New Roman" pitchFamily="18" charset="0"/>
            </a:endParaRPr>
          </a:p>
          <a:p>
            <a:r>
              <a:rPr lang="vi-VN" dirty="0">
                <a:latin typeface="+mj-lt"/>
                <a:cs typeface="Times New Roman" pitchFamily="18" charset="0"/>
              </a:rPr>
              <a:t>Toán tử &amp; dùng để gán địa chỉ của biến cho biến con trỏ </a:t>
            </a:r>
          </a:p>
          <a:p>
            <a:r>
              <a:rPr lang="vi-VN" dirty="0">
                <a:latin typeface="+mj-lt"/>
                <a:cs typeface="Times New Roman" pitchFamily="18" charset="0"/>
              </a:rPr>
              <a:t>Cú pháp: </a:t>
            </a:r>
            <a:endParaRPr lang="en-US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+mj-lt"/>
                <a:cs typeface="Times New Roman" pitchFamily="18" charset="0"/>
              </a:rPr>
              <a:t>	</a:t>
            </a:r>
            <a:r>
              <a:rPr lang="vi-VN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&lt;Tên biến con trỏ&gt;=&amp;&lt;Tên biến&gt;</a:t>
            </a:r>
            <a:endParaRPr lang="en-US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457200" lvl="1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a = 25, x;</a:t>
            </a:r>
          </a:p>
          <a:p>
            <a:pPr marL="457200" lvl="1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*y;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x = a;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y=&amp;a;</a:t>
            </a:r>
          </a:p>
          <a:p>
            <a:pPr marL="457200" lvl="1" indent="0">
              <a:buNone/>
            </a:pPr>
            <a:r>
              <a:rPr lang="en-US" dirty="0">
                <a:latin typeface="+mj-lt"/>
                <a:cs typeface="Times New Roman" pitchFamily="18" charset="0"/>
              </a:rPr>
              <a:t>y=a;//</a:t>
            </a:r>
            <a:r>
              <a:rPr lang="en-US" dirty="0" err="1">
                <a:latin typeface="+mj-lt"/>
                <a:cs typeface="Times New Roman" pitchFamily="18" charset="0"/>
              </a:rPr>
              <a:t>sai</a:t>
            </a:r>
            <a:endParaRPr lang="en-US" dirty="0">
              <a:latin typeface="+mj-lt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3165" y="3429000"/>
            <a:ext cx="567503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74057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r>
              <a:rPr lang="vi-VN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Toán tử </a:t>
            </a: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*</a:t>
            </a:r>
            <a:r>
              <a:rPr lang="vi-VN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là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lấy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giá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trị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của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biến</a:t>
            </a:r>
            <a:r>
              <a:rPr lang="en-US" dirty="0">
                <a:latin typeface="+mj-lt"/>
                <a:cs typeface="Times New Roman" pitchFamily="18" charset="0"/>
              </a:rPr>
              <a:t> n</a:t>
            </a:r>
            <a:r>
              <a:rPr lang="vi-VN" dirty="0">
                <a:latin typeface="+mj-lt"/>
                <a:cs typeface="Times New Roman" pitchFamily="18" charset="0"/>
              </a:rPr>
              <a:t>ơ</a:t>
            </a:r>
            <a:r>
              <a:rPr lang="en-US" dirty="0" err="1">
                <a:latin typeface="+mj-lt"/>
                <a:cs typeface="Times New Roman" pitchFamily="18" charset="0"/>
              </a:rPr>
              <a:t>i</a:t>
            </a:r>
            <a:r>
              <a:rPr lang="en-US" dirty="0">
                <a:latin typeface="+mj-lt"/>
                <a:cs typeface="Times New Roman" pitchFamily="18" charset="0"/>
              </a:rPr>
              <a:t> con </a:t>
            </a:r>
            <a:r>
              <a:rPr lang="en-US" dirty="0" err="1">
                <a:latin typeface="+mj-lt"/>
                <a:cs typeface="Times New Roman" pitchFamily="18" charset="0"/>
              </a:rPr>
              <a:t>trỏ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trỏ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vào</a:t>
            </a:r>
            <a:endParaRPr lang="en-US" dirty="0">
              <a:latin typeface="+mj-lt"/>
              <a:cs typeface="Times New Roman" pitchFamily="18" charset="0"/>
            </a:endParaRPr>
          </a:p>
          <a:p>
            <a:r>
              <a:rPr lang="vi-VN" dirty="0">
                <a:latin typeface="+mj-lt"/>
                <a:cs typeface="Times New Roman" pitchFamily="18" charset="0"/>
              </a:rPr>
              <a:t>Cú pháp: </a:t>
            </a:r>
            <a:endParaRPr lang="en-US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+mj-lt"/>
                <a:cs typeface="Times New Roman" pitchFamily="18" charset="0"/>
              </a:rPr>
              <a:t>	</a:t>
            </a:r>
            <a:r>
              <a:rPr lang="en-US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* </a:t>
            </a:r>
            <a:r>
              <a:rPr lang="vi-VN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&lt;Tên biến con trỏ</a:t>
            </a: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&gt;=</a:t>
            </a:r>
            <a:r>
              <a:rPr lang="en-US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tên</a:t>
            </a: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biên</a:t>
            </a: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int a=20;</a:t>
            </a:r>
          </a:p>
          <a:p>
            <a:pPr marL="457200" lvl="1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int *p; p-&gt;Null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		p=&amp;a;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*p=a=20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a=50=&gt; *ơ=50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*p=90=&gt; a=90</a:t>
            </a:r>
          </a:p>
        </p:txBody>
      </p:sp>
    </p:spTree>
    <p:extLst>
      <p:ext uri="{BB962C8B-B14F-4D97-AF65-F5344CB8AC3E}">
        <p14:creationId xmlns:p14="http://schemas.microsoft.com/office/powerpoint/2010/main" val="138730998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C872-AA7E-4BB8-AC11-3F162567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CÁC THAO TÁC TRÊN CON TRỎ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05E8E-6154-46DA-B677-ECF47BF9D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82781-78BB-402F-8150-808EC2B3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1978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Lệnh gán con trỏ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/>
              <a:t>P</a:t>
            </a:r>
            <a:r>
              <a:rPr lang="vi-VN" dirty="0"/>
              <a:t>hép gán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739775" lvl="1" indent="-336550" algn="just">
              <a:buFont typeface="Arial" pitchFamily="34" charset="0"/>
              <a:buNone/>
            </a:pPr>
            <a:r>
              <a:rPr lang="en-US" sz="2600" b="1" dirty="0" err="1">
                <a:latin typeface="+mj-lt"/>
                <a:cs typeface="Times New Roman" pitchFamily="18" charset="0"/>
              </a:rPr>
              <a:t>Ví</a:t>
            </a:r>
            <a:r>
              <a:rPr lang="en-US" sz="2600" b="1" dirty="0">
                <a:latin typeface="+mj-lt"/>
                <a:cs typeface="Times New Roman" pitchFamily="18" charset="0"/>
              </a:rPr>
              <a:t> </a:t>
            </a:r>
            <a:r>
              <a:rPr lang="en-US" sz="2600" b="1" dirty="0" err="1">
                <a:latin typeface="+mj-lt"/>
                <a:cs typeface="Times New Roman" pitchFamily="18" charset="0"/>
              </a:rPr>
              <a:t>dụ</a:t>
            </a:r>
            <a:r>
              <a:rPr lang="en-US" sz="2600" b="1" dirty="0">
                <a:latin typeface="+mj-lt"/>
                <a:cs typeface="Times New Roman" pitchFamily="18" charset="0"/>
              </a:rPr>
              <a:t>:</a:t>
            </a:r>
          </a:p>
          <a:p>
            <a:pPr lvl="3">
              <a:buFont typeface="Arial" pitchFamily="34" charset="0"/>
              <a:buNone/>
            </a:pPr>
            <a:r>
              <a:rPr lang="en-US" sz="26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600" dirty="0">
                <a:latin typeface="+mj-lt"/>
                <a:cs typeface="Times New Roman" pitchFamily="18" charset="0"/>
              </a:rPr>
              <a:t> x=10;</a:t>
            </a:r>
          </a:p>
          <a:p>
            <a:pPr lvl="3">
              <a:buFont typeface="Arial" pitchFamily="34" charset="0"/>
              <a:buNone/>
            </a:pPr>
            <a:r>
              <a:rPr lang="en-US" sz="26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600" dirty="0">
                <a:latin typeface="+mj-lt"/>
                <a:cs typeface="Times New Roman" pitchFamily="18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sz="2600" dirty="0">
                <a:latin typeface="+mj-lt"/>
                <a:cs typeface="Times New Roman" pitchFamily="18" charset="0"/>
              </a:rPr>
              <a:t>p1, </a:t>
            </a:r>
            <a:r>
              <a:rPr lang="en-US" sz="26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sz="2600" dirty="0">
                <a:latin typeface="+mj-lt"/>
                <a:cs typeface="Times New Roman" pitchFamily="18" charset="0"/>
              </a:rPr>
              <a:t>p2;</a:t>
            </a:r>
          </a:p>
          <a:p>
            <a:pPr lvl="3">
              <a:buFont typeface="Arial" pitchFamily="34" charset="0"/>
              <a:buNone/>
            </a:pPr>
            <a:r>
              <a:rPr lang="en-US" sz="2600" dirty="0">
                <a:latin typeface="+mj-lt"/>
                <a:cs typeface="Times New Roman" pitchFamily="18" charset="0"/>
              </a:rPr>
              <a:t>p1 = </a:t>
            </a:r>
            <a:r>
              <a:rPr lang="en-US" sz="26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&amp;</a:t>
            </a:r>
            <a:r>
              <a:rPr lang="en-US" sz="2600" dirty="0">
                <a:latin typeface="+mj-lt"/>
                <a:cs typeface="Times New Roman" pitchFamily="18" charset="0"/>
              </a:rPr>
              <a:t>x;</a:t>
            </a:r>
          </a:p>
          <a:p>
            <a:pPr lvl="3">
              <a:buFont typeface="Arial" pitchFamily="34" charset="0"/>
              <a:buNone/>
            </a:pPr>
            <a:r>
              <a:rPr lang="en-US" sz="2600" dirty="0">
                <a:latin typeface="+mj-lt"/>
                <a:cs typeface="Times New Roman" pitchFamily="18" charset="0"/>
              </a:rPr>
              <a:t>p2 = p1;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dirty="0">
                <a:ea typeface="+mn-ea"/>
                <a:cs typeface="+mn-cs"/>
              </a:rPr>
              <a:t>Sau </a:t>
            </a:r>
            <a:r>
              <a:rPr lang="en-US" dirty="0" err="1">
                <a:ea typeface="+mn-ea"/>
                <a:cs typeface="+mn-cs"/>
              </a:rPr>
              <a:t>khi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đọan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lệnh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trên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được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thực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hiện</a:t>
            </a:r>
            <a:r>
              <a:rPr lang="en-US" dirty="0">
                <a:ea typeface="+mn-ea"/>
                <a:cs typeface="+mn-cs"/>
              </a:rPr>
              <a:t>, </a:t>
            </a:r>
            <a:r>
              <a:rPr lang="en-US" dirty="0" err="1">
                <a:ea typeface="+mn-ea"/>
                <a:cs typeface="+mn-cs"/>
              </a:rPr>
              <a:t>cả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hai</a:t>
            </a:r>
            <a:r>
              <a:rPr lang="en-US" dirty="0">
                <a:ea typeface="+mn-ea"/>
                <a:cs typeface="+mn-cs"/>
              </a:rPr>
              <a:t> p1 </a:t>
            </a:r>
            <a:r>
              <a:rPr lang="en-US" dirty="0" err="1">
                <a:ea typeface="+mn-ea"/>
                <a:cs typeface="+mn-cs"/>
              </a:rPr>
              <a:t>và</a:t>
            </a:r>
            <a:r>
              <a:rPr lang="en-US" dirty="0">
                <a:ea typeface="+mn-ea"/>
                <a:cs typeface="+mn-cs"/>
              </a:rPr>
              <a:t> p2 </a:t>
            </a:r>
            <a:r>
              <a:rPr lang="en-US" dirty="0" err="1">
                <a:ea typeface="+mn-ea"/>
                <a:cs typeface="+mn-cs"/>
              </a:rPr>
              <a:t>cùng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trỏ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đến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biến</a:t>
            </a:r>
            <a:r>
              <a:rPr lang="en-US" dirty="0">
                <a:ea typeface="+mn-ea"/>
                <a:cs typeface="+mn-cs"/>
              </a:rPr>
              <a:t> x.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300411-881A-4B8E-81DC-3E13DD4BBAED}"/>
                  </a:ext>
                </a:extLst>
              </p14:cNvPr>
              <p14:cNvContentPartPr/>
              <p14:nvPr/>
            </p14:nvContentPartPr>
            <p14:xfrm>
              <a:off x="1581120" y="1835280"/>
              <a:ext cx="5861520" cy="194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300411-881A-4B8E-81DC-3E13DD4BBA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1760" y="1825920"/>
                <a:ext cx="5880240" cy="196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803132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con </a:t>
            </a:r>
            <a:r>
              <a:rPr lang="en-US" dirty="0" err="1"/>
              <a:t>trỏ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err="1"/>
              <a:t>Ví</a:t>
            </a:r>
            <a:r>
              <a:rPr lang="en-US"/>
              <a:t> dụ</a:t>
            </a:r>
            <a:endParaRPr lang="en-US" dirty="0"/>
          </a:p>
        </p:txBody>
      </p:sp>
      <p:grpSp>
        <p:nvGrpSpPr>
          <p:cNvPr id="19" name="Group 24"/>
          <p:cNvGrpSpPr>
            <a:grpSpLocks/>
          </p:cNvGrpSpPr>
          <p:nvPr/>
        </p:nvGrpSpPr>
        <p:grpSpPr bwMode="auto">
          <a:xfrm>
            <a:off x="279400" y="1752600"/>
            <a:ext cx="1905000" cy="436563"/>
            <a:chOff x="3618" y="3480"/>
            <a:chExt cx="1200" cy="275"/>
          </a:xfrm>
        </p:grpSpPr>
        <p:sp>
          <p:nvSpPr>
            <p:cNvPr id="20" name="Freeform 25"/>
            <p:cNvSpPr>
              <a:spLocks/>
            </p:cNvSpPr>
            <p:nvPr/>
          </p:nvSpPr>
          <p:spPr bwMode="ltGray">
            <a:xfrm>
              <a:off x="3682" y="3634"/>
              <a:ext cx="1063" cy="121"/>
            </a:xfrm>
            <a:custGeom>
              <a:avLst/>
              <a:gdLst/>
              <a:ahLst/>
              <a:cxnLst>
                <a:cxn ang="0">
                  <a:pos x="1120" y="252"/>
                </a:cxn>
                <a:cxn ang="0">
                  <a:pos x="1116" y="250"/>
                </a:cxn>
                <a:cxn ang="0">
                  <a:pos x="1100" y="246"/>
                </a:cxn>
                <a:cxn ang="0">
                  <a:pos x="1074" y="240"/>
                </a:cxn>
                <a:cxn ang="0">
                  <a:pos x="1038" y="232"/>
                </a:cxn>
                <a:cxn ang="0">
                  <a:pos x="992" y="222"/>
                </a:cxn>
                <a:cxn ang="0">
                  <a:pos x="938" y="212"/>
                </a:cxn>
                <a:cxn ang="0">
                  <a:pos x="876" y="204"/>
                </a:cxn>
                <a:cxn ang="0">
                  <a:pos x="806" y="196"/>
                </a:cxn>
                <a:cxn ang="0">
                  <a:pos x="730" y="190"/>
                </a:cxn>
                <a:cxn ang="0">
                  <a:pos x="646" y="184"/>
                </a:cxn>
                <a:cxn ang="0">
                  <a:pos x="556" y="184"/>
                </a:cxn>
                <a:cxn ang="0">
                  <a:pos x="466" y="184"/>
                </a:cxn>
                <a:cxn ang="0">
                  <a:pos x="384" y="190"/>
                </a:cxn>
                <a:cxn ang="0">
                  <a:pos x="308" y="196"/>
                </a:cxn>
                <a:cxn ang="0">
                  <a:pos x="238" y="204"/>
                </a:cxn>
                <a:cxn ang="0">
                  <a:pos x="178" y="212"/>
                </a:cxn>
                <a:cxn ang="0">
                  <a:pos x="126" y="222"/>
                </a:cxn>
                <a:cxn ang="0">
                  <a:pos x="82" y="232"/>
                </a:cxn>
                <a:cxn ang="0">
                  <a:pos x="46" y="240"/>
                </a:cxn>
                <a:cxn ang="0">
                  <a:pos x="20" y="246"/>
                </a:cxn>
                <a:cxn ang="0">
                  <a:pos x="6" y="250"/>
                </a:cxn>
                <a:cxn ang="0">
                  <a:pos x="0" y="252"/>
                </a:cxn>
                <a:cxn ang="0">
                  <a:pos x="0" y="62"/>
                </a:cxn>
                <a:cxn ang="0">
                  <a:pos x="560" y="0"/>
                </a:cxn>
                <a:cxn ang="0">
                  <a:pos x="1120" y="62"/>
                </a:cxn>
                <a:cxn ang="0">
                  <a:pos x="1120" y="252"/>
                </a:cxn>
                <a:cxn ang="0">
                  <a:pos x="1120" y="252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ltGray">
            <a:xfrm>
              <a:off x="3618" y="3480"/>
              <a:ext cx="1200" cy="240"/>
            </a:xfrm>
            <a:prstGeom prst="rect">
              <a:avLst/>
            </a:prstGeom>
            <a:solidFill>
              <a:schemeClr val="folHlink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27"/>
          <p:cNvSpPr txBox="1">
            <a:spLocks noChangeArrowheads="1"/>
          </p:cNvSpPr>
          <p:nvPr/>
        </p:nvSpPr>
        <p:spPr bwMode="black">
          <a:xfrm>
            <a:off x="388615" y="1691481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FFFFFF"/>
                </a:solidFill>
              </a:rPr>
              <a:t>p1</a:t>
            </a:r>
            <a:endParaRPr lang="en-US" b="1" dirty="0">
              <a:solidFill>
                <a:srgbClr val="FFFFFF"/>
              </a:solidFill>
            </a:endParaRPr>
          </a:p>
        </p:txBody>
      </p:sp>
      <p:grpSp>
        <p:nvGrpSpPr>
          <p:cNvPr id="27" name="Group 32"/>
          <p:cNvGrpSpPr>
            <a:grpSpLocks/>
          </p:cNvGrpSpPr>
          <p:nvPr/>
        </p:nvGrpSpPr>
        <p:grpSpPr bwMode="auto">
          <a:xfrm>
            <a:off x="2474264" y="1761333"/>
            <a:ext cx="1905000" cy="436563"/>
            <a:chOff x="3618" y="3480"/>
            <a:chExt cx="1200" cy="275"/>
          </a:xfrm>
        </p:grpSpPr>
        <p:sp>
          <p:nvSpPr>
            <p:cNvPr id="28" name="Freeform 33"/>
            <p:cNvSpPr>
              <a:spLocks/>
            </p:cNvSpPr>
            <p:nvPr/>
          </p:nvSpPr>
          <p:spPr bwMode="ltGray">
            <a:xfrm>
              <a:off x="3682" y="3634"/>
              <a:ext cx="1063" cy="121"/>
            </a:xfrm>
            <a:custGeom>
              <a:avLst/>
              <a:gdLst/>
              <a:ahLst/>
              <a:cxnLst>
                <a:cxn ang="0">
                  <a:pos x="1120" y="252"/>
                </a:cxn>
                <a:cxn ang="0">
                  <a:pos x="1116" y="250"/>
                </a:cxn>
                <a:cxn ang="0">
                  <a:pos x="1100" y="246"/>
                </a:cxn>
                <a:cxn ang="0">
                  <a:pos x="1074" y="240"/>
                </a:cxn>
                <a:cxn ang="0">
                  <a:pos x="1038" y="232"/>
                </a:cxn>
                <a:cxn ang="0">
                  <a:pos x="992" y="222"/>
                </a:cxn>
                <a:cxn ang="0">
                  <a:pos x="938" y="212"/>
                </a:cxn>
                <a:cxn ang="0">
                  <a:pos x="876" y="204"/>
                </a:cxn>
                <a:cxn ang="0">
                  <a:pos x="806" y="196"/>
                </a:cxn>
                <a:cxn ang="0">
                  <a:pos x="730" y="190"/>
                </a:cxn>
                <a:cxn ang="0">
                  <a:pos x="646" y="184"/>
                </a:cxn>
                <a:cxn ang="0">
                  <a:pos x="556" y="184"/>
                </a:cxn>
                <a:cxn ang="0">
                  <a:pos x="466" y="184"/>
                </a:cxn>
                <a:cxn ang="0">
                  <a:pos x="384" y="190"/>
                </a:cxn>
                <a:cxn ang="0">
                  <a:pos x="308" y="196"/>
                </a:cxn>
                <a:cxn ang="0">
                  <a:pos x="238" y="204"/>
                </a:cxn>
                <a:cxn ang="0">
                  <a:pos x="178" y="212"/>
                </a:cxn>
                <a:cxn ang="0">
                  <a:pos x="126" y="222"/>
                </a:cxn>
                <a:cxn ang="0">
                  <a:pos x="82" y="232"/>
                </a:cxn>
                <a:cxn ang="0">
                  <a:pos x="46" y="240"/>
                </a:cxn>
                <a:cxn ang="0">
                  <a:pos x="20" y="246"/>
                </a:cxn>
                <a:cxn ang="0">
                  <a:pos x="6" y="250"/>
                </a:cxn>
                <a:cxn ang="0">
                  <a:pos x="0" y="252"/>
                </a:cxn>
                <a:cxn ang="0">
                  <a:pos x="0" y="62"/>
                </a:cxn>
                <a:cxn ang="0">
                  <a:pos x="560" y="0"/>
                </a:cxn>
                <a:cxn ang="0">
                  <a:pos x="1120" y="62"/>
                </a:cxn>
                <a:cxn ang="0">
                  <a:pos x="1120" y="252"/>
                </a:cxn>
                <a:cxn ang="0">
                  <a:pos x="1120" y="252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34"/>
            <p:cNvSpPr>
              <a:spLocks noChangeArrowheads="1"/>
            </p:cNvSpPr>
            <p:nvPr/>
          </p:nvSpPr>
          <p:spPr bwMode="ltGray">
            <a:xfrm>
              <a:off x="3618" y="3480"/>
              <a:ext cx="1200" cy="24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" name="Text Box 35"/>
          <p:cNvSpPr txBox="1">
            <a:spLocks noChangeArrowheads="1"/>
          </p:cNvSpPr>
          <p:nvPr/>
        </p:nvSpPr>
        <p:spPr bwMode="black">
          <a:xfrm>
            <a:off x="2613025" y="1749426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rgbClr val="FFFFFF"/>
                </a:solidFill>
              </a:rPr>
              <a:t>P2=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412893" y="2168526"/>
            <a:ext cx="0" cy="128016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256546" y="2089152"/>
            <a:ext cx="0" cy="1359534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56546" y="3448686"/>
            <a:ext cx="2170218" cy="8947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X=10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72"/>
          <a:stretch/>
        </p:blipFill>
        <p:spPr bwMode="auto">
          <a:xfrm>
            <a:off x="4730542" y="1599897"/>
            <a:ext cx="4572000" cy="128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24">
            <a:extLst>
              <a:ext uri="{FF2B5EF4-FFF2-40B4-BE49-F238E27FC236}">
                <a16:creationId xmlns:a16="http://schemas.microsoft.com/office/drawing/2014/main" id="{EC37316A-871D-47C0-B8A5-EE5B7E639B22}"/>
              </a:ext>
            </a:extLst>
          </p:cNvPr>
          <p:cNvGrpSpPr>
            <a:grpSpLocks/>
          </p:cNvGrpSpPr>
          <p:nvPr/>
        </p:nvGrpSpPr>
        <p:grpSpPr bwMode="auto">
          <a:xfrm>
            <a:off x="276766" y="1761333"/>
            <a:ext cx="1905000" cy="436563"/>
            <a:chOff x="3618" y="3480"/>
            <a:chExt cx="1200" cy="275"/>
          </a:xfrm>
        </p:grpSpPr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5E8996D9-82F8-4323-BC87-F30F2B807FF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682" y="3634"/>
              <a:ext cx="1063" cy="121"/>
            </a:xfrm>
            <a:custGeom>
              <a:avLst/>
              <a:gdLst/>
              <a:ahLst/>
              <a:cxnLst>
                <a:cxn ang="0">
                  <a:pos x="1120" y="252"/>
                </a:cxn>
                <a:cxn ang="0">
                  <a:pos x="1116" y="250"/>
                </a:cxn>
                <a:cxn ang="0">
                  <a:pos x="1100" y="246"/>
                </a:cxn>
                <a:cxn ang="0">
                  <a:pos x="1074" y="240"/>
                </a:cxn>
                <a:cxn ang="0">
                  <a:pos x="1038" y="232"/>
                </a:cxn>
                <a:cxn ang="0">
                  <a:pos x="992" y="222"/>
                </a:cxn>
                <a:cxn ang="0">
                  <a:pos x="938" y="212"/>
                </a:cxn>
                <a:cxn ang="0">
                  <a:pos x="876" y="204"/>
                </a:cxn>
                <a:cxn ang="0">
                  <a:pos x="806" y="196"/>
                </a:cxn>
                <a:cxn ang="0">
                  <a:pos x="730" y="190"/>
                </a:cxn>
                <a:cxn ang="0">
                  <a:pos x="646" y="184"/>
                </a:cxn>
                <a:cxn ang="0">
                  <a:pos x="556" y="184"/>
                </a:cxn>
                <a:cxn ang="0">
                  <a:pos x="466" y="184"/>
                </a:cxn>
                <a:cxn ang="0">
                  <a:pos x="384" y="190"/>
                </a:cxn>
                <a:cxn ang="0">
                  <a:pos x="308" y="196"/>
                </a:cxn>
                <a:cxn ang="0">
                  <a:pos x="238" y="204"/>
                </a:cxn>
                <a:cxn ang="0">
                  <a:pos x="178" y="212"/>
                </a:cxn>
                <a:cxn ang="0">
                  <a:pos x="126" y="222"/>
                </a:cxn>
                <a:cxn ang="0">
                  <a:pos x="82" y="232"/>
                </a:cxn>
                <a:cxn ang="0">
                  <a:pos x="46" y="240"/>
                </a:cxn>
                <a:cxn ang="0">
                  <a:pos x="20" y="246"/>
                </a:cxn>
                <a:cxn ang="0">
                  <a:pos x="6" y="250"/>
                </a:cxn>
                <a:cxn ang="0">
                  <a:pos x="0" y="252"/>
                </a:cxn>
                <a:cxn ang="0">
                  <a:pos x="0" y="62"/>
                </a:cxn>
                <a:cxn ang="0">
                  <a:pos x="560" y="0"/>
                </a:cxn>
                <a:cxn ang="0">
                  <a:pos x="1120" y="62"/>
                </a:cxn>
                <a:cxn ang="0">
                  <a:pos x="1120" y="252"/>
                </a:cxn>
                <a:cxn ang="0">
                  <a:pos x="1120" y="252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26">
              <a:extLst>
                <a:ext uri="{FF2B5EF4-FFF2-40B4-BE49-F238E27FC236}">
                  <a16:creationId xmlns:a16="http://schemas.microsoft.com/office/drawing/2014/main" id="{D44E51DE-1247-474E-BC31-26B1C4F6D81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618" y="3480"/>
              <a:ext cx="1200" cy="240"/>
            </a:xfrm>
            <a:prstGeom prst="rect">
              <a:avLst/>
            </a:prstGeom>
            <a:solidFill>
              <a:schemeClr val="folHlink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>
                  <a:solidFill>
                    <a:schemeClr val="bg2">
                      <a:lumMod val="20000"/>
                      <a:lumOff val="80000"/>
                    </a:schemeClr>
                  </a:solidFill>
                </a:rPr>
                <a:t>P1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73902D6-F793-48DF-8DEA-55BFAB1F3B8B}"/>
              </a:ext>
            </a:extLst>
          </p:cNvPr>
          <p:cNvSpPr/>
          <p:nvPr/>
        </p:nvSpPr>
        <p:spPr>
          <a:xfrm>
            <a:off x="4305300" y="3146007"/>
            <a:ext cx="4572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int main()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int x=10;</a:t>
            </a:r>
          </a:p>
          <a:p>
            <a:r>
              <a:rPr lang="en-US" sz="2000" dirty="0"/>
              <a:t>    int *p1,*p2;</a:t>
            </a:r>
          </a:p>
          <a:p>
            <a:r>
              <a:rPr lang="en-US" sz="2000" dirty="0"/>
              <a:t>    p1=&amp;x;</a:t>
            </a:r>
          </a:p>
          <a:p>
            <a:r>
              <a:rPr lang="en-US" sz="2000" dirty="0"/>
              <a:t>    p2=p1;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("x= %d\</a:t>
            </a:r>
            <a:r>
              <a:rPr lang="en-US" sz="2000" dirty="0" err="1"/>
              <a:t>n",x</a:t>
            </a:r>
            <a:r>
              <a:rPr lang="en-US" sz="2000" dirty="0"/>
              <a:t>);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("*p1= %d\</a:t>
            </a:r>
            <a:r>
              <a:rPr lang="en-US" sz="2000" dirty="0" err="1"/>
              <a:t>n",x</a:t>
            </a:r>
            <a:r>
              <a:rPr lang="en-US" sz="2000" dirty="0"/>
              <a:t>);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("*p2= %d\</a:t>
            </a:r>
            <a:r>
              <a:rPr lang="en-US" sz="2000" dirty="0" err="1"/>
              <a:t>n",x</a:t>
            </a:r>
            <a:r>
              <a:rPr lang="en-US" sz="2000" dirty="0"/>
              <a:t>);</a:t>
            </a:r>
          </a:p>
          <a:p>
            <a:r>
              <a:rPr lang="en-US" sz="2000" dirty="0"/>
              <a:t>    return 0;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80079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CFBE-1EED-40AC-92B6-2950E446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8DB8A-04AC-4F28-9F13-863B20FF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*p;</a:t>
            </a:r>
          </a:p>
          <a:p>
            <a:r>
              <a:rPr lang="en-US" dirty="0"/>
              <a:t>P=NULL;// </a:t>
            </a:r>
            <a:r>
              <a:rPr lang="en-US" dirty="0" err="1"/>
              <a:t>gán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NULL</a:t>
            </a:r>
          </a:p>
          <a:p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ép</a:t>
            </a:r>
            <a:r>
              <a:rPr lang="en-US" dirty="0"/>
              <a:t> </a:t>
            </a:r>
            <a:r>
              <a:rPr lang="en-US" dirty="0" err="1"/>
              <a:t>kiểu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3A11A-64B5-4AA9-9F7B-513E52DF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8B822-B6E2-413E-A6CB-211797A08F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0" t="57411" r="55834" b="14428"/>
          <a:stretch/>
        </p:blipFill>
        <p:spPr>
          <a:xfrm>
            <a:off x="2362200" y="2705099"/>
            <a:ext cx="3810000" cy="1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4303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B35-4CAA-4196-B061-FC0EC6DB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827C8-F14E-459D-B573-4C14F142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  x[30]; *px; </a:t>
            </a:r>
          </a:p>
          <a:p>
            <a:r>
              <a:rPr lang="en-US" dirty="0"/>
              <a:t>px = &amp;x[10]; </a:t>
            </a:r>
          </a:p>
          <a:p>
            <a:r>
              <a:rPr lang="en-US" dirty="0"/>
              <a:t>px++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x[11] </a:t>
            </a:r>
          </a:p>
          <a:p>
            <a:r>
              <a:rPr lang="en-US" dirty="0"/>
              <a:t>px - - 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x[9] </a:t>
            </a:r>
          </a:p>
          <a:p>
            <a:r>
              <a:rPr lang="en-US" dirty="0"/>
              <a:t>px +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x[10 + </a:t>
            </a:r>
            <a:r>
              <a:rPr lang="en-US" dirty="0" err="1"/>
              <a:t>i</a:t>
            </a:r>
            <a:r>
              <a:rPr lang="en-US" dirty="0"/>
              <a:t>] </a:t>
            </a:r>
          </a:p>
          <a:p>
            <a:r>
              <a:rPr lang="en-US" dirty="0"/>
              <a:t>px –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x[10 – </a:t>
            </a:r>
            <a:r>
              <a:rPr lang="en-US" dirty="0" err="1"/>
              <a:t>i</a:t>
            </a:r>
            <a:r>
              <a:rPr lang="en-US" dirty="0"/>
              <a:t>]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ED0C1-2975-4128-B437-63EC24A3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52F5BA-BB22-42D1-A30D-9BE48A97FBF0}"/>
                  </a:ext>
                </a:extLst>
              </p14:cNvPr>
              <p14:cNvContentPartPr/>
              <p14:nvPr/>
            </p14:nvContentPartPr>
            <p14:xfrm>
              <a:off x="7689960" y="37465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52F5BA-BB22-42D1-A30D-9BE48A97FB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0600" y="37371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870097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FF0000"/>
                </a:solidFill>
              </a:rPr>
              <a:t>Lưu ý:</a:t>
            </a:r>
            <a:r>
              <a:rPr lang="vi-VN" dirty="0"/>
              <a:t> cả hai toán tử tăng (++) và giảm (--) đều có quyền ưu tiên lớn hơn toán tử *</a:t>
            </a:r>
          </a:p>
          <a:p>
            <a:pPr algn="just"/>
            <a:r>
              <a:rPr lang="vi-VN" dirty="0">
                <a:solidFill>
                  <a:srgbClr val="FF0000"/>
                </a:solidFill>
              </a:rPr>
              <a:t>Ví dụ:  </a:t>
            </a:r>
            <a:r>
              <a:rPr lang="vi-VN" dirty="0"/>
              <a:t>*p++;</a:t>
            </a:r>
            <a:endParaRPr lang="en-US" dirty="0"/>
          </a:p>
          <a:p>
            <a:pPr lvl="1" algn="just"/>
            <a:r>
              <a:rPr lang="vi-VN" dirty="0"/>
              <a:t>Lệnh *p++ tương đương với *(p++) : thực hiện là tăng p (địa chỉ ô nhớ mà nó trỏ tới chứ không phải là giá trị trỏ tới). </a:t>
            </a:r>
          </a:p>
          <a:p>
            <a:pPr algn="just"/>
            <a:endParaRPr lang="vi-VN" sz="2400" dirty="0"/>
          </a:p>
          <a:p>
            <a:pPr marL="0" indent="0" algn="just">
              <a:buNone/>
            </a:pPr>
            <a:endParaRPr lang="vi-V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A2B420-223C-49EE-8265-DBDD9422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9976A23-8657-4958-B012-3C492D109D2B}"/>
                  </a:ext>
                </a:extLst>
              </p14:cNvPr>
              <p14:cNvContentPartPr/>
              <p14:nvPr/>
            </p14:nvContentPartPr>
            <p14:xfrm>
              <a:off x="1936800" y="2152800"/>
              <a:ext cx="4020120" cy="46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9976A23-8657-4958-B012-3C492D109D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7440" y="2143440"/>
                <a:ext cx="4038840" cy="4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051896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Group 2"/>
          <p:cNvGrpSpPr>
            <a:grpSpLocks/>
          </p:cNvGrpSpPr>
          <p:nvPr/>
        </p:nvGrpSpPr>
        <p:grpSpPr bwMode="auto">
          <a:xfrm>
            <a:off x="2003425" y="2468562"/>
            <a:ext cx="5311775" cy="688975"/>
            <a:chOff x="720" y="1392"/>
            <a:chExt cx="4058" cy="480"/>
          </a:xfrm>
        </p:grpSpPr>
        <p:sp>
          <p:nvSpPr>
            <p:cNvPr id="69635" name="AutoShape 3"/>
            <p:cNvSpPr>
              <a:spLocks noChangeArrowheads="1"/>
            </p:cNvSpPr>
            <p:nvPr/>
          </p:nvSpPr>
          <p:spPr bwMode="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92157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9636" name="Group 4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69637" name="AutoShape 5"/>
              <p:cNvSpPr>
                <a:spLocks noChangeArrowheads="1"/>
              </p:cNvSpPr>
              <p:nvPr/>
            </p:nvSpPr>
            <p:spPr bwMode="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638" name="AutoShape 6"/>
              <p:cNvSpPr>
                <a:spLocks noChangeArrowheads="1"/>
              </p:cNvSpPr>
              <p:nvPr/>
            </p:nvSpPr>
            <p:spPr bwMode="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9649" name="Group 17"/>
          <p:cNvGrpSpPr>
            <a:grpSpLocks/>
          </p:cNvGrpSpPr>
          <p:nvPr/>
        </p:nvGrpSpPr>
        <p:grpSpPr bwMode="auto">
          <a:xfrm>
            <a:off x="2003425" y="1604962"/>
            <a:ext cx="5311775" cy="688975"/>
            <a:chOff x="720" y="1392"/>
            <a:chExt cx="4058" cy="480"/>
          </a:xfrm>
        </p:grpSpPr>
        <p:sp>
          <p:nvSpPr>
            <p:cNvPr id="69650" name="AutoShape 18"/>
            <p:cNvSpPr>
              <a:spLocks noChangeArrowheads="1"/>
            </p:cNvSpPr>
            <p:nvPr/>
          </p:nvSpPr>
          <p:spPr bwMode="lt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92157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9651" name="Group 19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69652" name="AutoShape 20"/>
              <p:cNvSpPr>
                <a:spLocks noChangeArrowheads="1"/>
              </p:cNvSpPr>
              <p:nvPr/>
            </p:nvSpPr>
            <p:spPr bwMode="lt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653" name="AutoShape 21"/>
              <p:cNvSpPr>
                <a:spLocks noChangeArrowheads="1"/>
              </p:cNvSpPr>
              <p:nvPr/>
            </p:nvSpPr>
            <p:spPr bwMode="lt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9654" name="Text Box 22"/>
          <p:cNvSpPr txBox="1">
            <a:spLocks noChangeArrowheads="1"/>
          </p:cNvSpPr>
          <p:nvPr/>
        </p:nvSpPr>
        <p:spPr bwMode="black">
          <a:xfrm>
            <a:off x="2470150" y="1719262"/>
            <a:ext cx="449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 dirty="0" err="1">
                <a:solidFill>
                  <a:srgbClr val="FFFFFF"/>
                </a:solidFill>
              </a:rPr>
              <a:t>Khái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niệm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cấp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phát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động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69655" name="Text Box 23"/>
          <p:cNvSpPr txBox="1">
            <a:spLocks noChangeArrowheads="1"/>
          </p:cNvSpPr>
          <p:nvPr/>
        </p:nvSpPr>
        <p:spPr bwMode="black">
          <a:xfrm>
            <a:off x="2481262" y="2576512"/>
            <a:ext cx="48339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 dirty="0" err="1">
                <a:solidFill>
                  <a:srgbClr val="FFFFFF"/>
                </a:solidFill>
              </a:rPr>
              <a:t>Cấp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phát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động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với</a:t>
            </a:r>
            <a:r>
              <a:rPr lang="en-US" sz="2400" b="1" dirty="0">
                <a:solidFill>
                  <a:srgbClr val="FFFFFF"/>
                </a:solidFill>
              </a:rPr>
              <a:t> C</a:t>
            </a:r>
          </a:p>
        </p:txBody>
      </p:sp>
      <p:pic>
        <p:nvPicPr>
          <p:cNvPr id="69661" name="Picture 29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819275" y="2457450"/>
            <a:ext cx="792163" cy="949325"/>
          </a:xfrm>
          <a:prstGeom prst="rect">
            <a:avLst/>
          </a:prstGeom>
          <a:noFill/>
        </p:spPr>
      </p:pic>
      <p:pic>
        <p:nvPicPr>
          <p:cNvPr id="69662" name="Picture 30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808163" y="1600200"/>
            <a:ext cx="792162" cy="949325"/>
          </a:xfrm>
          <a:prstGeom prst="rect">
            <a:avLst/>
          </a:prstGeom>
          <a:noFill/>
        </p:spPr>
      </p:pic>
      <p:sp>
        <p:nvSpPr>
          <p:cNvPr id="69664" name="Text Box 32"/>
          <p:cNvSpPr txBox="1">
            <a:spLocks noChangeArrowheads="1"/>
          </p:cNvSpPr>
          <p:nvPr/>
        </p:nvSpPr>
        <p:spPr bwMode="gray">
          <a:xfrm>
            <a:off x="2128838" y="1697037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1</a:t>
            </a:r>
          </a:p>
        </p:txBody>
      </p:sp>
      <p:sp>
        <p:nvSpPr>
          <p:cNvPr id="69665" name="Text Box 33"/>
          <p:cNvSpPr txBox="1">
            <a:spLocks noChangeArrowheads="1"/>
          </p:cNvSpPr>
          <p:nvPr/>
        </p:nvSpPr>
        <p:spPr bwMode="gray">
          <a:xfrm>
            <a:off x="2141538" y="2555875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2</a:t>
            </a:r>
          </a:p>
        </p:txBody>
      </p:sp>
      <p:sp>
        <p:nvSpPr>
          <p:cNvPr id="69667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grpSp>
        <p:nvGrpSpPr>
          <p:cNvPr id="27" name="Group 12"/>
          <p:cNvGrpSpPr>
            <a:grpSpLocks/>
          </p:cNvGrpSpPr>
          <p:nvPr/>
        </p:nvGrpSpPr>
        <p:grpSpPr bwMode="auto">
          <a:xfrm>
            <a:off x="2016515" y="3332162"/>
            <a:ext cx="5311775" cy="688975"/>
            <a:chOff x="720" y="1392"/>
            <a:chExt cx="4058" cy="480"/>
          </a:xfrm>
        </p:grpSpPr>
        <p:sp>
          <p:nvSpPr>
            <p:cNvPr id="28" name="AutoShape 13"/>
            <p:cNvSpPr>
              <a:spLocks noChangeArrowheads="1"/>
            </p:cNvSpPr>
            <p:nvPr/>
          </p:nvSpPr>
          <p:spPr bwMode="lt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92157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" name="Group 14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30" name="AutoShape 15"/>
              <p:cNvSpPr>
                <a:spLocks noChangeArrowheads="1"/>
              </p:cNvSpPr>
              <p:nvPr/>
            </p:nvSpPr>
            <p:spPr bwMode="lt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folHlink">
                      <a:alpha val="0"/>
                    </a:schemeClr>
                  </a:gs>
                  <a:gs pos="100000">
                    <a:schemeClr val="folHlink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AutoShape 16"/>
              <p:cNvSpPr>
                <a:spLocks noChangeArrowheads="1"/>
              </p:cNvSpPr>
              <p:nvPr/>
            </p:nvSpPr>
            <p:spPr bwMode="lt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folHlink">
                      <a:gamma/>
                      <a:tint val="0"/>
                      <a:invGamma/>
                    </a:schemeClr>
                  </a:gs>
                  <a:gs pos="100000">
                    <a:schemeClr val="folHlink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2" name="Text Box 25"/>
          <p:cNvSpPr txBox="1">
            <a:spLocks noChangeArrowheads="1"/>
          </p:cNvSpPr>
          <p:nvPr/>
        </p:nvSpPr>
        <p:spPr bwMode="black">
          <a:xfrm>
            <a:off x="2494353" y="3424237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 dirty="0">
                <a:solidFill>
                  <a:srgbClr val="FFFFFF"/>
                </a:solidFill>
              </a:rPr>
              <a:t>Con </a:t>
            </a:r>
            <a:r>
              <a:rPr lang="en-US" sz="2400" b="1" dirty="0" err="1">
                <a:solidFill>
                  <a:srgbClr val="FFFFFF"/>
                </a:solidFill>
              </a:rPr>
              <a:t>trỏ</a:t>
            </a:r>
            <a:r>
              <a:rPr lang="en-US" sz="2400" b="1" dirty="0">
                <a:solidFill>
                  <a:srgbClr val="FFFFFF"/>
                </a:solidFill>
              </a:rPr>
              <a:t> void</a:t>
            </a:r>
          </a:p>
        </p:txBody>
      </p:sp>
      <p:pic>
        <p:nvPicPr>
          <p:cNvPr id="33" name="Picture 27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816490" y="3295649"/>
            <a:ext cx="792163" cy="949325"/>
          </a:xfrm>
          <a:prstGeom prst="rect">
            <a:avLst/>
          </a:prstGeom>
          <a:noFill/>
        </p:spPr>
      </p:pic>
      <p:sp>
        <p:nvSpPr>
          <p:cNvPr id="34" name="Text Box 31"/>
          <p:cNvSpPr txBox="1">
            <a:spLocks noChangeArrowheads="1"/>
          </p:cNvSpPr>
          <p:nvPr/>
        </p:nvSpPr>
        <p:spPr bwMode="gray">
          <a:xfrm>
            <a:off x="2146690" y="3386137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3</a:t>
            </a:r>
          </a:p>
        </p:txBody>
      </p:sp>
      <p:grpSp>
        <p:nvGrpSpPr>
          <p:cNvPr id="35" name="Group 17"/>
          <p:cNvGrpSpPr>
            <a:grpSpLocks/>
          </p:cNvGrpSpPr>
          <p:nvPr/>
        </p:nvGrpSpPr>
        <p:grpSpPr bwMode="auto">
          <a:xfrm>
            <a:off x="2027627" y="4130674"/>
            <a:ext cx="5311775" cy="688975"/>
            <a:chOff x="720" y="1392"/>
            <a:chExt cx="4058" cy="480"/>
          </a:xfrm>
        </p:grpSpPr>
        <p:sp>
          <p:nvSpPr>
            <p:cNvPr id="36" name="AutoShape 18"/>
            <p:cNvSpPr>
              <a:spLocks noChangeArrowheads="1"/>
            </p:cNvSpPr>
            <p:nvPr/>
          </p:nvSpPr>
          <p:spPr bwMode="ltGray">
            <a:xfrm>
              <a:off x="720" y="1392"/>
              <a:ext cx="4058" cy="48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92157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" name="Group 19"/>
            <p:cNvGrpSpPr>
              <a:grpSpLocks/>
            </p:cNvGrpSpPr>
            <p:nvPr/>
          </p:nvGrpSpPr>
          <p:grpSpPr bwMode="auto">
            <a:xfrm>
              <a:off x="730" y="1407"/>
              <a:ext cx="4043" cy="444"/>
              <a:chOff x="744" y="1407"/>
              <a:chExt cx="3988" cy="444"/>
            </a:xfrm>
          </p:grpSpPr>
          <p:sp>
            <p:nvSpPr>
              <p:cNvPr id="38" name="AutoShape 20"/>
              <p:cNvSpPr>
                <a:spLocks noChangeArrowheads="1"/>
              </p:cNvSpPr>
              <p:nvPr/>
            </p:nvSpPr>
            <p:spPr bwMode="ltGray">
              <a:xfrm>
                <a:off x="744" y="1736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AutoShape 21"/>
              <p:cNvSpPr>
                <a:spLocks noChangeArrowheads="1"/>
              </p:cNvSpPr>
              <p:nvPr/>
            </p:nvSpPr>
            <p:spPr bwMode="ltGray">
              <a:xfrm>
                <a:off x="744" y="1407"/>
                <a:ext cx="3988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0" name="Text Box 22"/>
          <p:cNvSpPr txBox="1">
            <a:spLocks noChangeArrowheads="1"/>
          </p:cNvSpPr>
          <p:nvPr/>
        </p:nvSpPr>
        <p:spPr bwMode="black">
          <a:xfrm>
            <a:off x="2494352" y="4244974"/>
            <a:ext cx="449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2400" b="1" dirty="0">
                <a:solidFill>
                  <a:srgbClr val="FFFFFF"/>
                </a:solidFill>
              </a:rPr>
              <a:t>Con </a:t>
            </a:r>
            <a:r>
              <a:rPr lang="en-US" sz="2400" b="1" dirty="0" err="1">
                <a:solidFill>
                  <a:srgbClr val="FFFFFF"/>
                </a:solidFill>
              </a:rPr>
              <a:t>trỏ</a:t>
            </a:r>
            <a:r>
              <a:rPr lang="en-US" sz="2400" b="1" dirty="0">
                <a:solidFill>
                  <a:srgbClr val="FFFFFF"/>
                </a:solidFill>
              </a:rPr>
              <a:t> NULL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gray">
          <a:xfrm>
            <a:off x="2153040" y="4222749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4</a:t>
            </a:r>
          </a:p>
        </p:txBody>
      </p:sp>
      <p:pic>
        <p:nvPicPr>
          <p:cNvPr id="43" name="Picture 27" descr="1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798637" y="4918075"/>
            <a:ext cx="792163" cy="9493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,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k</a:t>
            </a:r>
            <a:r>
              <a:rPr lang="vi-VN" dirty="0"/>
              <a:t>ích cỡ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vi-VN" dirty="0">
                <a:solidFill>
                  <a:srgbClr val="FF0000"/>
                </a:solidFill>
              </a:rPr>
              <a:t>cố định và không thể thay đổi trong thời gian chương trình chạy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và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chỉ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giải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phóng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bộ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nhớ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thoát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khỏi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</a:t>
            </a:r>
            <a:r>
              <a:rPr lang="vi-VN" dirty="0">
                <a:solidFill>
                  <a:srgbClr val="FF0000"/>
                </a:solidFill>
              </a:rPr>
              <a:t>ư</a:t>
            </a:r>
            <a:r>
              <a:rPr lang="en-US" dirty="0" err="1">
                <a:solidFill>
                  <a:srgbClr val="FF0000"/>
                </a:solidFill>
              </a:rPr>
              <a:t>ơng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trình</a:t>
            </a:r>
            <a:r>
              <a:rPr lang="en-US" dirty="0">
                <a:solidFill>
                  <a:srgbClr val="FF0000"/>
                </a:solidFill>
              </a:rPr>
              <a:t> =&gt;</a:t>
            </a:r>
            <a:r>
              <a:rPr lang="en-US" dirty="0" err="1">
                <a:solidFill>
                  <a:srgbClr val="FF0000"/>
                </a:solidFill>
              </a:rPr>
              <a:t>hạn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chế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/>
          </a:p>
          <a:p>
            <a:r>
              <a:rPr lang="vi-VN" dirty="0"/>
              <a:t>Giải pháp ở đây chính là </a:t>
            </a:r>
            <a:r>
              <a:rPr lang="vi-VN" i="1" dirty="0">
                <a:solidFill>
                  <a:srgbClr val="FF0000"/>
                </a:solidFill>
              </a:rPr>
              <a:t>bộ nhớ động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C/C++ hỗ trợ hai hệ thống cấp phát động: một hệ thống được định nghĩa bởi C và một được định nghĩa bởi C++.</a:t>
            </a:r>
          </a:p>
          <a:p>
            <a:endParaRPr lang="vi-V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98583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09B42C-8B21-4A78-B4ED-A0283A958E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dirty="0"/>
              <a:t>void* malloc (</a:t>
            </a:r>
            <a:r>
              <a:rPr lang="en-US" dirty="0" err="1"/>
              <a:t>số</a:t>
            </a:r>
            <a:r>
              <a:rPr lang="en-US" dirty="0"/>
              <a:t> byte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);</a:t>
            </a:r>
          </a:p>
          <a:p>
            <a:pPr algn="just"/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</a:t>
            </a:r>
            <a:r>
              <a:rPr lang="en-US" dirty="0" err="1"/>
              <a:t>ớc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byte</a:t>
            </a:r>
          </a:p>
          <a:p>
            <a:pPr algn="just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: </a:t>
            </a:r>
            <a:r>
              <a:rPr lang="en-US" dirty="0" err="1"/>
              <a:t>stdlib.h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3D9D84-269E-459B-A362-73CB11E02F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dirty="0"/>
              <a:t>void* </a:t>
            </a:r>
            <a:r>
              <a:rPr lang="en-US" dirty="0" err="1"/>
              <a:t>calloc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ô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1 ô)</a:t>
            </a:r>
          </a:p>
          <a:p>
            <a:pPr algn="just"/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A04ABE-2A3B-437B-B0B2-DD5E572F52F0}"/>
              </a:ext>
            </a:extLst>
          </p:cNvPr>
          <p:cNvSpPr txBox="1"/>
          <p:nvPr/>
        </p:nvSpPr>
        <p:spPr>
          <a:xfrm>
            <a:off x="457200" y="914400"/>
            <a:ext cx="2362200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Malloc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DEF279-0996-4DEA-BFDB-71E77A9E08F3}"/>
              </a:ext>
            </a:extLst>
          </p:cNvPr>
          <p:cNvSpPr txBox="1"/>
          <p:nvPr/>
        </p:nvSpPr>
        <p:spPr>
          <a:xfrm>
            <a:off x="4572000" y="909935"/>
            <a:ext cx="2362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calloc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5998282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r>
              <a:rPr lang="vi-VN" b="1" dirty="0"/>
              <a:t>Ví dụ</a:t>
            </a:r>
            <a:r>
              <a:rPr lang="en-US" b="1" dirty="0"/>
              <a:t> 1</a:t>
            </a:r>
            <a:r>
              <a:rPr lang="vi-VN" b="1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vi-VN" dirty="0">
                <a:solidFill>
                  <a:srgbClr val="0070C0"/>
                </a:solidFill>
              </a:rPr>
              <a:t>char *p;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vi-VN" dirty="0">
                <a:solidFill>
                  <a:srgbClr val="0070C0"/>
                </a:solidFill>
              </a:rPr>
              <a:t>p = (char *) malloc(1000);</a:t>
            </a:r>
            <a:r>
              <a:rPr lang="vi-VN" dirty="0"/>
              <a:t> //cấp phát 1000 bytes</a:t>
            </a:r>
          </a:p>
          <a:p>
            <a:r>
              <a:rPr lang="vi-VN" dirty="0"/>
              <a:t>Vì hàm malloc() trả về con trỏ kiểu void, nên phải ép kiểu nó thành con trỏ char cho phù hợp với biến con trỏ p.</a:t>
            </a:r>
            <a:endParaRPr lang="en-US" dirty="0"/>
          </a:p>
          <a:p>
            <a:r>
              <a:rPr lang="vi-VN" b="1" dirty="0"/>
              <a:t>Ví dụ</a:t>
            </a:r>
            <a:r>
              <a:rPr lang="en-US" b="1" dirty="0"/>
              <a:t> 2</a:t>
            </a:r>
            <a:r>
              <a:rPr lang="vi-VN" b="1" dirty="0"/>
              <a:t>:</a:t>
            </a:r>
          </a:p>
          <a:p>
            <a:pPr marL="800100" lvl="2" indent="0">
              <a:buNone/>
            </a:pPr>
            <a:r>
              <a:rPr lang="vi-VN" sz="2400" dirty="0">
                <a:solidFill>
                  <a:srgbClr val="0070C0"/>
                </a:solidFill>
              </a:rPr>
              <a:t>int *p;</a:t>
            </a:r>
          </a:p>
          <a:p>
            <a:pPr marL="800100" lvl="2" indent="0">
              <a:buNone/>
            </a:pPr>
            <a:r>
              <a:rPr lang="vi-VN" sz="2400" dirty="0">
                <a:solidFill>
                  <a:srgbClr val="0070C0"/>
                </a:solidFill>
              </a:rPr>
              <a:t>p = (int *) </a:t>
            </a:r>
            <a:r>
              <a:rPr lang="vi-VN" sz="2400" dirty="0">
                <a:solidFill>
                  <a:srgbClr val="FF0000"/>
                </a:solidFill>
              </a:rPr>
              <a:t>malloc</a:t>
            </a:r>
            <a:r>
              <a:rPr lang="vi-VN" sz="2400" dirty="0">
                <a:solidFill>
                  <a:srgbClr val="0070C0"/>
                </a:solidFill>
              </a:rPr>
              <a:t>(50*</a:t>
            </a:r>
            <a:r>
              <a:rPr lang="vi-VN" sz="2400" dirty="0">
                <a:solidFill>
                  <a:srgbClr val="FF0000"/>
                </a:solidFill>
              </a:rPr>
              <a:t>sizeof(int)</a:t>
            </a:r>
            <a:r>
              <a:rPr lang="vi-VN" sz="2400" dirty="0">
                <a:solidFill>
                  <a:srgbClr val="0070C0"/>
                </a:solidFill>
              </a:rPr>
              <a:t>);</a:t>
            </a:r>
          </a:p>
          <a:p>
            <a:r>
              <a:rPr lang="vi-VN" dirty="0"/>
              <a:t>Toán tử </a:t>
            </a:r>
            <a:r>
              <a:rPr lang="vi-VN" b="1" dirty="0">
                <a:solidFill>
                  <a:srgbClr val="FF0000"/>
                </a:solidFill>
              </a:rPr>
              <a:t>sizeof</a:t>
            </a:r>
            <a:r>
              <a:rPr lang="vi-VN" dirty="0"/>
              <a:t> để xác định kích thước kiểu dữ liệu int.</a:t>
            </a:r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12842725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malloc()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. </a:t>
            </a:r>
          </a:p>
          <a:p>
            <a:pPr lvl="1">
              <a:buFont typeface="Arial" pitchFamily="34" charset="0"/>
              <a:buNone/>
            </a:pPr>
            <a:r>
              <a:rPr lang="en-US" dirty="0" err="1">
                <a:latin typeface="+mj-lt"/>
                <a:cs typeface="Times New Roman" pitchFamily="18" charset="0"/>
              </a:rPr>
              <a:t>Ví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 err="1">
                <a:latin typeface="+mj-lt"/>
                <a:cs typeface="Times New Roman" pitchFamily="18" charset="0"/>
              </a:rPr>
              <a:t>dụ</a:t>
            </a:r>
            <a:r>
              <a:rPr lang="en-US" dirty="0">
                <a:latin typeface="+mj-lt"/>
                <a:cs typeface="Times New Roman" pitchFamily="18" charset="0"/>
              </a:rPr>
              <a:t>:</a:t>
            </a:r>
          </a:p>
          <a:p>
            <a:pPr lvl="3">
              <a:lnSpc>
                <a:spcPct val="110000"/>
              </a:lnSpc>
              <a:buFont typeface="Arial" pitchFamily="34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p = (</a:t>
            </a:r>
            <a:r>
              <a:rPr lang="en-US" sz="2400" dirty="0" err="1">
                <a:solidFill>
                  <a:srgbClr val="0000FF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 *)</a:t>
            </a:r>
            <a:r>
              <a:rPr lang="en-US" sz="2400" dirty="0" err="1">
                <a:latin typeface="+mj-lt"/>
                <a:cs typeface="Times New Roman" pitchFamily="18" charset="0"/>
              </a:rPr>
              <a:t>malloc</a:t>
            </a:r>
            <a:r>
              <a:rPr lang="en-US" sz="2400" dirty="0">
                <a:latin typeface="+mj-lt"/>
                <a:cs typeface="Times New Roman" pitchFamily="18" charset="0"/>
              </a:rPr>
              <a:t>(100);</a:t>
            </a:r>
          </a:p>
          <a:p>
            <a:pPr lvl="3">
              <a:lnSpc>
                <a:spcPct val="110000"/>
              </a:lnSpc>
              <a:buFont typeface="Arial" pitchFamily="34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if(p == NULL)</a:t>
            </a:r>
          </a:p>
          <a:p>
            <a:pPr lvl="3">
              <a:lnSpc>
                <a:spcPct val="110000"/>
              </a:lnSpc>
              <a:buFont typeface="Arial" pitchFamily="34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{</a:t>
            </a:r>
          </a:p>
          <a:p>
            <a:pPr lvl="3">
              <a:lnSpc>
                <a:spcPct val="110000"/>
              </a:lnSpc>
              <a:buFont typeface="Arial" pitchFamily="34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	</a:t>
            </a:r>
            <a:r>
              <a:rPr lang="en-US" sz="2400" dirty="0" err="1">
                <a:latin typeface="+mj-lt"/>
                <a:cs typeface="Times New Roman" pitchFamily="18" charset="0"/>
              </a:rPr>
              <a:t>printf</a:t>
            </a:r>
            <a:r>
              <a:rPr lang="en-US" sz="2400" dirty="0">
                <a:latin typeface="+mj-lt"/>
                <a:cs typeface="Times New Roman" pitchFamily="18" charset="0"/>
              </a:rPr>
              <a:t>("</a:t>
            </a:r>
            <a:r>
              <a:rPr lang="en-US" sz="2400" dirty="0" err="1">
                <a:latin typeface="+mj-lt"/>
                <a:cs typeface="Times New Roman" pitchFamily="18" charset="0"/>
              </a:rPr>
              <a:t>Khong</a:t>
            </a:r>
            <a:r>
              <a:rPr lang="en-US" sz="2400" dirty="0">
                <a:latin typeface="+mj-lt"/>
                <a:cs typeface="Times New Roman" pitchFamily="18" charset="0"/>
              </a:rPr>
              <a:t> du </a:t>
            </a:r>
            <a:r>
              <a:rPr lang="en-US" sz="2400" dirty="0" err="1">
                <a:latin typeface="+mj-lt"/>
                <a:cs typeface="Times New Roman" pitchFamily="18" charset="0"/>
              </a:rPr>
              <a:t>bo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nho</a:t>
            </a:r>
            <a:r>
              <a:rPr lang="en-US" sz="2400" dirty="0">
                <a:latin typeface="+mj-lt"/>
                <a:cs typeface="Times New Roman" pitchFamily="18" charset="0"/>
              </a:rPr>
              <a:t>“);</a:t>
            </a:r>
          </a:p>
          <a:p>
            <a:pPr lvl="3">
              <a:lnSpc>
                <a:spcPct val="110000"/>
              </a:lnSpc>
              <a:buFont typeface="Arial" pitchFamily="34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	exit(1);</a:t>
            </a:r>
          </a:p>
          <a:p>
            <a:pPr lvl="3">
              <a:lnSpc>
                <a:spcPct val="110000"/>
              </a:lnSpc>
              <a:buFont typeface="Arial" pitchFamily="34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167334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Hàm</a:t>
            </a:r>
            <a:r>
              <a:rPr lang="en-US" dirty="0">
                <a:solidFill>
                  <a:srgbClr val="FF0000"/>
                </a:solidFill>
              </a:rPr>
              <a:t> free():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malloc</a:t>
            </a:r>
            <a:r>
              <a:rPr lang="en-US" dirty="0"/>
              <a:t>().</a:t>
            </a:r>
          </a:p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</a:t>
            </a:r>
          </a:p>
          <a:p>
            <a:pPr algn="ctr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void free(void *p);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2" indent="0">
              <a:buNone/>
            </a:pPr>
            <a:r>
              <a:rPr lang="en-US" dirty="0">
                <a:ea typeface="+mn-ea"/>
                <a:cs typeface="+mn-cs"/>
              </a:rPr>
              <a:t>p </a:t>
            </a:r>
            <a:r>
              <a:rPr lang="en-US" dirty="0" err="1">
                <a:ea typeface="+mn-ea"/>
                <a:cs typeface="+mn-cs"/>
              </a:rPr>
              <a:t>là</a:t>
            </a:r>
            <a:r>
              <a:rPr lang="en-US" dirty="0">
                <a:ea typeface="+mn-ea"/>
                <a:cs typeface="+mn-cs"/>
              </a:rPr>
              <a:t> con </a:t>
            </a:r>
            <a:r>
              <a:rPr lang="en-US" dirty="0" err="1">
                <a:ea typeface="+mn-ea"/>
                <a:cs typeface="+mn-cs"/>
              </a:rPr>
              <a:t>trỏ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đến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vùng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nhớ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đã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được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cấp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phát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trước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đó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bởi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hàm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b="1" dirty="0" err="1">
                <a:ea typeface="+mn-ea"/>
                <a:cs typeface="+mn-cs"/>
              </a:rPr>
              <a:t>malloc</a:t>
            </a:r>
            <a:r>
              <a:rPr lang="en-US" dirty="0">
                <a:ea typeface="+mn-ea"/>
                <a:cs typeface="+mn-cs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59622688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FF0000"/>
                </a:solidFill>
              </a:rPr>
              <a:t>Con trỏ void </a:t>
            </a:r>
            <a:r>
              <a:rPr lang="vi-VN" dirty="0"/>
              <a:t>là một lọai con trỏ đặc biệt mà có thể trỏ đến bất kỳ kiểu dữ liệu nào. </a:t>
            </a:r>
          </a:p>
          <a:p>
            <a:pPr algn="just"/>
            <a:r>
              <a:rPr lang="vi-VN" dirty="0"/>
              <a:t>Cú pháp: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vi-VN" dirty="0">
                <a:solidFill>
                  <a:srgbClr val="FF0000"/>
                </a:solidFill>
              </a:rPr>
              <a:t>void *pointerVariable;</a:t>
            </a:r>
          </a:p>
          <a:p>
            <a:pPr algn="just"/>
            <a:r>
              <a:rPr lang="vi-VN" dirty="0"/>
              <a:t>Ví dụ:</a:t>
            </a:r>
          </a:p>
          <a:p>
            <a:pPr marL="800100" lvl="2" indent="0" algn="just">
              <a:buNone/>
            </a:pPr>
            <a:r>
              <a:rPr lang="vi-VN" sz="2400" dirty="0"/>
              <a:t>void *p;</a:t>
            </a:r>
          </a:p>
          <a:p>
            <a:pPr marL="800100" lvl="2" indent="0" algn="just">
              <a:buNone/>
            </a:pPr>
            <a:r>
              <a:rPr lang="vi-VN" sz="2400" dirty="0"/>
              <a:t>p = &amp;a; // p trỏ đến biến nguyên a</a:t>
            </a:r>
          </a:p>
          <a:p>
            <a:pPr marL="800100" lvl="2" indent="0" algn="just">
              <a:buNone/>
            </a:pPr>
            <a:r>
              <a:rPr lang="vi-VN" sz="2400" dirty="0"/>
              <a:t>p = &amp;f; //p trỏ đến biến thực f</a:t>
            </a:r>
          </a:p>
        </p:txBody>
      </p:sp>
    </p:spTree>
    <p:extLst>
      <p:ext uri="{BB962C8B-B14F-4D97-AF65-F5344CB8AC3E}">
        <p14:creationId xmlns:p14="http://schemas.microsoft.com/office/powerpoint/2010/main" val="78161429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/>
              <a:t>Tuy nhiên, ta cũng có</a:t>
            </a:r>
            <a:r>
              <a:rPr lang="en-US" dirty="0"/>
              <a:t> </a:t>
            </a:r>
            <a:r>
              <a:rPr lang="vi-VN" dirty="0"/>
              <a:t>thể ép kiểu con trỏ về đúng kiểu tương ứng khi dùng trong các biểu thức.</a:t>
            </a:r>
          </a:p>
          <a:p>
            <a:pPr algn="just"/>
            <a:r>
              <a:rPr lang="vi-VN" dirty="0"/>
              <a:t>Ví dụ:</a:t>
            </a:r>
          </a:p>
          <a:p>
            <a:pPr lvl="1" algn="just"/>
            <a:r>
              <a:rPr lang="vi-VN" dirty="0"/>
              <a:t>Nếu p đang trỏ đến biến nguyên a, để tăng giá trị của biến a lên 10 ta phải dùng lệnh sau: </a:t>
            </a:r>
          </a:p>
          <a:p>
            <a:pPr marL="457200" lvl="1" indent="0" algn="just">
              <a:buNone/>
            </a:pPr>
            <a:r>
              <a:rPr lang="en-US" dirty="0"/>
              <a:t>		</a:t>
            </a:r>
            <a:r>
              <a:rPr lang="vi-VN" dirty="0">
                <a:solidFill>
                  <a:srgbClr val="FF0000"/>
                </a:solidFill>
              </a:rPr>
              <a:t>(int*)</a:t>
            </a:r>
            <a:r>
              <a:rPr lang="vi-VN" dirty="0"/>
              <a:t>*p + 10;</a:t>
            </a:r>
          </a:p>
          <a:p>
            <a:pPr lvl="1" algn="just"/>
            <a:r>
              <a:rPr lang="vi-VN" dirty="0"/>
              <a:t>Nếu p đang trỏ đến biến thực f, để tăng giá trị của biến f lên 10 ta phải dùng lệnh sau: </a:t>
            </a:r>
          </a:p>
          <a:p>
            <a:pPr marL="457200" lvl="1" indent="0" algn="just">
              <a:buNone/>
            </a:pPr>
            <a:r>
              <a:rPr lang="en-US" dirty="0"/>
              <a:t>		</a:t>
            </a:r>
            <a:r>
              <a:rPr lang="vi-VN" dirty="0">
                <a:solidFill>
                  <a:srgbClr val="FF0000"/>
                </a:solidFill>
              </a:rPr>
              <a:t>(float*)</a:t>
            </a:r>
            <a:r>
              <a:rPr lang="vi-VN" dirty="0"/>
              <a:t>*p + 10;</a:t>
            </a:r>
          </a:p>
        </p:txBody>
      </p:sp>
    </p:spTree>
    <p:extLst>
      <p:ext uri="{BB962C8B-B14F-4D97-AF65-F5344CB8AC3E}">
        <p14:creationId xmlns:p14="http://schemas.microsoft.com/office/powerpoint/2010/main" val="21211777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5D43-36F0-40B5-B8CA-6BAC627A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NULL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BA244-F1AF-4A82-B769-BEDA02AE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Con trỏ NULL là một hằng số có giá trị bằng 0 được xác định trong một số thư viện chuẩn. Hãy xem xét chương trình sau -</a:t>
            </a:r>
          </a:p>
          <a:p>
            <a:pPr marL="0" indent="0"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#include &lt;stdio.h&gt;</a:t>
            </a:r>
          </a:p>
          <a:p>
            <a:pPr marL="0" indent="0">
              <a:buNone/>
            </a:pPr>
            <a:r>
              <a:rPr lang="vi-VN" dirty="0"/>
              <a:t>int main () {</a:t>
            </a:r>
          </a:p>
          <a:p>
            <a:pPr marL="0" indent="0">
              <a:buNone/>
            </a:pPr>
            <a:r>
              <a:rPr lang="vi-VN" dirty="0"/>
              <a:t>   int  *ptr = NULL;</a:t>
            </a:r>
          </a:p>
          <a:p>
            <a:pPr marL="0" indent="0">
              <a:buNone/>
            </a:pPr>
            <a:r>
              <a:rPr lang="vi-VN" dirty="0"/>
              <a:t>   printf("The value of ptr is : %x\n", ptr  );</a:t>
            </a:r>
          </a:p>
          <a:p>
            <a:pPr marL="0" indent="0">
              <a:buNone/>
            </a:pPr>
            <a:r>
              <a:rPr lang="vi-VN" dirty="0"/>
              <a:t>    return 0;</a:t>
            </a:r>
          </a:p>
          <a:p>
            <a:pPr marL="0" indent="0">
              <a:buNone/>
            </a:pPr>
            <a:r>
              <a:rPr lang="vi-VN" dirty="0"/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DE19E-DA01-435E-A599-D301C4BC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67888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73030" y="3429000"/>
            <a:ext cx="5842370" cy="609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CON TRỎ VÀ MẢNG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lvl="1" algn="just"/>
            <a:r>
              <a:rPr lang="vi-VN" dirty="0"/>
              <a:t>Tên của một mảng tương đương với địa chỉ phần tử đầu tiên của nó</a:t>
            </a:r>
            <a:endParaRPr lang="en-US" dirty="0"/>
          </a:p>
          <a:p>
            <a:pPr lvl="1"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 float a[10] </a:t>
            </a:r>
            <a:r>
              <a:rPr lang="en-US" dirty="0" err="1"/>
              <a:t>thì</a:t>
            </a:r>
            <a:r>
              <a:rPr lang="en-US" dirty="0"/>
              <a:t> a=&amp;a[0]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a+i</a:t>
            </a:r>
            <a:r>
              <a:rPr lang="en-US" dirty="0"/>
              <a:t>=&amp;(a[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lvl="1" algn="just"/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2E3921-C883-4BC2-AAA2-FBBB959854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17" t="59505" r="30919" b="17391"/>
          <a:stretch/>
        </p:blipFill>
        <p:spPr>
          <a:xfrm>
            <a:off x="665163" y="2590800"/>
            <a:ext cx="7640637" cy="358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057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marL="457200" lvl="1" indent="0" algn="just">
              <a:buNone/>
            </a:pPr>
            <a:r>
              <a:rPr lang="vi-VN" dirty="0">
                <a:solidFill>
                  <a:srgbClr val="EC2C06"/>
                </a:solidFill>
              </a:rPr>
              <a:t>char ch[10], *p;</a:t>
            </a:r>
            <a:r>
              <a:rPr lang="en-US" dirty="0">
                <a:solidFill>
                  <a:srgbClr val="EC2C06"/>
                </a:solidFill>
              </a:rPr>
              <a:t> </a:t>
            </a:r>
            <a:r>
              <a:rPr lang="vi-VN" dirty="0">
                <a:solidFill>
                  <a:srgbClr val="EC2C06"/>
                </a:solidFill>
              </a:rPr>
              <a:t>p = ch;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p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ch.</a:t>
            </a:r>
            <a:r>
              <a:rPr lang="en-US" dirty="0"/>
              <a:t> </a:t>
            </a:r>
          </a:p>
          <a:p>
            <a:pPr marL="0" lvl="8" indent="0" algn="just">
              <a:buNone/>
            </a:pPr>
            <a:r>
              <a:rPr lang="en-US" sz="2400" dirty="0">
                <a:ea typeface="+mn-ea"/>
                <a:cs typeface="+mn-cs"/>
              </a:rPr>
              <a:t>	</a:t>
            </a:r>
            <a:r>
              <a:rPr lang="en-US" sz="2400" dirty="0">
                <a:solidFill>
                  <a:srgbClr val="EC2C06"/>
                </a:solidFill>
                <a:ea typeface="+mn-ea"/>
                <a:cs typeface="+mn-cs"/>
              </a:rPr>
              <a:t>p = </a:t>
            </a:r>
            <a:r>
              <a:rPr lang="en-US" sz="2400" dirty="0" err="1">
                <a:solidFill>
                  <a:srgbClr val="EC2C06"/>
                </a:solidFill>
                <a:ea typeface="+mn-ea"/>
                <a:cs typeface="+mn-cs"/>
              </a:rPr>
              <a:t>ch</a:t>
            </a:r>
            <a:r>
              <a:rPr lang="en-US" sz="2400" dirty="0">
                <a:solidFill>
                  <a:srgbClr val="EC2C06"/>
                </a:solidFill>
                <a:ea typeface="+mn-ea"/>
                <a:cs typeface="+mn-cs"/>
              </a:rPr>
              <a:t>; </a:t>
            </a:r>
          </a:p>
          <a:p>
            <a:pPr algn="just"/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3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, ta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2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</a:p>
          <a:p>
            <a:pPr marL="457200" lvl="8" indent="-457200" algn="just">
              <a:buNone/>
            </a:pPr>
            <a:r>
              <a:rPr lang="en-US" sz="2400" dirty="0">
                <a:ea typeface="+mn-ea"/>
                <a:cs typeface="+mn-cs"/>
              </a:rPr>
              <a:t>		</a:t>
            </a:r>
            <a:r>
              <a:rPr lang="en-US" sz="2400" dirty="0" err="1">
                <a:solidFill>
                  <a:srgbClr val="EC2C06"/>
                </a:solidFill>
                <a:ea typeface="+mn-ea"/>
                <a:cs typeface="+mn-cs"/>
              </a:rPr>
              <a:t>ch</a:t>
            </a:r>
            <a:r>
              <a:rPr lang="en-US" sz="2400" dirty="0">
                <a:solidFill>
                  <a:srgbClr val="EC2C06"/>
                </a:solidFill>
                <a:ea typeface="+mn-ea"/>
                <a:cs typeface="+mn-cs"/>
              </a:rPr>
              <a:t>[2]  </a:t>
            </a:r>
            <a:r>
              <a:rPr lang="en-US" sz="2400" dirty="0" err="1">
                <a:solidFill>
                  <a:srgbClr val="EC2C06"/>
                </a:solidFill>
                <a:ea typeface="+mn-ea"/>
                <a:cs typeface="+mn-cs"/>
              </a:rPr>
              <a:t>hoặc</a:t>
            </a:r>
            <a:r>
              <a:rPr lang="en-US" sz="2400" dirty="0">
                <a:solidFill>
                  <a:srgbClr val="EC2C06"/>
                </a:solidFill>
                <a:ea typeface="+mn-ea"/>
                <a:cs typeface="+mn-cs"/>
              </a:rPr>
              <a:t> *(p+2)</a:t>
            </a:r>
          </a:p>
          <a:p>
            <a:pPr marL="0" indent="0" algn="just">
              <a:buNone/>
            </a:pPr>
            <a:endParaRPr lang="vi-V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114" y="1928095"/>
            <a:ext cx="8138886" cy="241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92201" y="2927163"/>
            <a:ext cx="762000" cy="60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116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con </a:t>
            </a:r>
            <a:r>
              <a:rPr lang="en-US" dirty="0" err="1"/>
              <a:t>trỏ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057400"/>
          <a:ext cx="7848600" cy="25700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err="1">
                          <a:solidFill>
                            <a:srgbClr val="FF0000"/>
                          </a:solidFill>
                          <a:latin typeface="+mj-lt"/>
                          <a:cs typeface="Times New Roman" pitchFamily="18" charset="0"/>
                        </a:rPr>
                        <a:t>Kiểu</a:t>
                      </a:r>
                      <a:r>
                        <a:rPr lang="en-US" sz="2400" b="1" i="1" baseline="0" dirty="0">
                          <a:solidFill>
                            <a:srgbClr val="FF0000"/>
                          </a:solidFill>
                          <a:latin typeface="+mj-lt"/>
                          <a:cs typeface="Times New Roman" pitchFamily="18" charset="0"/>
                        </a:rPr>
                        <a:t> </a:t>
                      </a:r>
                      <a:r>
                        <a:rPr lang="en-US" sz="2400" b="1" i="1" baseline="0" dirty="0" err="1">
                          <a:solidFill>
                            <a:srgbClr val="FF0000"/>
                          </a:solidFill>
                          <a:latin typeface="+mj-lt"/>
                          <a:cs typeface="Times New Roman" pitchFamily="18" charset="0"/>
                        </a:rPr>
                        <a:t>mảng</a:t>
                      </a:r>
                      <a:endParaRPr lang="en-US" sz="2400" b="1" i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>
                          <a:solidFill>
                            <a:srgbClr val="FF0000"/>
                          </a:solidFill>
                          <a:latin typeface="+mj-lt"/>
                          <a:cs typeface="Times New Roman" pitchFamily="18" charset="0"/>
                        </a:rPr>
                        <a:t>Kiểu con trỏ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381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&amp;&lt;</a:t>
                      </a:r>
                      <a:r>
                        <a:rPr lang="en-US" sz="2400" b="0" dirty="0" err="1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Tên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mảng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&gt;[0] </a:t>
                      </a:r>
                      <a:endParaRPr lang="en-US" sz="24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&lt;</a:t>
                      </a:r>
                      <a:r>
                        <a:rPr lang="en-US" sz="2400" b="0" dirty="0" err="1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Tên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 con </a:t>
                      </a:r>
                      <a:r>
                        <a:rPr lang="en-US" sz="2400" b="0" dirty="0" err="1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trỏ</a:t>
                      </a:r>
                      <a:r>
                        <a:rPr lang="en-US" sz="2400" b="0" dirty="0">
                          <a:solidFill>
                            <a:srgbClr val="000000"/>
                          </a:solidFill>
                          <a:latin typeface="+mj-lt"/>
                          <a:cs typeface="Times New Roman" pitchFamily="18" charset="0"/>
                        </a:rPr>
                        <a:t> &gt; </a:t>
                      </a:r>
                      <a:endParaRPr lang="en-US" sz="24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818">
                <a:tc>
                  <a:txBody>
                    <a:bodyPr/>
                    <a:lstStyle/>
                    <a:p>
                      <a:pPr algn="l"/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&amp;&lt;Tên mảng&gt; [&lt;Vị trí&gt;] </a:t>
                      </a:r>
                      <a:endParaRPr lang="en-US" sz="2400" b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Tên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 con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trỏ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&gt; + 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Vị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trí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&gt; </a:t>
                      </a:r>
                      <a:endParaRPr lang="en-US" sz="24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818">
                <a:tc>
                  <a:txBody>
                    <a:bodyPr/>
                    <a:lstStyle/>
                    <a:p>
                      <a:pPr algn="l"/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&lt;Tên mảng&gt;[&lt;Vị trí&gt;] </a:t>
                      </a:r>
                      <a:endParaRPr lang="en-US" sz="2400" b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*(&lt;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Tên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 con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trỏ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 &gt; + 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Vị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trí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&gt;) </a:t>
                      </a:r>
                      <a:endParaRPr lang="en-US" sz="24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27969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905000"/>
            <a:ext cx="7924800" cy="47244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#include &lt;</a:t>
            </a:r>
            <a:r>
              <a:rPr lang="en-US" sz="2200" dirty="0" err="1">
                <a:latin typeface="+mj-lt"/>
                <a:cs typeface="Times New Roman" pitchFamily="18" charset="0"/>
              </a:rPr>
              <a:t>stdio.h</a:t>
            </a:r>
            <a:r>
              <a:rPr lang="en-US" sz="2200" dirty="0">
                <a:latin typeface="+mj-lt"/>
                <a:cs typeface="Times New Roman" pitchFamily="18" charset="0"/>
              </a:rPr>
              <a:t>&gt;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#include &lt;</a:t>
            </a:r>
            <a:r>
              <a:rPr lang="en-US" sz="2200" dirty="0" err="1">
                <a:latin typeface="+mj-lt"/>
                <a:cs typeface="Times New Roman" pitchFamily="18" charset="0"/>
              </a:rPr>
              <a:t>conio.h</a:t>
            </a:r>
            <a:r>
              <a:rPr lang="en-US" sz="2200" dirty="0">
                <a:latin typeface="+mj-lt"/>
                <a:cs typeface="Times New Roman" pitchFamily="18" charset="0"/>
              </a:rPr>
              <a:t>&gt;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void main ()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{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	</a:t>
            </a:r>
            <a:r>
              <a:rPr lang="en-US" sz="2200" dirty="0" err="1">
                <a:solidFill>
                  <a:srgbClr val="0000FF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200" dirty="0">
                <a:latin typeface="+mj-lt"/>
                <a:cs typeface="Times New Roman" pitchFamily="18" charset="0"/>
              </a:rPr>
              <a:t> numbers[5],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sz="2200" dirty="0">
                <a:latin typeface="+mj-lt"/>
                <a:cs typeface="Times New Roman" pitchFamily="18" charset="0"/>
              </a:rPr>
              <a:t> p;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	p = numbers; 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sz="2200" dirty="0">
                <a:latin typeface="+mj-lt"/>
                <a:cs typeface="Times New Roman" pitchFamily="18" charset="0"/>
              </a:rPr>
              <a:t>p = 10;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	p++;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*</a:t>
            </a:r>
            <a:r>
              <a:rPr lang="en-US" sz="2200" dirty="0">
                <a:latin typeface="+mj-lt"/>
                <a:cs typeface="Times New Roman" pitchFamily="18" charset="0"/>
              </a:rPr>
              <a:t>p = 20;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	p =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&amp;</a:t>
            </a:r>
            <a:r>
              <a:rPr lang="en-US" sz="2200" dirty="0">
                <a:latin typeface="+mj-lt"/>
                <a:cs typeface="Times New Roman" pitchFamily="18" charset="0"/>
              </a:rPr>
              <a:t>numbers[2]; 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sz="2200" dirty="0">
                <a:latin typeface="+mj-lt"/>
                <a:cs typeface="Times New Roman" pitchFamily="18" charset="0"/>
              </a:rPr>
              <a:t>p = 30;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	p = numbers + 3; 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sz="2200" dirty="0">
                <a:latin typeface="+mj-lt"/>
                <a:cs typeface="Times New Roman" pitchFamily="18" charset="0"/>
              </a:rPr>
              <a:t>p = 40;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	p = numbers; 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*</a:t>
            </a:r>
            <a:r>
              <a:rPr lang="en-US" sz="2200" dirty="0">
                <a:latin typeface="+mj-lt"/>
                <a:cs typeface="Times New Roman" pitchFamily="18" charset="0"/>
              </a:rPr>
              <a:t>(p+4) = 50;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	for (</a:t>
            </a:r>
            <a:r>
              <a:rPr lang="en-US" sz="2200" dirty="0" err="1">
                <a:latin typeface="+mj-lt"/>
                <a:cs typeface="Times New Roman" pitchFamily="18" charset="0"/>
              </a:rPr>
              <a:t>int</a:t>
            </a:r>
            <a:r>
              <a:rPr lang="en-US" sz="2200" dirty="0">
                <a:latin typeface="+mj-lt"/>
                <a:cs typeface="Times New Roman" pitchFamily="18" charset="0"/>
              </a:rPr>
              <a:t> n=0; n&lt;5; n++)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  		</a:t>
            </a:r>
            <a:r>
              <a:rPr lang="en-US" sz="2200" dirty="0" err="1">
                <a:latin typeface="+mj-lt"/>
                <a:cs typeface="Times New Roman" pitchFamily="18" charset="0"/>
              </a:rPr>
              <a:t>printf</a:t>
            </a:r>
            <a:r>
              <a:rPr lang="en-US" sz="2200" dirty="0">
                <a:latin typeface="+mj-lt"/>
                <a:cs typeface="Times New Roman" pitchFamily="18" charset="0"/>
              </a:rPr>
              <a:t>(“%d”, numbers[n] );</a:t>
            </a:r>
          </a:p>
          <a:p>
            <a:pPr>
              <a:spcBef>
                <a:spcPts val="0"/>
              </a:spcBef>
              <a:buFont typeface="Arial" pitchFamily="34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}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730872" y="1189818"/>
          <a:ext cx="4191000" cy="44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0" y="1164421"/>
            <a:ext cx="145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Numbers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273675" y="1959079"/>
            <a:ext cx="609597" cy="2"/>
          </a:xfrm>
          <a:prstGeom prst="straightConnector1">
            <a:avLst/>
          </a:prstGeom>
          <a:ln w="88900" cmpd="sng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95302" y="1652731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3272" y="1189819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578472" y="1571613"/>
            <a:ext cx="610394" cy="827226"/>
            <a:chOff x="4572000" y="1753394"/>
            <a:chExt cx="610394" cy="827226"/>
          </a:xfrm>
        </p:grpSpPr>
        <p:cxnSp>
          <p:nvCxnSpPr>
            <p:cNvPr id="13" name="Straight Arrow Connector 12"/>
            <p:cNvCxnSpPr/>
            <p:nvPr/>
          </p:nvCxnSpPr>
          <p:spPr>
            <a:xfrm rot="5400000" flipH="1" flipV="1">
              <a:off x="4876799" y="2057401"/>
              <a:ext cx="609602" cy="1588"/>
            </a:xfrm>
            <a:prstGeom prst="straightConnector1">
              <a:avLst/>
            </a:prstGeom>
            <a:ln w="88900" cmpd="sng"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572000" y="20574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578472" y="1570819"/>
            <a:ext cx="610394" cy="827226"/>
            <a:chOff x="5500914" y="5356514"/>
            <a:chExt cx="610394" cy="827226"/>
          </a:xfrm>
        </p:grpSpPr>
        <p:cxnSp>
          <p:nvCxnSpPr>
            <p:cNvPr id="17" name="Straight Arrow Connector 16"/>
            <p:cNvCxnSpPr/>
            <p:nvPr/>
          </p:nvCxnSpPr>
          <p:spPr>
            <a:xfrm rot="5400000" flipH="1" flipV="1">
              <a:off x="5805713" y="5660521"/>
              <a:ext cx="609602" cy="1588"/>
            </a:xfrm>
            <a:prstGeom prst="straightConnector1">
              <a:avLst/>
            </a:prstGeom>
            <a:ln w="88900" cmpd="sng"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500914" y="566052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746870" y="1200703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322316" y="1614421"/>
            <a:ext cx="610394" cy="827226"/>
            <a:chOff x="5500914" y="5356514"/>
            <a:chExt cx="610394" cy="827226"/>
          </a:xfrm>
        </p:grpSpPr>
        <p:cxnSp>
          <p:nvCxnSpPr>
            <p:cNvPr id="21" name="Straight Arrow Connector 20"/>
            <p:cNvCxnSpPr/>
            <p:nvPr/>
          </p:nvCxnSpPr>
          <p:spPr>
            <a:xfrm rot="5400000" flipH="1" flipV="1">
              <a:off x="5805713" y="5660521"/>
              <a:ext cx="609602" cy="1588"/>
            </a:xfrm>
            <a:prstGeom prst="straightConnector1">
              <a:avLst/>
            </a:prstGeom>
            <a:ln w="88900" cmpd="sng"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500914" y="566052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196816" y="1599847"/>
            <a:ext cx="610394" cy="827226"/>
            <a:chOff x="5500914" y="5356514"/>
            <a:chExt cx="610394" cy="827226"/>
          </a:xfrm>
        </p:grpSpPr>
        <p:cxnSp>
          <p:nvCxnSpPr>
            <p:cNvPr id="24" name="Straight Arrow Connector 23"/>
            <p:cNvCxnSpPr/>
            <p:nvPr/>
          </p:nvCxnSpPr>
          <p:spPr>
            <a:xfrm rot="5400000" flipH="1" flipV="1">
              <a:off x="5805713" y="5660521"/>
              <a:ext cx="609602" cy="1588"/>
            </a:xfrm>
            <a:prstGeom prst="straightConnector1">
              <a:avLst/>
            </a:prstGeom>
            <a:ln w="88900" cmpd="sng"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500914" y="566052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488586" y="1222477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5872" y="1218847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3244" y="1218847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50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7168478" y="1570843"/>
            <a:ext cx="610394" cy="827226"/>
            <a:chOff x="5500914" y="5356514"/>
            <a:chExt cx="610394" cy="827226"/>
          </a:xfrm>
        </p:grpSpPr>
        <p:cxnSp>
          <p:nvCxnSpPr>
            <p:cNvPr id="30" name="Straight Arrow Connector 29"/>
            <p:cNvCxnSpPr/>
            <p:nvPr/>
          </p:nvCxnSpPr>
          <p:spPr>
            <a:xfrm rot="5400000" flipH="1" flipV="1">
              <a:off x="5805713" y="5660521"/>
              <a:ext cx="609602" cy="1588"/>
            </a:xfrm>
            <a:prstGeom prst="straightConnector1">
              <a:avLst/>
            </a:prstGeom>
            <a:ln w="88900" cmpd="sng"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5500914" y="566052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603870" y="1581721"/>
            <a:ext cx="610394" cy="827226"/>
            <a:chOff x="5500914" y="5356514"/>
            <a:chExt cx="610394" cy="827226"/>
          </a:xfrm>
        </p:grpSpPr>
        <p:cxnSp>
          <p:nvCxnSpPr>
            <p:cNvPr id="33" name="Straight Arrow Connector 32"/>
            <p:cNvCxnSpPr/>
            <p:nvPr/>
          </p:nvCxnSpPr>
          <p:spPr>
            <a:xfrm rot="5400000" flipH="1" flipV="1">
              <a:off x="5805713" y="5660521"/>
              <a:ext cx="609602" cy="1588"/>
            </a:xfrm>
            <a:prstGeom prst="straightConnector1">
              <a:avLst/>
            </a:prstGeom>
            <a:ln w="88900" cmpd="sng"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500914" y="566052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1669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89017E-7 L 0.09167 2.89017E-7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25 -0.00647 L 0.11216 -0.00647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19 -0.00416 L 0.10643 -0.00416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7.51445E-7 L -0.28316 -7.51445E-7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-0.00162 L 0.36944 -0.00162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0" grpId="1"/>
      <p:bldP spid="11" grpId="0"/>
      <p:bldP spid="19" grpId="0"/>
      <p:bldP spid="26" grpId="0"/>
      <p:bldP spid="27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1000-8C51-4BF0-81BA-9BB08A89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271069-D3B3-45A2-9C65-411A1205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2CAFE-1915-4C47-8B69-5B6D3A95C50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5AB60A-1CB5-45FA-987F-39C6C949A744}"/>
              </a:ext>
            </a:extLst>
          </p:cNvPr>
          <p:cNvSpPr txBox="1"/>
          <p:nvPr/>
        </p:nvSpPr>
        <p:spPr>
          <a:xfrm>
            <a:off x="457200" y="968940"/>
            <a:ext cx="84305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main()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	int a[3]={10,20,30};</a:t>
            </a:r>
          </a:p>
          <a:p>
            <a:r>
              <a:rPr lang="en-US" sz="2800" dirty="0"/>
              <a:t>	int *</a:t>
            </a:r>
            <a:r>
              <a:rPr lang="en-US" sz="2800" dirty="0" err="1"/>
              <a:t>ptr</a:t>
            </a:r>
            <a:r>
              <a:rPr lang="en-US" sz="2800" dirty="0"/>
              <a:t>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ptr</a:t>
            </a:r>
            <a:r>
              <a:rPr lang="en-US" sz="2800" dirty="0"/>
              <a:t>=a;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C972A-57C7-4BB5-9D1A-2FCD7DD93958}"/>
              </a:ext>
            </a:extLst>
          </p:cNvPr>
          <p:cNvSpPr txBox="1"/>
          <p:nvPr/>
        </p:nvSpPr>
        <p:spPr>
          <a:xfrm>
            <a:off x="457200" y="3254747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printf</a:t>
            </a:r>
            <a:r>
              <a:rPr lang="en-US" sz="2800" dirty="0"/>
              <a:t>(“</a:t>
            </a:r>
            <a:r>
              <a:rPr lang="en-US" sz="2800" dirty="0" err="1"/>
              <a:t>Noi</a:t>
            </a:r>
            <a:r>
              <a:rPr lang="en-US" sz="2800" dirty="0"/>
              <a:t> dung </a:t>
            </a:r>
            <a:r>
              <a:rPr lang="en-US" sz="2800" dirty="0" err="1"/>
              <a:t>cua</a:t>
            </a:r>
            <a:r>
              <a:rPr lang="en-US" sz="2800" dirty="0"/>
              <a:t> a[0]=%d\n”,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842EC-EEF0-424A-BF6F-3A684B574D2F}"/>
              </a:ext>
            </a:extLst>
          </p:cNvPr>
          <p:cNvSpPr txBox="1"/>
          <p:nvPr/>
        </p:nvSpPr>
        <p:spPr>
          <a:xfrm>
            <a:off x="5715000" y="3254747"/>
            <a:ext cx="103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*</a:t>
            </a:r>
            <a:r>
              <a:rPr lang="en-US" sz="2800" dirty="0" err="1"/>
              <a:t>ptr</a:t>
            </a:r>
            <a:r>
              <a:rPr lang="en-US" sz="2800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C6C08-047D-44E7-8044-C5B5013AEAEC}"/>
              </a:ext>
            </a:extLst>
          </p:cNvPr>
          <p:cNvSpPr txBox="1"/>
          <p:nvPr/>
        </p:nvSpPr>
        <p:spPr>
          <a:xfrm>
            <a:off x="495300" y="3777967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printf</a:t>
            </a:r>
            <a:r>
              <a:rPr lang="en-US" sz="2800" dirty="0"/>
              <a:t>(“</a:t>
            </a:r>
            <a:r>
              <a:rPr lang="en-US" sz="2800" dirty="0" err="1"/>
              <a:t>Noi</a:t>
            </a:r>
            <a:r>
              <a:rPr lang="en-US" sz="2800" dirty="0"/>
              <a:t> dung </a:t>
            </a:r>
            <a:r>
              <a:rPr lang="en-US" sz="2800" dirty="0" err="1"/>
              <a:t>cua</a:t>
            </a:r>
            <a:r>
              <a:rPr lang="en-US" sz="2800" dirty="0"/>
              <a:t> a[1]=%d\n”,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4C2E9D-7D29-4E50-B0D2-496F990D8D5B}"/>
              </a:ext>
            </a:extLst>
          </p:cNvPr>
          <p:cNvSpPr txBox="1"/>
          <p:nvPr/>
        </p:nvSpPr>
        <p:spPr>
          <a:xfrm>
            <a:off x="5715000" y="374398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*(ptr+1);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6AC196-BB30-4CB5-A97F-510F9C31CD91}"/>
              </a:ext>
            </a:extLst>
          </p:cNvPr>
          <p:cNvSpPr txBox="1"/>
          <p:nvPr/>
        </p:nvSpPr>
        <p:spPr>
          <a:xfrm>
            <a:off x="457200" y="4208224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printf</a:t>
            </a:r>
            <a:r>
              <a:rPr lang="en-US" sz="2800" dirty="0"/>
              <a:t>(“</a:t>
            </a:r>
            <a:r>
              <a:rPr lang="en-US" sz="2800" dirty="0" err="1"/>
              <a:t>Noi</a:t>
            </a:r>
            <a:r>
              <a:rPr lang="en-US" sz="2800" dirty="0"/>
              <a:t> dung </a:t>
            </a:r>
            <a:r>
              <a:rPr lang="en-US" sz="2800" dirty="0" err="1"/>
              <a:t>cua</a:t>
            </a:r>
            <a:r>
              <a:rPr lang="en-US" sz="2800" dirty="0"/>
              <a:t> a[1]=%d\n”,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D630E-4311-4D1C-8529-FE1FA97F8DB2}"/>
              </a:ext>
            </a:extLst>
          </p:cNvPr>
          <p:cNvSpPr txBox="1"/>
          <p:nvPr/>
        </p:nvSpPr>
        <p:spPr>
          <a:xfrm>
            <a:off x="5676900" y="4174237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*(ptr+2);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714FB0-0930-480E-9BFB-1B6BC19831AB}"/>
              </a:ext>
            </a:extLst>
          </p:cNvPr>
          <p:cNvSpPr txBox="1"/>
          <p:nvPr/>
        </p:nvSpPr>
        <p:spPr>
          <a:xfrm>
            <a:off x="495300" y="4705561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6381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53F9-8583-4D47-A18E-FE988BEA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/*Minh </a:t>
            </a:r>
            <a:r>
              <a:rPr lang="en-US" sz="2400" dirty="0" err="1"/>
              <a:t>họa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con </a:t>
            </a:r>
            <a:r>
              <a:rPr lang="en-US" sz="2400" dirty="0" err="1"/>
              <a:t>trỏ</a:t>
            </a:r>
            <a:r>
              <a:rPr lang="en-US" sz="2400" dirty="0"/>
              <a:t>*/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1F7F16-C071-468F-B54E-88340F4A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2CAFE-1915-4C47-8B69-5B6D3A95C50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828B4-D052-4B58-8272-9F92C2F0F19F}"/>
              </a:ext>
            </a:extLst>
          </p:cNvPr>
          <p:cNvSpPr txBox="1"/>
          <p:nvPr/>
        </p:nvSpPr>
        <p:spPr>
          <a:xfrm>
            <a:off x="577652" y="856357"/>
            <a:ext cx="78805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r>
              <a:rPr lang="en-US" sz="2400" dirty="0"/>
              <a:t>#include &lt;</a:t>
            </a:r>
            <a:r>
              <a:rPr lang="en-US" sz="2400" dirty="0" err="1"/>
              <a:t>stdlib.h</a:t>
            </a:r>
            <a:r>
              <a:rPr lang="en-US" sz="2400" dirty="0"/>
              <a:t>&gt;</a:t>
            </a:r>
          </a:p>
          <a:p>
            <a:r>
              <a:rPr lang="en-US" sz="2400" dirty="0"/>
              <a:t>int main()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	int </a:t>
            </a:r>
            <a:r>
              <a:rPr lang="en-US" sz="2400" dirty="0" err="1"/>
              <a:t>i</a:t>
            </a:r>
            <a:r>
              <a:rPr lang="en-US" sz="2400" dirty="0"/>
              <a:t>, a[5], *p;</a:t>
            </a:r>
          </a:p>
          <a:p>
            <a:r>
              <a:rPr lang="en-US" sz="2400" dirty="0"/>
              <a:t>	p=a;</a:t>
            </a:r>
          </a:p>
          <a:p>
            <a:r>
              <a:rPr lang="en-US" sz="2400" dirty="0"/>
              <a:t>	for(</a:t>
            </a:r>
            <a:r>
              <a:rPr lang="en-US" sz="2400" dirty="0" err="1"/>
              <a:t>i</a:t>
            </a:r>
            <a:r>
              <a:rPr lang="en-US" sz="2400" dirty="0"/>
              <a:t>=0;i&lt;5;i++)</a:t>
            </a:r>
          </a:p>
          <a:p>
            <a:r>
              <a:rPr lang="en-US" sz="2400" dirty="0"/>
              <a:t>	{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printf</a:t>
            </a:r>
            <a:r>
              <a:rPr lang="en-US" sz="2400" dirty="0"/>
              <a:t>("\n a[%d]= ",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scanf</a:t>
            </a:r>
            <a:r>
              <a:rPr lang="en-US" sz="2400" dirty="0"/>
              <a:t>("%d",</a:t>
            </a:r>
            <a:r>
              <a:rPr lang="en-US" sz="2400" dirty="0" err="1"/>
              <a:t>p+i</a:t>
            </a:r>
            <a:r>
              <a:rPr lang="en-US" sz="2400" dirty="0"/>
              <a:t>);//</a:t>
            </a:r>
            <a:r>
              <a:rPr lang="en-US" sz="2400" dirty="0" err="1"/>
              <a:t>Nhap</a:t>
            </a:r>
            <a:r>
              <a:rPr lang="en-US" sz="2400" dirty="0"/>
              <a:t> </a:t>
            </a:r>
            <a:r>
              <a:rPr lang="en-US" sz="2400" dirty="0" err="1"/>
              <a:t>vao</a:t>
            </a:r>
            <a:r>
              <a:rPr lang="en-US" sz="2400" dirty="0"/>
              <a:t> </a:t>
            </a:r>
            <a:r>
              <a:rPr lang="en-US" sz="2400" dirty="0" err="1"/>
              <a:t>dia</a:t>
            </a:r>
            <a:r>
              <a:rPr lang="en-US" sz="2400" dirty="0"/>
              <a:t> chi &amp;a[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for(</a:t>
            </a:r>
            <a:r>
              <a:rPr lang="en-US" sz="2400" dirty="0" err="1"/>
              <a:t>i</a:t>
            </a:r>
            <a:r>
              <a:rPr lang="en-US" sz="2400" dirty="0"/>
              <a:t>=0;i&lt;5;i++)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printf</a:t>
            </a:r>
            <a:r>
              <a:rPr lang="en-US" sz="2400" dirty="0"/>
              <a:t>("%d\t", *(</a:t>
            </a:r>
            <a:r>
              <a:rPr lang="en-US" sz="2400" dirty="0" err="1"/>
              <a:t>a+i</a:t>
            </a:r>
            <a:r>
              <a:rPr lang="en-US" sz="2400" dirty="0"/>
              <a:t>));</a:t>
            </a:r>
          </a:p>
          <a:p>
            <a:r>
              <a:rPr lang="en-US" sz="2400" dirty="0"/>
              <a:t>    return 0;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855299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0799-138A-4F08-A665-09B4FEAD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F3333-477D-466E-82BA-2E6B9CC8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919130"/>
            <a:ext cx="8572500" cy="5749328"/>
          </a:xfrm>
        </p:spPr>
        <p:txBody>
          <a:bodyPr/>
          <a:lstStyle/>
          <a:p>
            <a:r>
              <a:rPr lang="en-US" sz="2800" dirty="0" err="1"/>
              <a:t>Mảng</a:t>
            </a:r>
            <a:r>
              <a:rPr lang="en-US" sz="2800" dirty="0"/>
              <a:t> 2 </a:t>
            </a:r>
            <a:r>
              <a:rPr lang="en-US" sz="2800" dirty="0" err="1"/>
              <a:t>chiều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1 </a:t>
            </a:r>
            <a:r>
              <a:rPr lang="en-US" sz="2800" dirty="0" err="1"/>
              <a:t>chiều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 err="1"/>
              <a:t>trỏ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a[0][0]</a:t>
            </a:r>
          </a:p>
          <a:p>
            <a:r>
              <a:rPr lang="en-US" sz="2800" dirty="0"/>
              <a:t>A+1 </a:t>
            </a:r>
            <a:r>
              <a:rPr lang="en-US" sz="2800" dirty="0" err="1"/>
              <a:t>trỏ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a[0][1], …</a:t>
            </a:r>
          </a:p>
          <a:p>
            <a:endParaRPr lang="en-US" sz="2800" dirty="0"/>
          </a:p>
          <a:p>
            <a:r>
              <a:rPr lang="en-US" sz="2800" dirty="0" err="1"/>
              <a:t>Khai</a:t>
            </a:r>
            <a:r>
              <a:rPr lang="en-US" sz="2800" dirty="0"/>
              <a:t> </a:t>
            </a:r>
            <a:r>
              <a:rPr lang="en-US" sz="2800" dirty="0" err="1"/>
              <a:t>báo</a:t>
            </a:r>
            <a:r>
              <a:rPr lang="en-US" sz="2800" dirty="0"/>
              <a:t>:  int *pa, int n; </a:t>
            </a:r>
          </a:p>
          <a:p>
            <a:pPr marL="457200" lvl="1" indent="0">
              <a:buNone/>
            </a:pPr>
            <a:r>
              <a:rPr lang="en-US" sz="2800" dirty="0" err="1"/>
              <a:t>Cấp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chiều</a:t>
            </a:r>
            <a:r>
              <a:rPr lang="en-US" sz="2800" dirty="0"/>
              <a:t>:</a:t>
            </a:r>
          </a:p>
          <a:p>
            <a:pPr marL="457200" lvl="1" indent="0">
              <a:buNone/>
            </a:pPr>
            <a:r>
              <a:rPr lang="en-US" sz="2800" dirty="0"/>
              <a:t>pa = (int*)malloc(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dòng</a:t>
            </a:r>
            <a:r>
              <a:rPr lang="en-US" sz="2800" dirty="0"/>
              <a:t>*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cột</a:t>
            </a:r>
            <a:r>
              <a:rPr lang="en-US" sz="2800" dirty="0"/>
              <a:t>*</a:t>
            </a:r>
            <a:r>
              <a:rPr lang="en-US" sz="2800" dirty="0" err="1"/>
              <a:t>sizeof</a:t>
            </a:r>
            <a:r>
              <a:rPr lang="en-US" sz="2800" dirty="0"/>
              <a:t>(int));</a:t>
            </a:r>
          </a:p>
          <a:p>
            <a:pPr lvl="1"/>
            <a:r>
              <a:rPr lang="en-US" sz="2800" dirty="0"/>
              <a:t> </a:t>
            </a:r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2800" dirty="0" err="1"/>
              <a:t>cập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a[</a:t>
            </a:r>
            <a:r>
              <a:rPr lang="en-US" sz="2800" dirty="0" err="1"/>
              <a:t>i</a:t>
            </a:r>
            <a:r>
              <a:rPr lang="en-US" sz="2800" dirty="0"/>
              <a:t>][j]j,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b="1" dirty="0"/>
              <a:t>*(</a:t>
            </a:r>
            <a:r>
              <a:rPr lang="en-US" sz="2800" b="1" dirty="0" err="1"/>
              <a:t>pa+i</a:t>
            </a:r>
            <a:r>
              <a:rPr lang="en-US" sz="2800" b="1" dirty="0"/>
              <a:t>*</a:t>
            </a:r>
            <a:r>
              <a:rPr lang="en-US" sz="2800" b="1" dirty="0" err="1"/>
              <a:t>số</a:t>
            </a:r>
            <a:r>
              <a:rPr lang="en-US" sz="2800" b="1" dirty="0"/>
              <a:t> </a:t>
            </a:r>
            <a:r>
              <a:rPr lang="en-US" sz="2800" b="1" dirty="0" err="1"/>
              <a:t>cột+j</a:t>
            </a:r>
            <a:r>
              <a:rPr lang="en-US" sz="2800" b="1" dirty="0"/>
              <a:t>)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B12F3-C837-490D-8673-E1CA6499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7604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582D1-350D-43B2-9BDD-AEDDAABD5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CBE3-3731-4E53-90CC-8785A1D80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; </a:t>
            </a:r>
          </a:p>
          <a:p>
            <a:r>
              <a:rPr lang="en-US" dirty="0"/>
              <a:t>int </a:t>
            </a:r>
            <a:r>
              <a:rPr lang="en-US" dirty="0" err="1"/>
              <a:t>mảng</a:t>
            </a:r>
            <a:r>
              <a:rPr lang="en-US" dirty="0"/>
              <a:t> [3] [4] = {{1, 2, 3, 4}, {5, 6, 7, 8}, {9, 10, 11, 12}};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C9122-F9D5-41FA-965F-F7AB6261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08429-0A74-424C-B963-3CF12759CB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3" t="26667" r="49167" b="51111"/>
          <a:stretch/>
        </p:blipFill>
        <p:spPr>
          <a:xfrm>
            <a:off x="1905000" y="2130450"/>
            <a:ext cx="424815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2366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BDCE-FE84-46CC-BA90-3BB6D916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9751-7CCE-462E-BF53-D5741F6C2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kern="1200" dirty="0">
                <a:latin typeface="Arial" charset="0"/>
              </a:rPr>
              <a:t>thực tế một mảng 2 chiều được lưu theo thứ tự chính hàng, tức là các hàng được đặt cạnh nhau.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45E7C-0C27-4438-AFDB-8F7DDF14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0E982-D9AA-4840-A880-D16B67A1D2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33" t="52222" r="30000" b="35555"/>
          <a:stretch/>
        </p:blipFill>
        <p:spPr>
          <a:xfrm>
            <a:off x="304800" y="1981200"/>
            <a:ext cx="86868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4765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995C-E6D6-4F72-B2D0-06725116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98051-1EC6-400F-82C5-9618F72BF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03872"/>
            <a:ext cx="4724400" cy="574932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main(){</a:t>
            </a:r>
          </a:p>
          <a:p>
            <a:pPr marL="0" indent="0">
              <a:buNone/>
            </a:pPr>
            <a:r>
              <a:rPr lang="en-US" dirty="0"/>
              <a:t>	int *p;</a:t>
            </a:r>
          </a:p>
          <a:p>
            <a:pPr marL="0" indent="0">
              <a:buNone/>
            </a:pPr>
            <a:r>
              <a:rPr lang="en-US" dirty="0"/>
              <a:t>	p = (int*)malloc(2*3*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i</a:t>
            </a:r>
            <a:r>
              <a:rPr lang="en-US" dirty="0"/>
              <a:t>, j;</a:t>
            </a:r>
          </a:p>
          <a:p>
            <a:pPr marL="0" indent="0">
              <a:buNone/>
            </a:pPr>
            <a:r>
              <a:rPr lang="en-US" dirty="0"/>
              <a:t>	//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d",&amp;a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][j]) &amp;a[</a:t>
            </a:r>
            <a:r>
              <a:rPr lang="en-US" dirty="0" err="1"/>
              <a:t>i</a:t>
            </a:r>
            <a:r>
              <a:rPr lang="en-US" dirty="0"/>
              <a:t>][j] &lt;=&gt; ( p + </a:t>
            </a:r>
            <a:r>
              <a:rPr lang="en-US" dirty="0" err="1"/>
              <a:t>socot</a:t>
            </a:r>
            <a:r>
              <a:rPr lang="en-US" dirty="0"/>
              <a:t> * </a:t>
            </a:r>
            <a:r>
              <a:rPr lang="en-US" dirty="0" err="1"/>
              <a:t>i</a:t>
            </a:r>
            <a:r>
              <a:rPr lang="en-US" dirty="0"/>
              <a:t> + j )</a:t>
            </a:r>
          </a:p>
          <a:p>
            <a:pPr marL="0" indent="0">
              <a:buNone/>
            </a:pPr>
            <a:r>
              <a:rPr lang="en-US" dirty="0"/>
              <a:t>	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2;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0" indent="0">
              <a:buNone/>
            </a:pPr>
            <a:r>
              <a:rPr lang="en-US" dirty="0"/>
              <a:t>		for(j = 0; j &lt; 3; </a:t>
            </a:r>
            <a:r>
              <a:rPr lang="en-US" dirty="0" err="1"/>
              <a:t>j++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scanf</a:t>
            </a:r>
            <a:r>
              <a:rPr lang="en-US" dirty="0"/>
              <a:t>("%d",(p + 3 * </a:t>
            </a:r>
            <a:r>
              <a:rPr lang="en-US" dirty="0" err="1"/>
              <a:t>i</a:t>
            </a:r>
            <a:r>
              <a:rPr lang="en-US" dirty="0"/>
              <a:t> + j));	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02B3-7F9D-4576-A2C6-A52B330B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F7F53F-6224-4D0E-A36C-C17ABD7036F4}"/>
              </a:ext>
            </a:extLst>
          </p:cNvPr>
          <p:cNvSpPr txBox="1">
            <a:spLocks/>
          </p:cNvSpPr>
          <p:nvPr/>
        </p:nvSpPr>
        <p:spPr bwMode="gray">
          <a:xfrm>
            <a:off x="5029200" y="803872"/>
            <a:ext cx="4124848" cy="574932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chieu</a:t>
            </a:r>
            <a:r>
              <a:rPr lang="en-US" dirty="0"/>
              <a:t> </a:t>
            </a:r>
            <a:r>
              <a:rPr lang="en-US" dirty="0" err="1"/>
              <a:t>cua</a:t>
            </a:r>
            <a:r>
              <a:rPr lang="en-US" dirty="0"/>
              <a:t> ban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nhap</a:t>
            </a:r>
            <a:r>
              <a:rPr lang="en-US" dirty="0"/>
              <a:t> la : \n");</a:t>
            </a:r>
          </a:p>
          <a:p>
            <a:pPr marL="0" indent="0">
              <a:buNone/>
            </a:pPr>
            <a:r>
              <a:rPr lang="en-US" dirty="0"/>
              <a:t>	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2;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0" indent="0">
              <a:buNone/>
            </a:pPr>
            <a:r>
              <a:rPr lang="en-US" dirty="0"/>
              <a:t>		for(j = 0; j &lt; 3; </a:t>
            </a:r>
            <a:r>
              <a:rPr lang="en-US" dirty="0" err="1"/>
              <a:t>j++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("%d ",*(p + 3 * </a:t>
            </a:r>
            <a:r>
              <a:rPr lang="en-US" dirty="0" err="1"/>
              <a:t>i</a:t>
            </a:r>
            <a:r>
              <a:rPr lang="en-US" dirty="0"/>
              <a:t> + j));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32198767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2B105-49C7-44A8-B605-AABCF2E2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8F2BF-20A1-4643-A1F2-FC95E12B7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C87F2-295D-48CD-B4A6-7E8EB41F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6E0B5-6965-4E68-909A-389FDA83FE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67" t="15909" r="15000" b="14427"/>
          <a:stretch/>
        </p:blipFill>
        <p:spPr>
          <a:xfrm>
            <a:off x="384243" y="763680"/>
            <a:ext cx="8375513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7141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A1283-8F9B-412F-9017-BAAC95F5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56DC6-13C6-47A5-9C55-11AAB3D78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430BA-4989-44AF-814C-C1F6CDD2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5AABC-31D0-4E0B-B53B-241C491C23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t="17391" r="20833" b="18874"/>
          <a:stretch/>
        </p:blipFill>
        <p:spPr>
          <a:xfrm>
            <a:off x="309562" y="837208"/>
            <a:ext cx="8082494" cy="457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2973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72500" cy="5638800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000000"/>
                </a:solidFill>
              </a:rPr>
              <a:t>Một biến con trỏ có thể trỏ đến một biến kiểu cấu trúc.</a:t>
            </a:r>
          </a:p>
          <a:p>
            <a:pPr algn="just"/>
            <a:r>
              <a:rPr lang="vi-VN" dirty="0">
                <a:solidFill>
                  <a:srgbClr val="000000"/>
                </a:solidFill>
              </a:rPr>
              <a:t>Cú pháp khai báo một con trỏ cấu trúc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vi-VN" dirty="0">
                <a:solidFill>
                  <a:srgbClr val="FF0000"/>
                </a:solidFill>
              </a:rPr>
              <a:t>struct  &lt;tên cấu trúc&gt;   * &lt;tên pointer&gt;; </a:t>
            </a: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Ví</a:t>
            </a:r>
            <a:r>
              <a:rPr lang="en-US" sz="3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prstClr val="black"/>
                </a:solidFill>
                <a:latin typeface="+mj-lt"/>
                <a:cs typeface="Times New Roman" pitchFamily="18" charset="0"/>
              </a:rPr>
              <a:t>dụ</a:t>
            </a:r>
            <a:r>
              <a:rPr lang="en-US" sz="30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: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typedef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struct</a:t>
            </a: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diem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{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	</a:t>
            </a:r>
            <a:r>
              <a:rPr lang="en-US" sz="2800" dirty="0" err="1">
                <a:solidFill>
                  <a:srgbClr val="0070C0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x;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	</a:t>
            </a:r>
            <a:r>
              <a:rPr lang="en-US" sz="2800" dirty="0" err="1">
                <a:solidFill>
                  <a:srgbClr val="0070C0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 y;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};</a:t>
            </a:r>
          </a:p>
          <a:p>
            <a:pPr marL="2286000" lvl="5" indent="0" algn="just">
              <a:buFont typeface="Arial" pitchFamily="34" charset="0"/>
              <a:buNone/>
            </a:pPr>
            <a:r>
              <a:rPr lang="en-US" sz="2800" dirty="0">
                <a:solidFill>
                  <a:prstClr val="black"/>
                </a:solidFill>
                <a:latin typeface="+mj-lt"/>
                <a:cs typeface="Times New Roman" pitchFamily="18" charset="0"/>
              </a:rPr>
              <a:t>	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diem *p;//p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là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con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trỏ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cấu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trúc</a:t>
            </a:r>
            <a:r>
              <a:rPr lang="en-US" sz="28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v"/>
            </a:pP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14718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F52D-B40F-4236-80F6-16F32A3E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VÍ DỤ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F433-AF8D-4480-878A-5C148220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typedef struct SINHVIEN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char </a:t>
            </a:r>
            <a:r>
              <a:rPr lang="en-US" dirty="0" err="1"/>
              <a:t>ht</a:t>
            </a:r>
            <a:r>
              <a:rPr lang="en-US" dirty="0"/>
              <a:t>[30];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tuoi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float </a:t>
            </a:r>
            <a:r>
              <a:rPr lang="en-US" dirty="0" err="1"/>
              <a:t>dtb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  <a:r>
              <a:rPr lang="en-US" dirty="0" err="1"/>
              <a:t>sv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sv</a:t>
            </a:r>
            <a:r>
              <a:rPr lang="en-US" dirty="0"/>
              <a:t> </a:t>
            </a:r>
            <a:r>
              <a:rPr lang="en-US" dirty="0" err="1"/>
              <a:t>nhap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sv</a:t>
            </a:r>
            <a:r>
              <a:rPr lang="en-US" dirty="0"/>
              <a:t> sv1;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fflush</a:t>
            </a:r>
            <a:r>
              <a:rPr lang="en-US" dirty="0"/>
              <a:t>(stdin);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hoten</a:t>
            </a:r>
            <a:r>
              <a:rPr lang="en-US" dirty="0"/>
              <a:t>: ");gets(sv1.ht);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tuoi</a:t>
            </a:r>
            <a:r>
              <a:rPr lang="en-US" dirty="0"/>
              <a:t>: "); </a:t>
            </a:r>
            <a:r>
              <a:rPr lang="en-US" dirty="0" err="1"/>
              <a:t>scanf</a:t>
            </a:r>
            <a:r>
              <a:rPr lang="en-US" dirty="0"/>
              <a:t>("%d",&amp;sv1.tuoi);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dib: ");</a:t>
            </a:r>
            <a:r>
              <a:rPr lang="en-US" dirty="0" err="1"/>
              <a:t>scanf</a:t>
            </a:r>
            <a:r>
              <a:rPr lang="en-US" dirty="0"/>
              <a:t>("%f",&amp;sv1.dtb);</a:t>
            </a:r>
          </a:p>
          <a:p>
            <a:pPr marL="0" indent="0">
              <a:buNone/>
            </a:pPr>
            <a:r>
              <a:rPr lang="en-US" dirty="0"/>
              <a:t>    return sv1;}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6398D-5EF6-40DD-8F8B-E788AC13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045467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289F-F8F1-4783-898E-208CAE91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25885-7D50-444B-8627-DC93CA531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sv</a:t>
            </a:r>
            <a:r>
              <a:rPr lang="en-US" dirty="0"/>
              <a:t>* </a:t>
            </a:r>
            <a:r>
              <a:rPr lang="en-US" dirty="0" err="1"/>
              <a:t>Nhap</a:t>
            </a:r>
            <a:r>
              <a:rPr lang="en-US" dirty="0"/>
              <a:t>(unsigned int n)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sv</a:t>
            </a:r>
            <a:r>
              <a:rPr lang="en-US" dirty="0"/>
              <a:t> *p=(</a:t>
            </a:r>
            <a:r>
              <a:rPr lang="en-US" dirty="0" err="1"/>
              <a:t>sv</a:t>
            </a:r>
            <a:r>
              <a:rPr lang="en-US" dirty="0"/>
              <a:t>*)malloc(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sv</a:t>
            </a:r>
            <a:r>
              <a:rPr lang="en-US" dirty="0"/>
              <a:t>));</a:t>
            </a:r>
          </a:p>
          <a:p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=0;</a:t>
            </a:r>
          </a:p>
          <a:p>
            <a:r>
              <a:rPr lang="en-US" dirty="0"/>
              <a:t>    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sv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%d: ",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/>
              <a:t>        p[</a:t>
            </a:r>
            <a:r>
              <a:rPr lang="en-US" dirty="0" err="1"/>
              <a:t>i</a:t>
            </a:r>
            <a:r>
              <a:rPr lang="en-US" dirty="0"/>
              <a:t>]=</a:t>
            </a:r>
            <a:r>
              <a:rPr lang="en-US" dirty="0" err="1"/>
              <a:t>nhap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p;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0C34A-717C-48ED-8285-4C208878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70971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70E1-70E4-4A9F-A4E3-C34FAAB9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9787-C700-483D-80AA-522FBB82E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	unsigned int n;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sv</a:t>
            </a:r>
            <a:r>
              <a:rPr lang="en-US" dirty="0"/>
              <a:t> *sv1;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Nhap</a:t>
            </a:r>
            <a:r>
              <a:rPr lang="en-US" dirty="0"/>
              <a:t> </a:t>
            </a:r>
            <a:r>
              <a:rPr lang="en-US" dirty="0" err="1"/>
              <a:t>vao</a:t>
            </a:r>
            <a:r>
              <a:rPr lang="en-US" dirty="0"/>
              <a:t> so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vien</a:t>
            </a:r>
            <a:r>
              <a:rPr lang="en-US" dirty="0"/>
              <a:t>:");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sv1 = </a:t>
            </a:r>
            <a:r>
              <a:rPr lang="en-US" dirty="0" err="1"/>
              <a:t>Nhap</a:t>
            </a:r>
            <a:r>
              <a:rPr lang="en-US" dirty="0"/>
              <a:t>(n);</a:t>
            </a:r>
          </a:p>
          <a:p>
            <a:pPr marL="0" indent="0">
              <a:buNone/>
            </a:pPr>
            <a:r>
              <a:rPr lang="en-US" dirty="0"/>
              <a:t>	//</a:t>
            </a:r>
            <a:r>
              <a:rPr lang="en-US" dirty="0" err="1"/>
              <a:t>sv</a:t>
            </a:r>
            <a:r>
              <a:rPr lang="en-US" dirty="0"/>
              <a:t> *sv2;</a:t>
            </a:r>
          </a:p>
          <a:p>
            <a:pPr marL="0" indent="0">
              <a:buNone/>
            </a:pPr>
            <a:r>
              <a:rPr lang="en-US" dirty="0"/>
              <a:t>	//sv2 = sv1;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xuat</a:t>
            </a:r>
            <a:r>
              <a:rPr lang="en-US" dirty="0"/>
              <a:t>(sv1,n);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C97BA-EB42-4FF5-82A1-36FBC56D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905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9E48-EAB3-4E28-8DB7-C4451F78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24D64-A688-4669-8FED-8275A11C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Xuat</a:t>
            </a:r>
            <a:r>
              <a:rPr lang="en-US" dirty="0"/>
              <a:t>(</a:t>
            </a:r>
            <a:r>
              <a:rPr lang="en-US" dirty="0" err="1"/>
              <a:t>sv</a:t>
            </a:r>
            <a:r>
              <a:rPr lang="en-US" dirty="0"/>
              <a:t> sv1)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("%s\</a:t>
            </a:r>
            <a:r>
              <a:rPr lang="en-US" dirty="0" err="1"/>
              <a:t>t%d</a:t>
            </a:r>
            <a:r>
              <a:rPr lang="en-US" dirty="0"/>
              <a:t>\t%f",sv1.ht,sv1.tuoi,sv1.dtb);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void </a:t>
            </a:r>
            <a:r>
              <a:rPr lang="en-US" dirty="0" err="1"/>
              <a:t>xuat</a:t>
            </a:r>
            <a:r>
              <a:rPr lang="en-US" dirty="0"/>
              <a:t>(</a:t>
            </a:r>
            <a:r>
              <a:rPr lang="en-US" dirty="0" err="1"/>
              <a:t>sv</a:t>
            </a:r>
            <a:r>
              <a:rPr lang="en-US" dirty="0"/>
              <a:t> *sv1, unsigned int n) {</a:t>
            </a:r>
          </a:p>
          <a:p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nHo</a:t>
            </a:r>
            <a:r>
              <a:rPr lang="en-US" dirty="0"/>
              <a:t> ten\</a:t>
            </a:r>
            <a:r>
              <a:rPr lang="en-US" dirty="0" err="1"/>
              <a:t>ttuoi</a:t>
            </a:r>
            <a:r>
              <a:rPr lang="en-US" dirty="0"/>
              <a:t>\</a:t>
            </a:r>
            <a:r>
              <a:rPr lang="en-US" dirty="0" err="1"/>
              <a:t>tdiemtb</a:t>
            </a:r>
            <a:r>
              <a:rPr lang="en-US" dirty="0"/>
              <a:t>\n");</a:t>
            </a:r>
          </a:p>
          <a:p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 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Xuat</a:t>
            </a:r>
            <a:r>
              <a:rPr lang="en-US" dirty="0"/>
              <a:t>(sv1[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E2E2C-BBB8-4C5A-84D2-8FEE9101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2829-49E3-4E17-B3A1-69417714C48C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35882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352800"/>
            <a:ext cx="2662518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3023520"/>
      </p:ext>
    </p:extLst>
  </p:cSld>
  <p:clrMapOvr>
    <a:masterClrMapping/>
  </p:clrMapOvr>
</p:sld>
</file>

<file path=ppt/theme/theme1.xml><?xml version="1.0" encoding="utf-8"?>
<a:theme xmlns:a="http://schemas.openxmlformats.org/drawingml/2006/main" name="OK1">
  <a:themeElements>
    <a:clrScheme name="Default Design 1">
      <a:dk1>
        <a:srgbClr val="000000"/>
      </a:dk1>
      <a:lt1>
        <a:srgbClr val="B4E3EE"/>
      </a:lt1>
      <a:dk2>
        <a:srgbClr val="189180"/>
      </a:dk2>
      <a:lt2>
        <a:srgbClr val="808080"/>
      </a:lt2>
      <a:accent1>
        <a:srgbClr val="FF7F00"/>
      </a:accent1>
      <a:accent2>
        <a:srgbClr val="B3DC27"/>
      </a:accent2>
      <a:accent3>
        <a:srgbClr val="D6EFF5"/>
      </a:accent3>
      <a:accent4>
        <a:srgbClr val="000000"/>
      </a:accent4>
      <a:accent5>
        <a:srgbClr val="FFC0AA"/>
      </a:accent5>
      <a:accent6>
        <a:srgbClr val="A2C722"/>
      </a:accent6>
      <a:hlink>
        <a:srgbClr val="6FB9D7"/>
      </a:hlink>
      <a:folHlink>
        <a:srgbClr val="F93D17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B4E3EE"/>
        </a:lt1>
        <a:dk2>
          <a:srgbClr val="189180"/>
        </a:dk2>
        <a:lt2>
          <a:srgbClr val="808080"/>
        </a:lt2>
        <a:accent1>
          <a:srgbClr val="FF7F00"/>
        </a:accent1>
        <a:accent2>
          <a:srgbClr val="B3DC27"/>
        </a:accent2>
        <a:accent3>
          <a:srgbClr val="D6EFF5"/>
        </a:accent3>
        <a:accent4>
          <a:srgbClr val="000000"/>
        </a:accent4>
        <a:accent5>
          <a:srgbClr val="FFC0AA"/>
        </a:accent5>
        <a:accent6>
          <a:srgbClr val="A2C722"/>
        </a:accent6>
        <a:hlink>
          <a:srgbClr val="6FB9D7"/>
        </a:hlink>
        <a:folHlink>
          <a:srgbClr val="F93D1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EE384"/>
        </a:lt1>
        <a:dk2>
          <a:srgbClr val="FD8334"/>
        </a:dk2>
        <a:lt2>
          <a:srgbClr val="808080"/>
        </a:lt2>
        <a:accent1>
          <a:srgbClr val="F98EB2"/>
        </a:accent1>
        <a:accent2>
          <a:srgbClr val="FCB43E"/>
        </a:accent2>
        <a:accent3>
          <a:srgbClr val="FEEFC2"/>
        </a:accent3>
        <a:accent4>
          <a:srgbClr val="000000"/>
        </a:accent4>
        <a:accent5>
          <a:srgbClr val="FBC6D5"/>
        </a:accent5>
        <a:accent6>
          <a:srgbClr val="E4A337"/>
        </a:accent6>
        <a:hlink>
          <a:srgbClr val="FA6D73"/>
        </a:hlink>
        <a:folHlink>
          <a:srgbClr val="D264C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4E1EE"/>
        </a:lt1>
        <a:dk2>
          <a:srgbClr val="2F84AF"/>
        </a:dk2>
        <a:lt2>
          <a:srgbClr val="808080"/>
        </a:lt2>
        <a:accent1>
          <a:srgbClr val="9899C1"/>
        </a:accent1>
        <a:accent2>
          <a:srgbClr val="4BBAC3"/>
        </a:accent2>
        <a:accent3>
          <a:srgbClr val="E6EEF5"/>
        </a:accent3>
        <a:accent4>
          <a:srgbClr val="000000"/>
        </a:accent4>
        <a:accent5>
          <a:srgbClr val="CACADD"/>
        </a:accent5>
        <a:accent6>
          <a:srgbClr val="43A8B0"/>
        </a:accent6>
        <a:hlink>
          <a:srgbClr val="7AC5B9"/>
        </a:hlink>
        <a:folHlink>
          <a:srgbClr val="719F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576TGp_report_light.potx" id="{C8DDBDDC-8998-4E3F-9E4D-3D82DF4B4CED}" vid="{C64A7254-B87B-4511-A5A4-0D81C86FF10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OK1</Template>
  <TotalTime>2970</TotalTime>
  <Words>2906</Words>
  <Application>Microsoft Office PowerPoint</Application>
  <PresentationFormat>On-screen Show (4:3)</PresentationFormat>
  <Paragraphs>414</Paragraphs>
  <Slides>44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Symbol</vt:lpstr>
      <vt:lpstr>Tahoma</vt:lpstr>
      <vt:lpstr>Times New Roman</vt:lpstr>
      <vt:lpstr>Times New Roman</vt:lpstr>
      <vt:lpstr>Wingdings</vt:lpstr>
      <vt:lpstr>OK1</vt:lpstr>
      <vt:lpstr>KHÁI NIỆM VỀ CON TRỎ</vt:lpstr>
      <vt:lpstr>Nội dung</vt:lpstr>
      <vt:lpstr>Địa chỉ của biến</vt:lpstr>
      <vt:lpstr>Địa chỉ của biến</vt:lpstr>
      <vt:lpstr>Địa chỉ của biến</vt:lpstr>
      <vt:lpstr>Khái niệm con trỏ</vt:lpstr>
      <vt:lpstr>Khai báo con trỏ</vt:lpstr>
      <vt:lpstr>Các biểu tượng được sử dụng trong con trỏ</vt:lpstr>
      <vt:lpstr>Toán tử địa chỉ (pointer operators)</vt:lpstr>
      <vt:lpstr>Toán tử liên kết</vt:lpstr>
      <vt:lpstr>CÁC THAO TÁC TRÊN CON TRỎ</vt:lpstr>
      <vt:lpstr>Lệnh gán con trỏ</vt:lpstr>
      <vt:lpstr>Lệnh gán con trỏ</vt:lpstr>
      <vt:lpstr>Phép gán</vt:lpstr>
      <vt:lpstr>Phép tăng giảm địa chỉ</vt:lpstr>
      <vt:lpstr>PowerPoint Presentation</vt:lpstr>
      <vt:lpstr>Cấp phát bộ nhớ động</vt:lpstr>
      <vt:lpstr>Khái niệm cấp phát động</vt:lpstr>
      <vt:lpstr>Cấp phát động bằng C</vt:lpstr>
      <vt:lpstr>Cấp phát động bằng C</vt:lpstr>
      <vt:lpstr>Cấp phát động bằng C</vt:lpstr>
      <vt:lpstr>Giải phóng bộ nhớ </vt:lpstr>
      <vt:lpstr>Con trỏ void</vt:lpstr>
      <vt:lpstr>Con trỏ void</vt:lpstr>
      <vt:lpstr>Con trỏ NULL</vt:lpstr>
      <vt:lpstr>CON TRỎ VÀ MẢNG</vt:lpstr>
      <vt:lpstr>Con trỏ và mảng</vt:lpstr>
      <vt:lpstr>Con trỏ và mảng</vt:lpstr>
      <vt:lpstr>Con trỏ và mảng</vt:lpstr>
      <vt:lpstr>Con trỏ và mảng</vt:lpstr>
      <vt:lpstr>Ví dụ</vt:lpstr>
      <vt:lpstr>/*Minh họa việc nhập dữ liệu vào mảng bằng con trỏ*/</vt:lpstr>
      <vt:lpstr>Hàm và mảng đa chiều</vt:lpstr>
      <vt:lpstr>PowerPoint Presentation</vt:lpstr>
      <vt:lpstr>PowerPoint Presentation</vt:lpstr>
      <vt:lpstr>Ví dụ</vt:lpstr>
      <vt:lpstr>Con trỏ và chuỗi ký tự</vt:lpstr>
      <vt:lpstr>PowerPoint Presentation</vt:lpstr>
      <vt:lpstr>Con trỏ đến cấu trúc</vt:lpstr>
      <vt:lpstr>VÍ DỤ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PowerTemplate</dc:title>
  <dc:creator>dtdat</dc:creator>
  <cp:lastModifiedBy>sathuan82@gmail.com</cp:lastModifiedBy>
  <cp:revision>156</cp:revision>
  <dcterms:created xsi:type="dcterms:W3CDTF">2016-11-10T08:19:54Z</dcterms:created>
  <dcterms:modified xsi:type="dcterms:W3CDTF">2021-05-27T04:18:32Z</dcterms:modified>
</cp:coreProperties>
</file>