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2" r:id="rId9"/>
    <p:sldId id="263" r:id="rId10"/>
    <p:sldId id="264" r:id="rId11"/>
    <p:sldId id="265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660"/>
  </p:normalViewPr>
  <p:slideViewPr>
    <p:cSldViewPr snapToGrid="0">
      <p:cViewPr varScale="1">
        <p:scale>
          <a:sx n="75" d="100"/>
          <a:sy n="75" d="100"/>
        </p:scale>
        <p:origin x="57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5/18/2021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5/18/2021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5/18/2021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5/18/2021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5/18/2021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5/18/2021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41C8C67-E752-414B-AFC5-8D948F13D861}"/>
              </a:ext>
            </a:extLst>
          </p:cNvPr>
          <p:cNvSpPr/>
          <p:nvPr/>
        </p:nvSpPr>
        <p:spPr>
          <a:xfrm>
            <a:off x="1950011" y="2286000"/>
            <a:ext cx="8828825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600"/>
              <a:t>BÀI 2.3: PHỦ TỐI THIỂU </a:t>
            </a:r>
          </a:p>
        </p:txBody>
      </p:sp>
    </p:spTree>
    <p:extLst>
      <p:ext uri="{BB962C8B-B14F-4D97-AF65-F5344CB8AC3E}">
        <p14:creationId xmlns:p14="http://schemas.microsoft.com/office/powerpoint/2010/main" val="3008717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EEA5F-5B0B-4EF6-94D4-B460EE496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/>
              <a:t>2.3.1. Tập phụ thuộc hàm tương đương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B6CFC-CA21-411C-AB19-57299304B09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214694"/>
            <a:ext cx="10363826" cy="3424107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vi-VN" sz="2800" cap="none"/>
              <a:t>Cho F và G là hai tập phụ thuộc hàm, ta nói F và G tương đương (hay F  phủ G  hoặc G phủ F ) và ký hiệu là F</a:t>
            </a:r>
            <a:r>
              <a:rPr lang="vi-VN" sz="2800" cap="none" baseline="30000"/>
              <a:t>+</a:t>
            </a:r>
            <a:r>
              <a:rPr lang="vi-VN" sz="2800" cap="none"/>
              <a:t>= G</a:t>
            </a:r>
            <a:r>
              <a:rPr lang="vi-VN" sz="2800" cap="none" baseline="30000"/>
              <a:t>+</a:t>
            </a:r>
            <a:r>
              <a:rPr lang="vi-VN" sz="2800" cap="none"/>
              <a:t>  nếu và chỉ nếu mỗi phụ thuộc hàm thuộc F  đều thuộc G</a:t>
            </a:r>
            <a:r>
              <a:rPr lang="vi-VN" sz="2800" cap="none" baseline="30000"/>
              <a:t>+</a:t>
            </a:r>
            <a:r>
              <a:rPr lang="vi-VN" sz="2800" cap="none"/>
              <a:t> và mỗi phụ thuộc hàm thuộc G  đều thuộc F</a:t>
            </a:r>
            <a:r>
              <a:rPr lang="vi-VN" sz="2800" cap="none" baseline="30000"/>
              <a:t>+</a:t>
            </a:r>
            <a:r>
              <a:rPr lang="vi-VN" sz="2800" cap="none"/>
              <a:t>. </a:t>
            </a:r>
            <a:endParaRPr lang="en-US" sz="2800" cap="none"/>
          </a:p>
        </p:txBody>
      </p:sp>
    </p:spTree>
    <p:extLst>
      <p:ext uri="{BB962C8B-B14F-4D97-AF65-F5344CB8AC3E}">
        <p14:creationId xmlns:p14="http://schemas.microsoft.com/office/powerpoint/2010/main" val="652020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EEA5F-5B0B-4EF6-94D4-B460EE496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012" y="119753"/>
            <a:ext cx="10364451" cy="1596177"/>
          </a:xfrm>
        </p:spPr>
        <p:txBody>
          <a:bodyPr/>
          <a:lstStyle/>
          <a:p>
            <a:r>
              <a:rPr lang="vi-VN"/>
              <a:t>Ví dụ: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B6CFC-CA21-411C-AB19-57299304B09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087" y="1429922"/>
            <a:ext cx="10363826" cy="530832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vi-VN" sz="2800" cap="none"/>
              <a:t>Chẳng hạn hai tập phụ thuộc hàm sau là  tương đương:   </a:t>
            </a:r>
            <a:endParaRPr lang="en-US" sz="2800" cap="none"/>
          </a:p>
          <a:p>
            <a:pPr marL="0" indent="0" algn="just">
              <a:lnSpc>
                <a:spcPct val="150000"/>
              </a:lnSpc>
              <a:buNone/>
            </a:pPr>
            <a:r>
              <a:rPr lang="vi-VN" sz="2800" cap="none"/>
              <a:t>Q (A,B,C)   </a:t>
            </a:r>
            <a:endParaRPr lang="en-US" sz="2800" cap="none"/>
          </a:p>
          <a:p>
            <a:pPr marL="0" indent="0" algn="just">
              <a:lnSpc>
                <a:spcPct val="150000"/>
              </a:lnSpc>
              <a:buNone/>
            </a:pPr>
            <a:r>
              <a:rPr lang="vi-VN" sz="2800" cap="none"/>
              <a:t>F = { A→B; A→C; B→A; C→A; B→C}   </a:t>
            </a:r>
            <a:endParaRPr lang="en-US" sz="2800" cap="none"/>
          </a:p>
          <a:p>
            <a:pPr marL="0" indent="0" algn="just">
              <a:lnSpc>
                <a:spcPct val="150000"/>
              </a:lnSpc>
              <a:buNone/>
            </a:pPr>
            <a:r>
              <a:rPr lang="vi-VN" sz="2800" cap="none"/>
              <a:t>G = { A→B; C→A; B→C} </a:t>
            </a:r>
            <a:endParaRPr lang="en-US" sz="2800" cap="none"/>
          </a:p>
        </p:txBody>
      </p:sp>
    </p:spTree>
    <p:extLst>
      <p:ext uri="{BB962C8B-B14F-4D97-AF65-F5344CB8AC3E}">
        <p14:creationId xmlns:p14="http://schemas.microsoft.com/office/powerpoint/2010/main" val="1129785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EEA5F-5B0B-4EF6-94D4-B460EE496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012" y="119753"/>
            <a:ext cx="10364451" cy="1596177"/>
          </a:xfrm>
        </p:spPr>
        <p:txBody>
          <a:bodyPr/>
          <a:lstStyle/>
          <a:p>
            <a:r>
              <a:rPr lang="vi-VN"/>
              <a:t>Ví dụ: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3B6CFC-CA21-411C-AB19-57299304B098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914087" y="1217166"/>
                <a:ext cx="10363826" cy="5308325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vi-VN" sz="2800" cap="none"/>
                  <a:t>Chứng minh: </a:t>
                </a:r>
                <a:endParaRPr lang="en-US" sz="2800" cap="none"/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vi-VN" sz="2800" cap="none"/>
                  <a:t>Ta nhận thấy cả F và G đều chứa A → B, C → A, B → C, ta cần chứng minh A → C và B → A thuộc G. </a:t>
                </a:r>
                <a:endParaRPr lang="en-US" sz="2800" cap="none"/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vi-VN" sz="2800" cap="none"/>
                  <a:t>Tại G ta có:  A → B và B → C </a:t>
                </a:r>
                <a14:m>
                  <m:oMath xmlns:m="http://schemas.openxmlformats.org/officeDocument/2006/math">
                    <m:r>
                      <a:rPr lang="vi-VN" sz="2800" i="1" cap="none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vi-VN" sz="2800" cap="none"/>
                  <a:t> A → C   </a:t>
                </a:r>
                <a:endParaRPr lang="en-US" sz="2800" cap="none"/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vi-VN" sz="2800" cap="none"/>
                  <a:t>B → C và C → B </a:t>
                </a:r>
                <a14:m>
                  <m:oMath xmlns:m="http://schemas.openxmlformats.org/officeDocument/2006/math">
                    <m:r>
                      <a:rPr lang="vi-VN" sz="2800" i="1" cap="none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 </m:t>
                    </m:r>
                  </m:oMath>
                </a14:m>
                <a:r>
                  <a:rPr lang="vi-VN" sz="2800" cap="none"/>
                  <a:t>B → A </a:t>
                </a:r>
                <a:endParaRPr lang="en-US" sz="2800" cap="none"/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vi-VN" sz="2800" cap="none"/>
                  <a:t>Vậy F</a:t>
                </a:r>
                <a:r>
                  <a:rPr lang="vi-VN" sz="2800" cap="none" baseline="30000"/>
                  <a:t>+</a:t>
                </a:r>
                <a:r>
                  <a:rPr lang="vi-VN" sz="2800" cap="none"/>
                  <a:t> = G</a:t>
                </a:r>
                <a:r>
                  <a:rPr lang="vi-VN" sz="2800" cap="none" baseline="30000"/>
                  <a:t>+ </a:t>
                </a:r>
                <a:endParaRPr lang="en-US" sz="2800" cap="none" baseline="3000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3B6CFC-CA21-411C-AB19-57299304B0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914087" y="1217166"/>
                <a:ext cx="10363826" cy="5308325"/>
              </a:xfrm>
              <a:blipFill>
                <a:blip r:embed="rId2"/>
                <a:stretch>
                  <a:fillRect l="-1235" r="-1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0432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EEA5F-5B0B-4EF6-94D4-B460EE496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012" y="119753"/>
            <a:ext cx="10364451" cy="1596177"/>
          </a:xfrm>
        </p:spPr>
        <p:txBody>
          <a:bodyPr/>
          <a:lstStyle/>
          <a:p>
            <a:r>
              <a:rPr lang="vi-VN"/>
              <a:t>Ví dụ: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B6CFC-CA21-411C-AB19-57299304B09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087" y="1429922"/>
            <a:ext cx="10363826" cy="5308325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vi-VN" sz="2800" cap="none" dirty="0"/>
              <a:t> Q(ABCDEGH)</a:t>
            </a:r>
            <a:endParaRPr lang="en-US" sz="2800" cap="none" dirty="0"/>
          </a:p>
          <a:p>
            <a:pPr algn="just">
              <a:lnSpc>
                <a:spcPct val="150000"/>
              </a:lnSpc>
            </a:pPr>
            <a:r>
              <a:rPr lang="vi-VN" sz="2800" cap="none" dirty="0"/>
              <a:t>F = {B → A;  DA→ CE;   D → H; GH→ C; AC→ D; DG → C</a:t>
            </a:r>
            <a:endParaRPr lang="en-US" sz="2800" cap="none" dirty="0"/>
          </a:p>
          <a:p>
            <a:pPr algn="just">
              <a:lnSpc>
                <a:spcPct val="150000"/>
              </a:lnSpc>
            </a:pPr>
            <a:r>
              <a:rPr lang="vi-VN" sz="2800" cap="none" dirty="0"/>
              <a:t>G={B→ A;  DA→ CE;   D → H; GH→ C; AC→ D ;BC →  AC;   BC → D; DA → AH;  AC → DEH} </a:t>
            </a:r>
            <a:endParaRPr lang="en-US" sz="2800" cap="none" dirty="0"/>
          </a:p>
          <a:p>
            <a:pPr algn="just">
              <a:lnSpc>
                <a:spcPct val="150000"/>
              </a:lnSpc>
            </a:pPr>
            <a:r>
              <a:rPr lang="en-US" sz="2800" cap="none" dirty="0"/>
              <a:t>F </a:t>
            </a:r>
            <a:r>
              <a:rPr lang="en-US" sz="2800" cap="none" dirty="0" err="1"/>
              <a:t>và</a:t>
            </a:r>
            <a:r>
              <a:rPr lang="en-US" sz="2800" cap="none" dirty="0"/>
              <a:t> G </a:t>
            </a:r>
            <a:r>
              <a:rPr lang="en-US" sz="2800" cap="none" dirty="0" err="1"/>
              <a:t>có</a:t>
            </a:r>
            <a:r>
              <a:rPr lang="en-US" sz="2800" cap="none" dirty="0"/>
              <a:t> t</a:t>
            </a:r>
            <a:r>
              <a:rPr lang="vi-VN" sz="2800" cap="none" dirty="0"/>
              <a:t>ư</a:t>
            </a:r>
            <a:r>
              <a:rPr lang="en-US" sz="2800" cap="none" dirty="0" err="1"/>
              <a:t>ơng</a:t>
            </a:r>
            <a:r>
              <a:rPr lang="en-US" sz="2800" cap="none" dirty="0"/>
              <a:t> đ</a:t>
            </a:r>
            <a:r>
              <a:rPr lang="vi-VN" sz="2800" cap="none" dirty="0"/>
              <a:t>ư</a:t>
            </a:r>
            <a:r>
              <a:rPr lang="en-US" sz="2800" cap="none" dirty="0" err="1"/>
              <a:t>ơng</a:t>
            </a:r>
            <a:r>
              <a:rPr lang="en-US" sz="2800" cap="none" dirty="0"/>
              <a:t> </a:t>
            </a:r>
            <a:r>
              <a:rPr lang="en-US" sz="2800" cap="none" dirty="0" err="1"/>
              <a:t>không</a:t>
            </a:r>
            <a:r>
              <a:rPr lang="en-US" sz="2800" cap="none" dirty="0"/>
              <a:t>? </a:t>
            </a:r>
            <a:r>
              <a:rPr lang="en-US" sz="2800" cap="none" dirty="0" err="1"/>
              <a:t>Chứng</a:t>
            </a:r>
            <a:r>
              <a:rPr lang="en-US" sz="2800" cap="none" dirty="0"/>
              <a:t> </a:t>
            </a:r>
            <a:r>
              <a:rPr lang="en-US" sz="2800" cap="none" dirty="0" smtClean="0"/>
              <a:t>minh</a:t>
            </a:r>
            <a:endParaRPr lang="en-US" sz="2800" cap="none" dirty="0"/>
          </a:p>
        </p:txBody>
      </p:sp>
    </p:spTree>
    <p:extLst>
      <p:ext uri="{BB962C8B-B14F-4D97-AF65-F5344CB8AC3E}">
        <p14:creationId xmlns:p14="http://schemas.microsoft.com/office/powerpoint/2010/main" val="2726479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EEA5F-5B0B-4EF6-94D4-B460EE496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3994" y="249382"/>
            <a:ext cx="10364451" cy="1596177"/>
          </a:xfrm>
        </p:spPr>
        <p:txBody>
          <a:bodyPr/>
          <a:lstStyle/>
          <a:p>
            <a:pPr algn="l"/>
            <a:r>
              <a:rPr lang="vi-VN" b="1"/>
              <a:t>2.3.2. Phủ tối thiểu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B6CFC-CA21-411C-AB19-57299304B09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087" y="1217166"/>
            <a:ext cx="10363826" cy="530832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vi-VN" sz="2800" b="1" u="sng" cap="none"/>
              <a:t>Định nghĩa </a:t>
            </a:r>
            <a:endParaRPr lang="en-US" sz="2800" b="1" u="sng" cap="none"/>
          </a:p>
          <a:p>
            <a:pPr marL="0" indent="0" algn="just">
              <a:buNone/>
            </a:pPr>
            <a:r>
              <a:rPr lang="vi-VN" sz="2800" cap="none"/>
              <a:t>F được gọi là một tập phụ thuộc hàm tối thiểu nếu F thoả đồng thời ba điều kiện sau:  </a:t>
            </a:r>
            <a:endParaRPr lang="en-US" sz="2800" cap="none"/>
          </a:p>
          <a:p>
            <a:pPr marL="0" indent="0" algn="just">
              <a:buNone/>
            </a:pPr>
            <a:r>
              <a:rPr lang="vi-VN" sz="2800" cap="none"/>
              <a:t>Điều kiện a) Vế phải của F  chỉ có một thuộc tính.  </a:t>
            </a:r>
            <a:endParaRPr lang="en-US" sz="2800" cap="none"/>
          </a:p>
          <a:p>
            <a:pPr marL="0" indent="0" algn="just">
              <a:buNone/>
            </a:pPr>
            <a:r>
              <a:rPr lang="vi-VN" sz="2800" cap="none"/>
              <a:t>Điều kiện b) Không</a:t>
            </a:r>
            <a:r>
              <a:rPr lang="en-US" sz="2800" cap="none"/>
              <a:t> </a:t>
            </a:r>
          </a:p>
          <a:p>
            <a:pPr marL="0" indent="0" algn="just">
              <a:buNone/>
            </a:pPr>
            <a:endParaRPr lang="en-US" sz="2800" cap="none"/>
          </a:p>
          <a:p>
            <a:pPr marL="0" indent="0" algn="just">
              <a:buNone/>
            </a:pPr>
            <a:r>
              <a:rPr lang="vi-VN" sz="2800" cap="none"/>
              <a:t>Điều kiện c) Không</a:t>
            </a:r>
            <a:r>
              <a:rPr lang="en-US" sz="2800" cap="none"/>
              <a:t>                      mà</a:t>
            </a:r>
          </a:p>
          <a:p>
            <a:pPr marL="0" indent="0" algn="just">
              <a:buNone/>
            </a:pPr>
            <a:r>
              <a:rPr lang="en-US" sz="2800" cap="none"/>
              <a:t>                             </a:t>
            </a:r>
            <a:r>
              <a:rPr lang="vi-VN" sz="2800" cap="none"/>
              <a:t>F </a:t>
            </a:r>
            <a:r>
              <a:rPr lang="vi-VN" sz="2800" cap="none" baseline="30000"/>
              <a:t>+</a:t>
            </a:r>
            <a:r>
              <a:rPr lang="vi-VN" sz="2800" cap="none"/>
              <a:t> = (F − (X → A))</a:t>
            </a:r>
            <a:r>
              <a:rPr lang="vi-VN" sz="2800" cap="none" baseline="30000"/>
              <a:t>+</a:t>
            </a:r>
            <a:endParaRPr lang="en-US" sz="2800" cap="none" baseline="300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74C33B-414B-4F30-A156-86CE61200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2901" y="3705658"/>
            <a:ext cx="5057775" cy="5293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CB65B4C-A7F8-4C8C-A4DD-58D30F587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0392" y="4373521"/>
            <a:ext cx="5813281" cy="618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D9F3707-6887-47F9-8024-C4A6F09D3E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2901" y="5130709"/>
            <a:ext cx="1837125" cy="38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430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B6CFC-CA21-411C-AB19-57299304B09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2787" y="825637"/>
            <a:ext cx="10363826" cy="5308325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vi-VN" sz="3600" b="1" cap="none" baseline="30000" dirty="0"/>
              <a:t>Trong đó </a:t>
            </a:r>
            <a:endParaRPr lang="en-US" sz="3600" b="1" cap="none" baseline="3000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3600" cap="none" baseline="30000" dirty="0"/>
              <a:t>Đ</a:t>
            </a:r>
            <a:r>
              <a:rPr lang="vi-VN" sz="3600" cap="none" baseline="30000" dirty="0"/>
              <a:t>iều kiện a) bảo đảm không có thuộc tính nào ở vế phải là dư thừa. </a:t>
            </a:r>
            <a:endParaRPr lang="en-US" sz="3600" cap="none" baseline="3000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3600" cap="none" baseline="30000" dirty="0"/>
              <a:t>Đ</a:t>
            </a:r>
            <a:r>
              <a:rPr lang="vi-VN" sz="3600" cap="none" baseline="30000" dirty="0"/>
              <a:t>iều kiện b) bảo đảm không có một thuộc tính nào tham gia vế trái của phụ thuộc hàm là dư thừa. </a:t>
            </a:r>
            <a:endParaRPr lang="en-US" sz="3600" cap="none" baseline="30000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3600" cap="none" baseline="30000" dirty="0"/>
              <a:t>Đ</a:t>
            </a:r>
            <a:r>
              <a:rPr lang="vi-VN" sz="3600" cap="none" baseline="30000" dirty="0"/>
              <a:t>iều kiện c) bảo đảm cho tập F không có một phụ thuộc hàm nào là dư thừa.  </a:t>
            </a:r>
            <a:endParaRPr lang="en-US" sz="3600" cap="none" baseline="30000" dirty="0"/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vi-VN" sz="3600" cap="none" baseline="30000" dirty="0"/>
              <a:t>Chú ý rằng một tập phụ thuộc hàm luôn tìm ra ít nhất một phủ tối thiểu và nếu thứ tự các phụ thuộc hàm trong tập F là khác nhau thì có thể sẽ thu được những phủ tối thiểu khác nhau</a:t>
            </a:r>
            <a:r>
              <a:rPr lang="vi-VN" sz="3200" cap="none" baseline="30000" dirty="0"/>
              <a:t>.</a:t>
            </a:r>
            <a:endParaRPr lang="en-US" sz="3200" cap="none" baseline="30000" dirty="0"/>
          </a:p>
        </p:txBody>
      </p:sp>
    </p:spTree>
    <p:extLst>
      <p:ext uri="{BB962C8B-B14F-4D97-AF65-F5344CB8AC3E}">
        <p14:creationId xmlns:p14="http://schemas.microsoft.com/office/powerpoint/2010/main" val="2034896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CD89596-B8F6-4AC2-867D-3DB2FBF915C0}"/>
              </a:ext>
            </a:extLst>
          </p:cNvPr>
          <p:cNvSpPr/>
          <p:nvPr/>
        </p:nvSpPr>
        <p:spPr>
          <a:xfrm>
            <a:off x="2598543" y="405505"/>
            <a:ext cx="844333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/>
              <a:t>2.3.3. Thuật toán tìm phủ tối thiểu G của F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A3AEDD-AF09-4CFC-A12D-D4A6DA2288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036" y="1147324"/>
            <a:ext cx="2382191" cy="6463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52095A-4449-4D21-B232-4C159D55E2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906" y="1812494"/>
            <a:ext cx="10846424" cy="9938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CEFAB46-C66D-4B8F-B7BE-CB3FA9186E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906" y="2806299"/>
            <a:ext cx="10846425" cy="21922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46820C-7A29-4B78-970E-CB881F513C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117" y="5089570"/>
            <a:ext cx="10896214" cy="1545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450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CD89596-B8F6-4AC2-867D-3DB2FBF915C0}"/>
              </a:ext>
            </a:extLst>
          </p:cNvPr>
          <p:cNvSpPr/>
          <p:nvPr/>
        </p:nvSpPr>
        <p:spPr>
          <a:xfrm>
            <a:off x="5049525" y="346095"/>
            <a:ext cx="121539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/>
              <a:t>Ví dụ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00AD1B-1F25-462D-9D8A-83DEC74EF3DF}"/>
              </a:ext>
            </a:extLst>
          </p:cNvPr>
          <p:cNvSpPr/>
          <p:nvPr/>
        </p:nvSpPr>
        <p:spPr>
          <a:xfrm>
            <a:off x="1122219" y="1235472"/>
            <a:ext cx="10640290" cy="26102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/>
              <a:t>Cho lược đồ quan hệ Q và tập phụ thuộc F như sau:  </a:t>
            </a:r>
          </a:p>
          <a:p>
            <a:pPr>
              <a:lnSpc>
                <a:spcPct val="150000"/>
              </a:lnSpc>
            </a:pPr>
            <a:r>
              <a:rPr lang="en-US" sz="2800"/>
              <a:t>Q(ABCD)  </a:t>
            </a:r>
          </a:p>
          <a:p>
            <a:pPr>
              <a:lnSpc>
                <a:spcPct val="150000"/>
              </a:lnSpc>
            </a:pPr>
            <a:r>
              <a:rPr lang="en-US" sz="2800"/>
              <a:t>F={ AB→CD; B→C; C→D}  </a:t>
            </a:r>
          </a:p>
          <a:p>
            <a:pPr>
              <a:lnSpc>
                <a:spcPct val="150000"/>
              </a:lnSpc>
            </a:pPr>
            <a:r>
              <a:rPr lang="en-US" sz="2800"/>
              <a:t>Hãy tìm phủ tối thiểu của F. </a:t>
            </a:r>
          </a:p>
        </p:txBody>
      </p:sp>
    </p:spTree>
    <p:extLst>
      <p:ext uri="{BB962C8B-B14F-4D97-AF65-F5344CB8AC3E}">
        <p14:creationId xmlns:p14="http://schemas.microsoft.com/office/powerpoint/2010/main" val="473451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CD89596-B8F6-4AC2-867D-3DB2FBF915C0}"/>
              </a:ext>
            </a:extLst>
          </p:cNvPr>
          <p:cNvSpPr/>
          <p:nvPr/>
        </p:nvSpPr>
        <p:spPr>
          <a:xfrm>
            <a:off x="4994104" y="29079"/>
            <a:ext cx="121539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/>
              <a:t>Ví dụ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269E3D-0708-42E9-8C69-58E3FF3F4675}"/>
              </a:ext>
            </a:extLst>
          </p:cNvPr>
          <p:cNvSpPr/>
          <p:nvPr/>
        </p:nvSpPr>
        <p:spPr>
          <a:xfrm>
            <a:off x="1083321" y="1414074"/>
            <a:ext cx="1036320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/>
              <a:t>Bước 2:  Tách lấy AB → CD   G = { AB → C, AB → D, B→ C, C → D}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24BC52-4A48-46C5-9940-DA680C459C42}"/>
              </a:ext>
            </a:extLst>
          </p:cNvPr>
          <p:cNvSpPr/>
          <p:nvPr/>
        </p:nvSpPr>
        <p:spPr>
          <a:xfrm>
            <a:off x="1083321" y="1937294"/>
            <a:ext cx="978130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/>
              <a:t>Bước 3:  </a:t>
            </a:r>
          </a:p>
          <a:p>
            <a:r>
              <a:rPr lang="en-US" sz="2800"/>
              <a:t>+ Xét AB → C </a:t>
            </a:r>
          </a:p>
          <a:p>
            <a:r>
              <a:rPr lang="en-US" sz="2800"/>
              <a:t>X – A = B ta có B → C </a:t>
            </a:r>
          </a:p>
          <a:p>
            <a:r>
              <a:rPr lang="en-US" sz="2800"/>
              <a:t>X – B = A không suy ra được C </a:t>
            </a:r>
          </a:p>
          <a:p>
            <a:r>
              <a:rPr lang="en-US" sz="2800"/>
              <a:t>nên loại bỏ AB → C   G = { AB → D, B→ C, C → D}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8A104C-AE3A-4549-9B27-213A70887EEA}"/>
              </a:ext>
            </a:extLst>
          </p:cNvPr>
          <p:cNvSpPr/>
          <p:nvPr/>
        </p:nvSpPr>
        <p:spPr>
          <a:xfrm>
            <a:off x="1085986" y="4394887"/>
            <a:ext cx="10247031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/>
              <a:t>+ Xét AB → D   X=AB </a:t>
            </a:r>
          </a:p>
          <a:p>
            <a:r>
              <a:rPr lang="en-US" sz="2800"/>
              <a:t>X – A = B ta có B → D (vì B → C, C→ D suy ra B → D) </a:t>
            </a:r>
          </a:p>
          <a:p>
            <a:r>
              <a:rPr lang="en-US" sz="2800"/>
              <a:t>X – B = A ta có A không suy ra được D </a:t>
            </a:r>
          </a:p>
          <a:p>
            <a:r>
              <a:rPr lang="en-US" sz="2800"/>
              <a:t>vậy loại bỏ AB → D thay bằng B → D có G = {B → D, B→ C, C → D}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90378F2-9612-4A28-A2D6-31B9106EA01E}"/>
              </a:ext>
            </a:extLst>
          </p:cNvPr>
          <p:cNvSpPr/>
          <p:nvPr/>
        </p:nvSpPr>
        <p:spPr>
          <a:xfrm>
            <a:off x="1083321" y="937020"/>
            <a:ext cx="61230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/>
              <a:t>Bước 1: G = { AB → CD, B→ C, C → D} </a:t>
            </a:r>
          </a:p>
        </p:txBody>
      </p:sp>
    </p:spTree>
    <p:extLst>
      <p:ext uri="{BB962C8B-B14F-4D97-AF65-F5344CB8AC3E}">
        <p14:creationId xmlns:p14="http://schemas.microsoft.com/office/powerpoint/2010/main" val="2442749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1" dur="2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6" dur="2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2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CD89596-B8F6-4AC2-867D-3DB2FBF915C0}"/>
              </a:ext>
            </a:extLst>
          </p:cNvPr>
          <p:cNvSpPr/>
          <p:nvPr/>
        </p:nvSpPr>
        <p:spPr>
          <a:xfrm>
            <a:off x="5049525" y="346095"/>
            <a:ext cx="121539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/>
              <a:t>Ví dụ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523F2EB-EF94-400E-8EBD-F188BF359C38}"/>
                  </a:ext>
                </a:extLst>
              </p:cNvPr>
              <p:cNvSpPr/>
              <p:nvPr/>
            </p:nvSpPr>
            <p:spPr>
              <a:xfrm>
                <a:off x="1205345" y="992426"/>
                <a:ext cx="9892146" cy="849463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800"/>
                  <a:t>Bước 4: G = {B → D, B→ C, C → D}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800"/>
                  <a:t>+ Xét (G-{B → D})</a:t>
                </a:r>
                <a:r>
                  <a:rPr lang="en-US" sz="2800" baseline="30000"/>
                  <a:t>+</a:t>
                </a:r>
                <a:r>
                  <a:rPr lang="en-US" sz="2800"/>
                  <a:t>= G</a:t>
                </a:r>
                <a:r>
                  <a:rPr lang="en-US" sz="2800" baseline="30000"/>
                  <a:t>+</a:t>
                </a:r>
                <a:r>
                  <a:rPr lang="en-US" sz="2800"/>
                  <a:t> loại B → D          G = {B→ C, C → D}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800"/>
                  <a:t>+ Xét (G-{B→ C})</a:t>
                </a:r>
                <a:r>
                  <a:rPr lang="en-US" sz="2800" baseline="30000"/>
                  <a:t>+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/>
                  <a:t>G</a:t>
                </a:r>
                <a:r>
                  <a:rPr lang="en-US" sz="2800" baseline="30000"/>
                  <a:t>+</a:t>
                </a:r>
                <a:r>
                  <a:rPr lang="en-US" sz="2800"/>
                  <a:t>  ko loại B → C      G = {B→ C, C → D}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800"/>
                  <a:t>+ Xét (G-{C→ D})</a:t>
                </a:r>
                <a:r>
                  <a:rPr lang="en-US" sz="2800" baseline="30000"/>
                  <a:t>+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 </m:t>
                    </m:r>
                  </m:oMath>
                </a14:m>
                <a:r>
                  <a:rPr lang="en-US" sz="2800"/>
                  <a:t>G</a:t>
                </a:r>
                <a:r>
                  <a:rPr lang="en-US" sz="2800" baseline="30000"/>
                  <a:t>+</a:t>
                </a:r>
                <a:r>
                  <a:rPr lang="en-US" sz="2800"/>
                  <a:t>  ko loại C → D      G = {B→ C, C → D}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800"/>
                  <a:t>KẾT LUẬN: G = {B→ C, C → D} là phủ tối thiểu của F={ AB→CD; B→C; C→D}  </a:t>
                </a:r>
              </a:p>
              <a:p>
                <a:pPr>
                  <a:lnSpc>
                    <a:spcPct val="150000"/>
                  </a:lnSpc>
                </a:pPr>
                <a:endParaRPr lang="en-US" sz="2800"/>
              </a:p>
              <a:p>
                <a:pPr>
                  <a:lnSpc>
                    <a:spcPct val="150000"/>
                  </a:lnSpc>
                </a:pPr>
                <a:endParaRPr lang="en-US" sz="2800"/>
              </a:p>
              <a:p>
                <a:pPr>
                  <a:lnSpc>
                    <a:spcPct val="150000"/>
                  </a:lnSpc>
                </a:pPr>
                <a:endParaRPr lang="en-US" sz="2800"/>
              </a:p>
              <a:p>
                <a:pPr>
                  <a:lnSpc>
                    <a:spcPct val="150000"/>
                  </a:lnSpc>
                </a:pPr>
                <a:endParaRPr lang="en-US" sz="2800"/>
              </a:p>
              <a:p>
                <a:pPr>
                  <a:lnSpc>
                    <a:spcPct val="150000"/>
                  </a:lnSpc>
                </a:pPr>
                <a:endParaRPr lang="en-US" sz="2800"/>
              </a:p>
              <a:p>
                <a:endParaRPr lang="en-US" sz="2800"/>
              </a:p>
              <a:p>
                <a:r>
                  <a:rPr lang="en-US" sz="2800"/>
                  <a:t>    </a:t>
                </a:r>
              </a:p>
              <a:p>
                <a:r>
                  <a:rPr lang="en-US" sz="2800"/>
                  <a:t>   </a:t>
                </a:r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3523F2EB-EF94-400E-8EBD-F188BF359C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5345" y="992426"/>
                <a:ext cx="9892146" cy="8494633"/>
              </a:xfrm>
              <a:prstGeom prst="rect">
                <a:avLst/>
              </a:prstGeom>
              <a:blipFill>
                <a:blip r:embed="rId2"/>
                <a:stretch>
                  <a:fillRect l="-12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145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CD89596-B8F6-4AC2-867D-3DB2FBF915C0}"/>
              </a:ext>
            </a:extLst>
          </p:cNvPr>
          <p:cNvSpPr/>
          <p:nvPr/>
        </p:nvSpPr>
        <p:spPr>
          <a:xfrm>
            <a:off x="1189286" y="574695"/>
            <a:ext cx="989886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 err="1"/>
              <a:t>Xác</a:t>
            </a:r>
            <a:r>
              <a:rPr lang="en-US" sz="3600" b="1" dirty="0"/>
              <a:t> </a:t>
            </a:r>
            <a:r>
              <a:rPr lang="en-US" sz="3600" b="1" dirty="0" err="1"/>
              <a:t>định</a:t>
            </a:r>
            <a:r>
              <a:rPr lang="en-US" sz="3600" b="1" dirty="0"/>
              <a:t> </a:t>
            </a:r>
            <a:r>
              <a:rPr lang="en-US" sz="3600" b="1" dirty="0" err="1"/>
              <a:t>phủ</a:t>
            </a:r>
            <a:r>
              <a:rPr lang="en-US" sz="3600" b="1" dirty="0"/>
              <a:t> </a:t>
            </a:r>
            <a:r>
              <a:rPr lang="en-US" sz="3600" b="1" dirty="0" err="1"/>
              <a:t>tối</a:t>
            </a:r>
            <a:r>
              <a:rPr lang="en-US" sz="3600" b="1" dirty="0"/>
              <a:t> </a:t>
            </a:r>
            <a:r>
              <a:rPr lang="en-US" sz="3600" b="1" dirty="0" err="1"/>
              <a:t>thiểu</a:t>
            </a:r>
            <a:r>
              <a:rPr lang="en-US" sz="3600" b="1" dirty="0"/>
              <a:t> </a:t>
            </a:r>
            <a:r>
              <a:rPr lang="en-US" sz="3600" b="1" dirty="0" err="1"/>
              <a:t>của</a:t>
            </a:r>
            <a:r>
              <a:rPr lang="en-US" sz="3600" b="1" dirty="0"/>
              <a:t> </a:t>
            </a:r>
            <a:r>
              <a:rPr lang="en-US" sz="3600" b="1" dirty="0" err="1"/>
              <a:t>tập</a:t>
            </a:r>
            <a:r>
              <a:rPr lang="en-US" sz="3600" b="1" dirty="0"/>
              <a:t> </a:t>
            </a:r>
            <a:r>
              <a:rPr lang="en-US" sz="3600" b="1" dirty="0" err="1"/>
              <a:t>phụ</a:t>
            </a:r>
            <a:r>
              <a:rPr lang="en-US" sz="3600" b="1" dirty="0"/>
              <a:t> </a:t>
            </a:r>
            <a:r>
              <a:rPr lang="en-US" sz="3600" b="1" dirty="0" err="1"/>
              <a:t>thuộc</a:t>
            </a:r>
            <a:r>
              <a:rPr lang="en-US" sz="3600" b="1" dirty="0"/>
              <a:t> </a:t>
            </a:r>
            <a:r>
              <a:rPr lang="en-US" sz="3600" b="1" dirty="0" err="1"/>
              <a:t>hàm</a:t>
            </a:r>
            <a:r>
              <a:rPr lang="en-US" sz="3600" b="1" dirty="0"/>
              <a:t> </a:t>
            </a:r>
            <a:r>
              <a:rPr lang="en-US" sz="3600" b="1" dirty="0" err="1"/>
              <a:t>sau</a:t>
            </a:r>
            <a:r>
              <a:rPr lang="en-US" sz="3600" b="1" dirty="0"/>
              <a:t>:</a:t>
            </a:r>
            <a:endParaRPr lang="en-US" sz="3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23F2EB-EF94-400E-8EBD-F188BF359C38}"/>
              </a:ext>
            </a:extLst>
          </p:cNvPr>
          <p:cNvSpPr/>
          <p:nvPr/>
        </p:nvSpPr>
        <p:spPr>
          <a:xfrm>
            <a:off x="1065645" y="1221026"/>
            <a:ext cx="9892146" cy="90486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 smtClean="0"/>
              <a:t>Q(ABCDEGH)    </a:t>
            </a:r>
            <a:endParaRPr lang="en-US" sz="2800" dirty="0" smtClean="0"/>
          </a:p>
          <a:p>
            <a:pPr>
              <a:lnSpc>
                <a:spcPct val="150000"/>
              </a:lnSpc>
            </a:pPr>
            <a:r>
              <a:rPr lang="en-US" sz="2800" dirty="0" smtClean="0"/>
              <a:t>F=</a:t>
            </a:r>
            <a:r>
              <a:rPr lang="en-US" sz="2800" dirty="0"/>
              <a:t>{</a:t>
            </a:r>
            <a:r>
              <a:rPr lang="en-US" sz="2800" dirty="0" smtClean="0"/>
              <a:t>A </a:t>
            </a:r>
            <a:r>
              <a:rPr lang="en-US" sz="2800" dirty="0"/>
              <a:t>→ </a:t>
            </a:r>
            <a:r>
              <a:rPr lang="en-US" sz="2800" dirty="0" smtClean="0"/>
              <a:t>BC; AD </a:t>
            </a:r>
            <a:r>
              <a:rPr lang="en-US" sz="2800" dirty="0"/>
              <a:t>→ </a:t>
            </a:r>
            <a:r>
              <a:rPr lang="en-US" sz="2800" dirty="0" smtClean="0"/>
              <a:t>E; CH </a:t>
            </a:r>
            <a:r>
              <a:rPr lang="en-US" sz="2800" dirty="0"/>
              <a:t>→ </a:t>
            </a:r>
            <a:r>
              <a:rPr lang="en-US" sz="2800" dirty="0" smtClean="0"/>
              <a:t>G; AB-&gt;G; G-&gt;E}</a:t>
            </a:r>
          </a:p>
          <a:p>
            <a:pPr>
              <a:lnSpc>
                <a:spcPct val="150000"/>
              </a:lnSpc>
            </a:pPr>
            <a:r>
              <a:rPr lang="en-GB" sz="2800" dirty="0" smtClean="0"/>
              <a:t>B1: G</a:t>
            </a:r>
            <a:r>
              <a:rPr lang="en-US" sz="2800" dirty="0"/>
              <a:t> ={A </a:t>
            </a:r>
            <a:r>
              <a:rPr lang="en-US" sz="2800" dirty="0" smtClean="0"/>
              <a:t>→ </a:t>
            </a:r>
            <a:r>
              <a:rPr lang="en-US" sz="2800" dirty="0"/>
              <a:t>BC; AD → E; CH → G; AB-&gt;G; G-&gt;E</a:t>
            </a:r>
            <a:r>
              <a:rPr lang="en-US" sz="2800" dirty="0" smtClean="0"/>
              <a:t>}</a:t>
            </a:r>
          </a:p>
          <a:p>
            <a:pPr>
              <a:lnSpc>
                <a:spcPct val="150000"/>
              </a:lnSpc>
            </a:pPr>
            <a:r>
              <a:rPr lang="en-GB" sz="2800" dirty="0"/>
              <a:t>B2: G</a:t>
            </a:r>
            <a:r>
              <a:rPr lang="en-US" sz="2800" dirty="0"/>
              <a:t> ={A → </a:t>
            </a:r>
            <a:r>
              <a:rPr lang="en-US" sz="2800" dirty="0" smtClean="0"/>
              <a:t>B; A-&gt;C; AD </a:t>
            </a:r>
            <a:r>
              <a:rPr lang="en-US" sz="2800" dirty="0"/>
              <a:t>→ E; CH → G; AB-&gt;G; G-&gt;E</a:t>
            </a:r>
            <a:r>
              <a:rPr lang="en-US" sz="2800" dirty="0" smtClean="0"/>
              <a:t>}</a:t>
            </a:r>
          </a:p>
          <a:p>
            <a:pPr>
              <a:lnSpc>
                <a:spcPct val="150000"/>
              </a:lnSpc>
            </a:pPr>
            <a:endParaRPr lang="en-US" sz="2800" dirty="0"/>
          </a:p>
          <a:p>
            <a:pPr>
              <a:lnSpc>
                <a:spcPct val="150000"/>
              </a:lnSpc>
            </a:pPr>
            <a:endParaRPr lang="en-US" sz="2800" dirty="0"/>
          </a:p>
          <a:p>
            <a:endParaRPr lang="en-GB" dirty="0"/>
          </a:p>
          <a:p>
            <a:endParaRPr lang="en-US" dirty="0"/>
          </a:p>
          <a:p>
            <a:pPr>
              <a:lnSpc>
                <a:spcPct val="150000"/>
              </a:lnSpc>
            </a:pPr>
            <a:endParaRPr lang="en-US" sz="2800" dirty="0"/>
          </a:p>
          <a:p>
            <a:pPr>
              <a:lnSpc>
                <a:spcPct val="150000"/>
              </a:lnSpc>
            </a:pPr>
            <a:endParaRPr lang="en-US" sz="2800" dirty="0"/>
          </a:p>
          <a:p>
            <a:pPr>
              <a:lnSpc>
                <a:spcPct val="150000"/>
              </a:lnSpc>
            </a:pPr>
            <a:endParaRPr lang="en-US" sz="2800" dirty="0"/>
          </a:p>
          <a:p>
            <a:pPr>
              <a:lnSpc>
                <a:spcPct val="150000"/>
              </a:lnSpc>
            </a:pPr>
            <a:endParaRPr lang="en-US" sz="2800" dirty="0"/>
          </a:p>
          <a:p>
            <a:pPr>
              <a:lnSpc>
                <a:spcPct val="150000"/>
              </a:lnSpc>
            </a:pPr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    </a:t>
            </a:r>
          </a:p>
          <a:p>
            <a:r>
              <a:rPr lang="en-US" sz="2800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052136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1C647B"/>
      </a:dk2>
      <a:lt2>
        <a:srgbClr val="98B7D3"/>
      </a:lt2>
      <a:accent1>
        <a:srgbClr val="274FA4"/>
      </a:accent1>
      <a:accent2>
        <a:srgbClr val="48A8D0"/>
      </a:accent2>
      <a:accent3>
        <a:srgbClr val="53B18F"/>
      </a:accent3>
      <a:accent4>
        <a:srgbClr val="D78D38"/>
      </a:accent4>
      <a:accent5>
        <a:srgbClr val="BA3F51"/>
      </a:accent5>
      <a:accent6>
        <a:srgbClr val="AE52D9"/>
      </a:accent6>
      <a:hlink>
        <a:srgbClr val="2AA2DA"/>
      </a:hlink>
      <a:folHlink>
        <a:srgbClr val="76A3B8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DEB094D4-7FD8-4F86-93D5-B0F1341EF58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1447</TotalTime>
  <Words>911</Words>
  <Application>Microsoft Office PowerPoint</Application>
  <PresentationFormat>Widescreen</PresentationFormat>
  <Paragraphs>81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Cambria Math</vt:lpstr>
      <vt:lpstr>Times New Roman</vt:lpstr>
      <vt:lpstr>Tw Cen MT</vt:lpstr>
      <vt:lpstr>Wingdings</vt:lpstr>
      <vt:lpstr>Droplet</vt:lpstr>
      <vt:lpstr>PowerPoint Presentation</vt:lpstr>
      <vt:lpstr>2.3.1. Tập phụ thuộc hàm tương đương</vt:lpstr>
      <vt:lpstr>Ví dụ:</vt:lpstr>
      <vt:lpstr>Ví dụ:</vt:lpstr>
      <vt:lpstr>Ví dụ:</vt:lpstr>
      <vt:lpstr>2.3.2. Phủ tối thiểu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ngans</dc:creator>
  <cp:lastModifiedBy>ADMIN</cp:lastModifiedBy>
  <cp:revision>19</cp:revision>
  <dcterms:created xsi:type="dcterms:W3CDTF">2020-04-11T07:37:55Z</dcterms:created>
  <dcterms:modified xsi:type="dcterms:W3CDTF">2021-05-18T10:09:29Z</dcterms:modified>
</cp:coreProperties>
</file>