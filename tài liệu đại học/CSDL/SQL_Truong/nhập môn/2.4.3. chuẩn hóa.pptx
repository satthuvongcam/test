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6/15/2021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98AA-3BEA-49C2-9B33-748FA1F56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3580" y="2596837"/>
            <a:ext cx="8361229" cy="20982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2.4.3. Chuẩn hóa quan hệ </a:t>
            </a:r>
          </a:p>
        </p:txBody>
      </p:sp>
    </p:spTree>
    <p:extLst>
      <p:ext uri="{BB962C8B-B14F-4D97-AF65-F5344CB8AC3E}">
        <p14:creationId xmlns:p14="http://schemas.microsoft.com/office/powerpoint/2010/main" val="350640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451EF-CDE2-4E30-A551-A11788612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576469"/>
            <a:ext cx="9601200" cy="35814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vi-VN" sz="2800"/>
              <a:t>Chuẩn hoá quan hệ là việc phân rã một lược đồ quan hệ thành các lược đồ con ở dạng chuẩn 3 hoặc ở BCNF sao cho vẫn bảo toàn phụ thuộc và không mất mát dữ liệu</a:t>
            </a:r>
            <a:r>
              <a:rPr lang="vi-VN"/>
              <a:t>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8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7748"/>
            <a:ext cx="9601200" cy="1485900"/>
          </a:xfrm>
        </p:spPr>
        <p:txBody>
          <a:bodyPr>
            <a:normAutofit fontScale="90000"/>
          </a:bodyPr>
          <a:lstStyle/>
          <a:p>
            <a:pPr algn="just">
              <a:lnSpc>
                <a:spcPct val="120000"/>
              </a:lnSpc>
            </a:pPr>
            <a:r>
              <a:rPr lang="en-US" sz="3600" b="1"/>
              <a:t>2.4.3.1.</a:t>
            </a:r>
            <a:r>
              <a:rPr lang="vi-VN" sz="3600" b="1"/>
              <a:t> Thuật toán phân rã lược đồ quan hệ thành các lược đồ quan hệ con ở BCNF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3648"/>
            <a:ext cx="9601200" cy="431358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vi-VN" sz="2800" dirty="0"/>
              <a:t>Input:  </a:t>
            </a:r>
            <a:endParaRPr lang="en-US" sz="2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 dirty="0"/>
              <a:t>- Lược đồ quan hệ R   </a:t>
            </a:r>
            <a:endParaRPr lang="en-US" sz="28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 dirty="0"/>
              <a:t>- Tập phụ thuộc hàm F 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vi-VN" sz="2800" dirty="0"/>
              <a:t>Output: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GB" sz="2800"/>
              <a:t>M</a:t>
            </a:r>
            <a:r>
              <a:rPr lang="vi-VN" sz="2800"/>
              <a:t>ỗi </a:t>
            </a:r>
            <a:r>
              <a:rPr lang="vi-VN" sz="2800" dirty="0"/>
              <a:t>lược đồ quan hệ trong phép tách đều ở dạng BCNF đối với phép chiếu của F trên lược đồ đó.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787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7748"/>
            <a:ext cx="9601200" cy="14859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vi-VN" b="1"/>
              <a:t>Các bước của thuật toán: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5" y="1464364"/>
            <a:ext cx="9601200" cy="50258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/>
              <a:t>Ban đầu phép tách </a:t>
            </a:r>
            <a:r>
              <a:rPr lang="el-GR" sz="2800" dirty="0"/>
              <a:t>ρ </a:t>
            </a:r>
            <a:r>
              <a:rPr lang="vi-VN" sz="2800" dirty="0"/>
              <a:t>chỉ bao gồm R. 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GB" sz="2800" dirty="0" err="1"/>
              <a:t>Xét</a:t>
            </a:r>
            <a:r>
              <a:rPr lang="en-GB" sz="2800" dirty="0"/>
              <a:t> </a:t>
            </a:r>
            <a:r>
              <a:rPr lang="en-GB" sz="2800" dirty="0" err="1"/>
              <a:t>các</a:t>
            </a:r>
            <a:r>
              <a:rPr lang="en-GB" sz="2800" dirty="0"/>
              <a:t> </a:t>
            </a:r>
            <a:r>
              <a:rPr lang="en-GB" sz="2800" dirty="0" err="1"/>
              <a:t>pth</a:t>
            </a:r>
            <a:r>
              <a:rPr lang="en-GB" sz="2800" dirty="0"/>
              <a:t> X-&gt;A </a:t>
            </a:r>
            <a:r>
              <a:rPr lang="en-GB" sz="2800" dirty="0" err="1"/>
              <a:t>không</a:t>
            </a:r>
            <a:r>
              <a:rPr lang="en-GB" sz="2800" dirty="0"/>
              <a:t> </a:t>
            </a:r>
            <a:r>
              <a:rPr lang="en-GB" sz="2800" dirty="0" err="1"/>
              <a:t>thỏa</a:t>
            </a:r>
            <a:r>
              <a:rPr lang="en-GB" sz="2800" dirty="0"/>
              <a:t> </a:t>
            </a:r>
            <a:r>
              <a:rPr lang="en-GB" sz="2800" dirty="0" err="1"/>
              <a:t>mãn</a:t>
            </a:r>
            <a:r>
              <a:rPr lang="en-GB" sz="2800" dirty="0"/>
              <a:t> </a:t>
            </a:r>
            <a:r>
              <a:rPr lang="en-GB" sz="2800" dirty="0" err="1"/>
              <a:t>chuẩn</a:t>
            </a:r>
            <a:r>
              <a:rPr lang="en-GB" sz="2800" dirty="0"/>
              <a:t> BCNF </a:t>
            </a:r>
            <a:r>
              <a:rPr lang="en-GB" sz="2800" dirty="0" err="1"/>
              <a:t>tách</a:t>
            </a:r>
            <a:r>
              <a:rPr lang="en-GB" sz="2800" dirty="0"/>
              <a:t> </a:t>
            </a:r>
            <a:r>
              <a:rPr lang="en-GB" sz="2800" dirty="0" err="1"/>
              <a:t>thành</a:t>
            </a:r>
            <a:r>
              <a:rPr lang="en-GB" sz="2800" dirty="0"/>
              <a:t> </a:t>
            </a:r>
            <a:r>
              <a:rPr lang="vi-VN" sz="2800" dirty="0"/>
              <a:t>S1 = XA, S2 = S\A. 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vi-VN" sz="2800" dirty="0"/>
              <a:t>Quá trình trên tiếp tục cho đến khi tất cả các lược đồ quan hệ đều ở dạng BCNF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5812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27992"/>
            <a:ext cx="9601200" cy="14859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b="1"/>
              <a:t>Ví dụ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5" y="1464364"/>
            <a:ext cx="9601200" cy="50258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/>
              <a:t> </a:t>
            </a:r>
            <a:r>
              <a:rPr lang="en-US" sz="2800"/>
              <a:t>Q</a:t>
            </a:r>
            <a:r>
              <a:rPr lang="vi-VN" sz="2800"/>
              <a:t>(C</a:t>
            </a:r>
            <a:r>
              <a:rPr lang="en-US" sz="2800"/>
              <a:t>SZ</a:t>
            </a:r>
            <a:r>
              <a:rPr lang="vi-VN" sz="2800"/>
              <a:t>)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en-US" sz="2800"/>
              <a:t>F={CS → Z, Z →C}</a:t>
            </a:r>
          </a:p>
          <a:p>
            <a:pPr algn="just">
              <a:lnSpc>
                <a:spcPct val="150000"/>
              </a:lnSpc>
            </a:pPr>
            <a:r>
              <a:rPr lang="en-US" sz="2800" b="1"/>
              <a:t>Giải:  </a:t>
            </a:r>
            <a:r>
              <a:rPr lang="en-US" sz="2800"/>
              <a:t>Tìm siêu khóa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800"/>
              <a:t>TN={S}   TG={C, Z}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D70843D-1FEC-46DD-9282-BB88AB9E8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5846025"/>
                  </p:ext>
                </p:extLst>
              </p:nvPr>
            </p:nvGraphicFramePr>
            <p:xfrm>
              <a:off x="2031999" y="4651956"/>
              <a:ext cx="677333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3079">
                      <a:extLst>
                        <a:ext uri="{9D8B030D-6E8A-4147-A177-3AD203B41FA5}">
                          <a16:colId xmlns:a16="http://schemas.microsoft.com/office/drawing/2014/main" val="3331757067"/>
                        </a:ext>
                      </a:extLst>
                    </a:gridCol>
                    <a:gridCol w="1216255">
                      <a:extLst>
                        <a:ext uri="{9D8B030D-6E8A-4147-A177-3AD203B41FA5}">
                          <a16:colId xmlns:a16="http://schemas.microsoft.com/office/drawing/2014/main" val="277538289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17932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811891615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732985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TG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TN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 TG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(TN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</m:oMath>
                          </a14:m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 TG)</a:t>
                          </a:r>
                          <a:r>
                            <a:rPr lang="en-US" baseline="30000">
                              <a:solidFill>
                                <a:schemeClr val="tx1"/>
                              </a:solidFill>
                            </a:rPr>
                            <a:t>+</a:t>
                          </a:r>
                          <a:endParaRPr lang="en-US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Siêu khóa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Khóa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67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120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2184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226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1272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FD70843D-1FEC-46DD-9282-BB88AB9E8B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5846025"/>
                  </p:ext>
                </p:extLst>
              </p:nvPr>
            </p:nvGraphicFramePr>
            <p:xfrm>
              <a:off x="2031999" y="4651956"/>
              <a:ext cx="6773335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3079">
                      <a:extLst>
                        <a:ext uri="{9D8B030D-6E8A-4147-A177-3AD203B41FA5}">
                          <a16:colId xmlns:a16="http://schemas.microsoft.com/office/drawing/2014/main" val="3331757067"/>
                        </a:ext>
                      </a:extLst>
                    </a:gridCol>
                    <a:gridCol w="1216255">
                      <a:extLst>
                        <a:ext uri="{9D8B030D-6E8A-4147-A177-3AD203B41FA5}">
                          <a16:colId xmlns:a16="http://schemas.microsoft.com/office/drawing/2014/main" val="277538289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17932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811891615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16732985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TG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23000" t="-8197" r="-335500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901" t="-8197" r="-202252" b="-4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Siêu khóa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tx1"/>
                              </a:solidFill>
                            </a:rPr>
                            <a:t>Khóa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880673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8" t="-108197" r="-355510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3120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21846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ZS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72268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CZ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CSZ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Q</a:t>
                          </a:r>
                          <a:r>
                            <a:rPr lang="en-US" baseline="30000"/>
                            <a:t>+</a:t>
                          </a:r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/>
                            <a:t>CSZ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12726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31261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27992"/>
            <a:ext cx="9601200" cy="14859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b="1"/>
              <a:t>Ví dụ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5" y="1464364"/>
            <a:ext cx="9601200" cy="50258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/>
              <a:t> </a:t>
            </a:r>
            <a:r>
              <a:rPr lang="en-US" sz="2800"/>
              <a:t>Q</a:t>
            </a:r>
            <a:r>
              <a:rPr lang="vi-VN" sz="2800"/>
              <a:t>(C</a:t>
            </a:r>
            <a:r>
              <a:rPr lang="en-US" sz="2800"/>
              <a:t>SZ</a:t>
            </a:r>
            <a:r>
              <a:rPr lang="vi-VN" sz="2800"/>
              <a:t>)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en-US" sz="2800"/>
              <a:t>F={CS → Z, Z →C}</a:t>
            </a:r>
          </a:p>
          <a:p>
            <a:pPr algn="just">
              <a:lnSpc>
                <a:spcPct val="150000"/>
              </a:lnSpc>
            </a:pPr>
            <a:r>
              <a:rPr lang="en-US" sz="2800"/>
              <a:t>S=(CSZ) có phụ thuộc hàm Z →C vi phạm định nghĩa =&gt;thay S bởi S1=ZC ;    S2= SZ</a:t>
            </a:r>
          </a:p>
          <a:p>
            <a:pPr algn="just">
              <a:lnSpc>
                <a:spcPct val="150000"/>
              </a:lnSpc>
            </a:pPr>
            <a:r>
              <a:rPr lang="en-US" sz="2800"/>
              <a:t>Kiểm tra tính không mất mát thông tin</a:t>
            </a:r>
          </a:p>
        </p:txBody>
      </p:sp>
    </p:spTree>
    <p:extLst>
      <p:ext uri="{BB962C8B-B14F-4D97-AF65-F5344CB8AC3E}">
        <p14:creationId xmlns:p14="http://schemas.microsoft.com/office/powerpoint/2010/main" val="293064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27992"/>
            <a:ext cx="9601200" cy="14859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b="1"/>
              <a:t>Ví dụ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5" y="1464364"/>
            <a:ext cx="9601200" cy="502588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/>
              <a:t> R(CTHRSG)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/>
              <a:t>F={C → T, HR →C, HT→ R, CS→G, HS → R}</a:t>
            </a:r>
          </a:p>
          <a:p>
            <a:pPr algn="just">
              <a:lnSpc>
                <a:spcPct val="150000"/>
              </a:lnSpc>
            </a:pPr>
            <a:r>
              <a:rPr lang="en-US" sz="2800" dirty="0" err="1"/>
              <a:t>Khóa</a:t>
            </a:r>
            <a:r>
              <a:rPr lang="en-US" sz="2800" dirty="0"/>
              <a:t> HS</a:t>
            </a:r>
          </a:p>
        </p:txBody>
      </p:sp>
    </p:spTree>
    <p:extLst>
      <p:ext uri="{BB962C8B-B14F-4D97-AF65-F5344CB8AC3E}">
        <p14:creationId xmlns:p14="http://schemas.microsoft.com/office/powerpoint/2010/main" val="102449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CBDB9D-64A6-4B06-97AE-AEAEA1A5BE7C}"/>
              </a:ext>
            </a:extLst>
          </p:cNvPr>
          <p:cNvSpPr txBox="1"/>
          <p:nvPr/>
        </p:nvSpPr>
        <p:spPr>
          <a:xfrm>
            <a:off x="3233531" y="596347"/>
            <a:ext cx="1820297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/>
              <a:t>R(CTHRSG)</a:t>
            </a:r>
            <a:endParaRPr 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1378BF-073B-4256-ABB1-BA07EF2AB47E}"/>
              </a:ext>
            </a:extLst>
          </p:cNvPr>
          <p:cNvSpPr/>
          <p:nvPr/>
        </p:nvSpPr>
        <p:spPr>
          <a:xfrm>
            <a:off x="5950725" y="307475"/>
            <a:ext cx="2615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 → T	      HT→ R</a:t>
            </a:r>
          </a:p>
          <a:p>
            <a:r>
              <a:rPr lang="en-US" sz="2400" dirty="0"/>
              <a:t>HR →C	CS→G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579CD5-6675-4692-9357-F61821E81C5F}"/>
              </a:ext>
            </a:extLst>
          </p:cNvPr>
          <p:cNvCxnSpPr/>
          <p:nvPr/>
        </p:nvCxnSpPr>
        <p:spPr>
          <a:xfrm flipH="1">
            <a:off x="2888974" y="1200061"/>
            <a:ext cx="993913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85A8C9-E57B-4BAC-9431-D2B62551125F}"/>
              </a:ext>
            </a:extLst>
          </p:cNvPr>
          <p:cNvCxnSpPr>
            <a:cxnSpLocks/>
          </p:cNvCxnSpPr>
          <p:nvPr/>
        </p:nvCxnSpPr>
        <p:spPr>
          <a:xfrm>
            <a:off x="4461732" y="1200061"/>
            <a:ext cx="910148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300420D-DF8A-4B4C-A4ED-195268536BE4}"/>
              </a:ext>
            </a:extLst>
          </p:cNvPr>
          <p:cNvSpPr/>
          <p:nvPr/>
        </p:nvSpPr>
        <p:spPr>
          <a:xfrm>
            <a:off x="3650372" y="1428148"/>
            <a:ext cx="10438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CS→G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0A36BA-2C70-4B44-BAB8-9C45CF164E30}"/>
              </a:ext>
            </a:extLst>
          </p:cNvPr>
          <p:cNvSpPr txBox="1"/>
          <p:nvPr/>
        </p:nvSpPr>
        <p:spPr>
          <a:xfrm>
            <a:off x="1868557" y="1853825"/>
            <a:ext cx="1820297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 dirty="0"/>
              <a:t>R</a:t>
            </a:r>
            <a:r>
              <a:rPr lang="en-US" sz="2400" dirty="0"/>
              <a:t>1</a:t>
            </a:r>
            <a:r>
              <a:rPr lang="vi-VN" sz="2400" dirty="0"/>
              <a:t>(CSG)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42B388-515B-47CD-87B4-9444C6F66F22}"/>
              </a:ext>
            </a:extLst>
          </p:cNvPr>
          <p:cNvSpPr txBox="1"/>
          <p:nvPr/>
        </p:nvSpPr>
        <p:spPr>
          <a:xfrm>
            <a:off x="4547373" y="1880952"/>
            <a:ext cx="1820297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/>
              <a:t>R</a:t>
            </a:r>
            <a:r>
              <a:rPr lang="en-US" sz="2400"/>
              <a:t>2</a:t>
            </a:r>
            <a:r>
              <a:rPr lang="vi-VN" sz="2400"/>
              <a:t>(CTHRS)</a:t>
            </a:r>
            <a:endParaRPr lang="en-US" sz="2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0C2F3-4A40-4FD1-926F-315C42500968}"/>
              </a:ext>
            </a:extLst>
          </p:cNvPr>
          <p:cNvSpPr/>
          <p:nvPr/>
        </p:nvSpPr>
        <p:spPr>
          <a:xfrm>
            <a:off x="6723604" y="1815548"/>
            <a:ext cx="2615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 → T	      HT→ R</a:t>
            </a:r>
          </a:p>
          <a:p>
            <a:r>
              <a:rPr lang="en-US" sz="2400" dirty="0"/>
              <a:t>HR →C	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FFC47C-79D4-4A78-B6ED-9543D39C8A3D}"/>
              </a:ext>
            </a:extLst>
          </p:cNvPr>
          <p:cNvSpPr/>
          <p:nvPr/>
        </p:nvSpPr>
        <p:spPr>
          <a:xfrm>
            <a:off x="4885208" y="2800489"/>
            <a:ext cx="9733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/>
              <a:t>C → 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3EFDC9-0E23-4663-A209-75806E8B7B1D}"/>
              </a:ext>
            </a:extLst>
          </p:cNvPr>
          <p:cNvCxnSpPr/>
          <p:nvPr/>
        </p:nvCxnSpPr>
        <p:spPr>
          <a:xfrm flipH="1">
            <a:off x="4130427" y="2437963"/>
            <a:ext cx="993913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CE457F3-7429-4673-A285-407F7A593674}"/>
              </a:ext>
            </a:extLst>
          </p:cNvPr>
          <p:cNvCxnSpPr>
            <a:cxnSpLocks/>
          </p:cNvCxnSpPr>
          <p:nvPr/>
        </p:nvCxnSpPr>
        <p:spPr>
          <a:xfrm>
            <a:off x="5593606" y="2464467"/>
            <a:ext cx="910148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80E73F-9592-4AB8-9796-6148F74993E8}"/>
              </a:ext>
            </a:extLst>
          </p:cNvPr>
          <p:cNvSpPr txBox="1"/>
          <p:nvPr/>
        </p:nvSpPr>
        <p:spPr>
          <a:xfrm>
            <a:off x="3233531" y="3082623"/>
            <a:ext cx="1420606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/>
              <a:t>R</a:t>
            </a:r>
            <a:r>
              <a:rPr lang="en-US" sz="2400"/>
              <a:t>3</a:t>
            </a:r>
            <a:r>
              <a:rPr lang="vi-VN" sz="2400"/>
              <a:t>(C</a:t>
            </a:r>
            <a:r>
              <a:rPr lang="en-US" sz="2400"/>
              <a:t>T</a:t>
            </a:r>
            <a:r>
              <a:rPr lang="vi-VN" sz="2400"/>
              <a:t>)</a:t>
            </a:r>
            <a:endParaRPr lang="en-US"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7B93E5-BD64-43E9-B186-65217ED10A8E}"/>
              </a:ext>
            </a:extLst>
          </p:cNvPr>
          <p:cNvSpPr txBox="1"/>
          <p:nvPr/>
        </p:nvSpPr>
        <p:spPr>
          <a:xfrm>
            <a:off x="5837833" y="3088073"/>
            <a:ext cx="1583384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 dirty="0"/>
              <a:t>R</a:t>
            </a:r>
            <a:r>
              <a:rPr lang="en-US" sz="2400" dirty="0"/>
              <a:t>4</a:t>
            </a:r>
            <a:r>
              <a:rPr lang="vi-VN" sz="2400" dirty="0"/>
              <a:t>(CHRS)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C5C44C-22F2-4C8F-A98C-DCD989FB3D73}"/>
              </a:ext>
            </a:extLst>
          </p:cNvPr>
          <p:cNvSpPr/>
          <p:nvPr/>
        </p:nvSpPr>
        <p:spPr>
          <a:xfrm>
            <a:off x="7537865" y="3183969"/>
            <a:ext cx="2615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HR →C	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5C9CD2-A221-48E8-ABE8-8FE9C645CB4C}"/>
              </a:ext>
            </a:extLst>
          </p:cNvPr>
          <p:cNvSpPr/>
          <p:nvPr/>
        </p:nvSpPr>
        <p:spPr>
          <a:xfrm>
            <a:off x="6096000" y="3995981"/>
            <a:ext cx="1133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HR →C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158512-08AB-43DD-BE08-B9E4035E7046}"/>
              </a:ext>
            </a:extLst>
          </p:cNvPr>
          <p:cNvCxnSpPr/>
          <p:nvPr/>
        </p:nvCxnSpPr>
        <p:spPr>
          <a:xfrm flipH="1">
            <a:off x="5502964" y="3706238"/>
            <a:ext cx="993913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A04E57-A69A-414E-964E-E74F07980E30}"/>
              </a:ext>
            </a:extLst>
          </p:cNvPr>
          <p:cNvCxnSpPr>
            <a:cxnSpLocks/>
          </p:cNvCxnSpPr>
          <p:nvPr/>
        </p:nvCxnSpPr>
        <p:spPr>
          <a:xfrm>
            <a:off x="6966143" y="3732742"/>
            <a:ext cx="910148" cy="615487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DB96A0-529A-4917-8600-3CC06D644BF2}"/>
              </a:ext>
            </a:extLst>
          </p:cNvPr>
          <p:cNvSpPr txBox="1"/>
          <p:nvPr/>
        </p:nvSpPr>
        <p:spPr>
          <a:xfrm>
            <a:off x="4792661" y="4432280"/>
            <a:ext cx="1420606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/>
              <a:t>R</a:t>
            </a:r>
            <a:r>
              <a:rPr lang="en-US" sz="2400"/>
              <a:t>5</a:t>
            </a:r>
            <a:r>
              <a:rPr lang="vi-VN" sz="2400"/>
              <a:t>(</a:t>
            </a:r>
            <a:r>
              <a:rPr lang="en-US" sz="2400"/>
              <a:t>HRC</a:t>
            </a:r>
            <a:r>
              <a:rPr lang="vi-VN" sz="2400"/>
              <a:t>)</a:t>
            </a:r>
            <a:endParaRPr lang="en-US" sz="2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1E608-6A40-4A03-912F-80492753CA51}"/>
              </a:ext>
            </a:extLst>
          </p:cNvPr>
          <p:cNvSpPr txBox="1"/>
          <p:nvPr/>
        </p:nvSpPr>
        <p:spPr>
          <a:xfrm>
            <a:off x="7259529" y="4443226"/>
            <a:ext cx="1420606" cy="57720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vi-VN" sz="2400"/>
              <a:t>R</a:t>
            </a:r>
            <a:r>
              <a:rPr lang="en-US" sz="2400"/>
              <a:t>6</a:t>
            </a:r>
            <a:r>
              <a:rPr lang="vi-VN" sz="2400"/>
              <a:t>(</a:t>
            </a:r>
            <a:r>
              <a:rPr lang="en-US" sz="2400"/>
              <a:t>HRS</a:t>
            </a:r>
            <a:r>
              <a:rPr lang="vi-VN" sz="2400"/>
              <a:t>)</a:t>
            </a:r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446412-8BB2-4E82-AD4E-E59CF8EF30B9}"/>
              </a:ext>
            </a:extLst>
          </p:cNvPr>
          <p:cNvSpPr txBox="1"/>
          <p:nvPr/>
        </p:nvSpPr>
        <p:spPr>
          <a:xfrm>
            <a:off x="1019175" y="5115432"/>
            <a:ext cx="1038818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/>
              <a:t>Kết luận: </a:t>
            </a:r>
            <a:r>
              <a:rPr lang="en-US" sz="2800"/>
              <a:t>R đ</a:t>
            </a:r>
            <a:r>
              <a:rPr lang="vi-VN" sz="2800"/>
              <a:t>ư</a:t>
            </a:r>
            <a:r>
              <a:rPr lang="en-US" sz="2800"/>
              <a:t>ợc tách thành 4 quan hệ </a:t>
            </a:r>
            <a:r>
              <a:rPr lang="vi-VN" sz="2800"/>
              <a:t>R</a:t>
            </a:r>
            <a:r>
              <a:rPr lang="en-US" sz="2800"/>
              <a:t>1</a:t>
            </a:r>
            <a:r>
              <a:rPr lang="vi-VN" sz="2800"/>
              <a:t>(CSG</a:t>
            </a:r>
            <a:r>
              <a:rPr lang="en-US" sz="2800"/>
              <a:t>), </a:t>
            </a:r>
            <a:r>
              <a:rPr lang="vi-VN" sz="2800"/>
              <a:t>R</a:t>
            </a:r>
            <a:r>
              <a:rPr lang="en-US" sz="2800"/>
              <a:t>3</a:t>
            </a:r>
            <a:r>
              <a:rPr lang="vi-VN" sz="2800"/>
              <a:t>(C</a:t>
            </a:r>
            <a:r>
              <a:rPr lang="en-US" sz="2800"/>
              <a:t>T), </a:t>
            </a:r>
            <a:r>
              <a:rPr lang="vi-VN" sz="2800"/>
              <a:t>R</a:t>
            </a:r>
            <a:r>
              <a:rPr lang="en-US" sz="2800"/>
              <a:t>5</a:t>
            </a:r>
            <a:r>
              <a:rPr lang="vi-VN" sz="2800"/>
              <a:t>(</a:t>
            </a:r>
            <a:r>
              <a:rPr lang="en-US" sz="2800"/>
              <a:t>HRC</a:t>
            </a:r>
            <a:r>
              <a:rPr lang="vi-VN" sz="2800"/>
              <a:t>)</a:t>
            </a:r>
            <a:r>
              <a:rPr lang="en-US" sz="2800"/>
              <a:t>, </a:t>
            </a:r>
            <a:r>
              <a:rPr lang="vi-VN" sz="2800"/>
              <a:t>R</a:t>
            </a:r>
            <a:r>
              <a:rPr lang="en-US" sz="2800"/>
              <a:t>6</a:t>
            </a:r>
            <a:r>
              <a:rPr lang="vi-VN" sz="2800"/>
              <a:t>(</a:t>
            </a:r>
            <a:r>
              <a:rPr lang="en-US" sz="2800"/>
              <a:t>HRS</a:t>
            </a:r>
            <a:r>
              <a:rPr lang="vi-VN" sz="2800"/>
              <a:t>)</a:t>
            </a:r>
            <a:r>
              <a:rPr lang="en-US" sz="2800"/>
              <a:t> </a:t>
            </a:r>
          </a:p>
          <a:p>
            <a:r>
              <a:rPr 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2124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12" grpId="0"/>
      <p:bldP spid="13" grpId="0" animBg="1"/>
      <p:bldP spid="14" grpId="0" animBg="1"/>
      <p:bldP spid="15" grpId="0"/>
      <p:bldP spid="16" grpId="0"/>
      <p:bldP spid="19" grpId="0" animBg="1"/>
      <p:bldP spid="20" grpId="0" animBg="1"/>
      <p:bldP spid="21" grpId="0"/>
      <p:bldP spid="22" grpId="0"/>
      <p:bldP spid="25" grpId="0" animBg="1"/>
      <p:bldP spid="26" grpId="0" animBg="1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7748"/>
            <a:ext cx="9601200" cy="14859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3600" b="1"/>
              <a:t>2.4.3.2.</a:t>
            </a:r>
            <a:r>
              <a:rPr lang="vi-VN" sz="3600" b="1"/>
              <a:t> Thuật toán phân rã một lược đồ quan hệ thành các lược đồ con ở 3NF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074" y="1853648"/>
            <a:ext cx="9601200" cy="444279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vi-VN" sz="2800"/>
              <a:t>Input:  </a:t>
            </a:r>
            <a:endParaRPr lang="en-US" sz="2800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/>
              <a:t>- Lược đồ quan hệ R   </a:t>
            </a:r>
            <a:endParaRPr lang="en-US" sz="2800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/>
              <a:t>- </a:t>
            </a:r>
            <a:r>
              <a:rPr lang="vi-VN" sz="2800">
                <a:latin typeface="+mj-lt"/>
              </a:rPr>
              <a:t>Tập phụ thuộc hàm F </a:t>
            </a:r>
            <a:r>
              <a:rPr lang="en-US" sz="2800">
                <a:latin typeface="+mj-lt"/>
              </a:rPr>
              <a:t>không làm mất tính tổng quát giả sử đó là phủ tối thiểu</a:t>
            </a:r>
          </a:p>
          <a:p>
            <a:pPr algn="just">
              <a:lnSpc>
                <a:spcPct val="150000"/>
              </a:lnSpc>
            </a:pPr>
            <a:r>
              <a:rPr lang="vi-VN" sz="2800"/>
              <a:t>Output: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/>
              <a:t>Phép thành các lược đồ con ở dạng chuẩn 3 bảo toàn các phụ thuộc hàm.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6462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7748"/>
            <a:ext cx="9601200" cy="99635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vi-VN" sz="3600" b="1"/>
              <a:t>Các bước của thuật toán: </a:t>
            </a:r>
            <a:endParaRPr lang="en-US" sz="3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4987-3B38-4BAA-89B0-865A6F46B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074" y="1853648"/>
            <a:ext cx="9601200" cy="444279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/>
              <a:t> </a:t>
            </a:r>
            <a:r>
              <a:rPr lang="vi-VN" sz="2800" b="1" dirty="0"/>
              <a:t>Bước 1</a:t>
            </a:r>
            <a:r>
              <a:rPr lang="vi-VN" sz="2800" dirty="0"/>
              <a:t>: Loại bỏ các thuộc tính của R nếu thuộc tính đó không liên quan đến phụ thuộc hàm nào của F.(không có mặt ở cả hai vế của phụ thuộc hàm). 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vi-VN" sz="2800" b="1" dirty="0"/>
              <a:t>Bước 2</a:t>
            </a:r>
            <a:r>
              <a:rPr lang="vi-VN" sz="2800" dirty="0"/>
              <a:t>: Nếu có một phụ thuộc hàm của F liên quan đến tất cả các thuộc tính của R thì kết quả chính là R.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7089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461F-8F8B-44D7-A9C2-6BE35EAED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67748"/>
            <a:ext cx="9601200" cy="99635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vi-VN" sz="3600" b="1"/>
              <a:t>Các bước của thuật toán: </a:t>
            </a:r>
            <a:endParaRPr lang="en-US" sz="36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A4987-3B38-4BAA-89B0-865A6F46B7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5400" y="1207604"/>
                <a:ext cx="9601200" cy="4442792"/>
              </a:xfrm>
            </p:spPr>
            <p:txBody>
              <a:bodyPr>
                <a:normAutofit fontScale="92500" lnSpcReduction="20000"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vi-VN" sz="2800" dirty="0"/>
                  <a:t>Bước 3: Ngoài ra, phép tách </a:t>
                </a:r>
                <a:r>
                  <a:rPr lang="el-GR" sz="2800" dirty="0"/>
                  <a:t>ρ </a:t>
                </a:r>
                <a:r>
                  <a:rPr lang="vi-VN" sz="2800" dirty="0"/>
                  <a:t>đưa ra các lược đồ gồm các thuộc tính XA ứng với phụ thuộc hàm X→A </a:t>
                </a:r>
                <a14:m>
                  <m:oMath xmlns:m="http://schemas.openxmlformats.org/officeDocument/2006/math">
                    <m:r>
                      <a:rPr lang="vi-V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vi-VN" sz="2800" dirty="0"/>
                  <a:t>F. Nếu tồn tại các phụ thuộc hàm  X → A1, X → A2, …,X → An thuộc F thì thay thế XAi (1&lt;=i&lt;= n) bằng XA1A2...An. Quá trình tiếp tục. </a:t>
                </a:r>
                <a:endParaRPr lang="en-US" sz="2800" dirty="0"/>
              </a:p>
              <a:p>
                <a:pPr algn="just">
                  <a:lnSpc>
                    <a:spcPct val="150000"/>
                  </a:lnSpc>
                </a:pPr>
                <a:r>
                  <a:rPr lang="vi-VN" sz="2800" dirty="0"/>
                  <a:t>Chú ý: Tại mỗi bước kiểm tra lược đồ R, nếu mỗi thuộc tính không khóa không phụ thuộc bắc cầu vào khóa chính,  thì R đã ở dạng 3NF, ngược lại cần áp dụng bước 3 để tách tiếp</a:t>
                </a: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A4987-3B38-4BAA-89B0-865A6F46B7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0" y="1207604"/>
                <a:ext cx="9601200" cy="4442792"/>
              </a:xfrm>
              <a:blipFill>
                <a:blip r:embed="rId2"/>
                <a:stretch>
                  <a:fillRect l="-1016" r="-1079" b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87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0829-3B62-4F8E-9824-E0CE7933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1939"/>
          </a:xfrm>
        </p:spPr>
        <p:txBody>
          <a:bodyPr/>
          <a:lstStyle/>
          <a:p>
            <a:r>
              <a:rPr lang="en-US"/>
              <a:t>Ví dụ: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C205-89DD-4199-8FCF-A6E33136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4974"/>
            <a:ext cx="9601200" cy="45024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dirty="0"/>
              <a:t>Cho lược đồ quan hệ R(C,T,H,R,S,G) với tập phụ thuộc hàm tối thiểu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vi-VN" sz="2800" dirty="0"/>
              <a:t>F</a:t>
            </a:r>
            <a:r>
              <a:rPr lang="en-US" sz="2800" dirty="0"/>
              <a:t>={</a:t>
            </a:r>
            <a:r>
              <a:rPr lang="vi-VN" sz="2800" dirty="0"/>
              <a:t>C → T, HR → C, HT → R, CS → G, HS → R</a:t>
            </a:r>
            <a:r>
              <a:rPr lang="en-US" sz="2800" dirty="0"/>
              <a:t>}</a:t>
            </a:r>
            <a:r>
              <a:rPr lang="vi-VN" sz="2800" dirty="0"/>
              <a:t>  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vi-VN" sz="2800" dirty="0"/>
              <a:t>Yêu cầu: Phân rã lược đồ quan hệ trên thành các quan hệ con đều ở dạng</a:t>
            </a:r>
            <a:r>
              <a:rPr lang="en-US" sz="2800" dirty="0"/>
              <a:t> </a:t>
            </a:r>
            <a:r>
              <a:rPr lang="vi-VN" sz="2800" dirty="0"/>
              <a:t>3NF.  </a:t>
            </a:r>
          </a:p>
        </p:txBody>
      </p:sp>
    </p:spTree>
    <p:extLst>
      <p:ext uri="{BB962C8B-B14F-4D97-AF65-F5344CB8AC3E}">
        <p14:creationId xmlns:p14="http://schemas.microsoft.com/office/powerpoint/2010/main" val="2352253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0829-3B62-4F8E-9824-E0CE7933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1939"/>
          </a:xfrm>
        </p:spPr>
        <p:txBody>
          <a:bodyPr/>
          <a:lstStyle/>
          <a:p>
            <a:r>
              <a:rPr lang="en-US"/>
              <a:t>Thực hiện thuật toán: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C205-89DD-4199-8FCF-A6E33136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4974"/>
            <a:ext cx="9601200" cy="450242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/>
              <a:t>Bước 1: Không có thuộc tính bị loại bỏ  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vi-VN" sz="2800"/>
              <a:t>Bước 2: Không có phụ thuộc hàm nào liên quan tới tất cả các thuộc tính  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vi-VN" sz="2800"/>
              <a:t>Bước 3:  (Tìm các phụ thuộc hàm không thỏa mãn dạng chuẩn 3 để tách)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en-US" sz="2800"/>
              <a:t>R1(</a:t>
            </a:r>
            <a:r>
              <a:rPr lang="vi-VN" sz="2800"/>
              <a:t>CT</a:t>
            </a:r>
            <a:r>
              <a:rPr lang="en-US" sz="2800"/>
              <a:t>)</a:t>
            </a:r>
            <a:r>
              <a:rPr lang="vi-VN" sz="2800"/>
              <a:t>, </a:t>
            </a:r>
            <a:r>
              <a:rPr lang="en-US" sz="2800"/>
              <a:t>R2(</a:t>
            </a:r>
            <a:r>
              <a:rPr lang="vi-VN" sz="2800"/>
              <a:t>HR</a:t>
            </a:r>
            <a:r>
              <a:rPr lang="en-US" sz="2800"/>
              <a:t>C)</a:t>
            </a:r>
            <a:r>
              <a:rPr lang="vi-VN" sz="2800"/>
              <a:t>, </a:t>
            </a:r>
            <a:r>
              <a:rPr lang="en-US" sz="2800"/>
              <a:t>R3(</a:t>
            </a:r>
            <a:r>
              <a:rPr lang="vi-VN" sz="2800"/>
              <a:t>HTR</a:t>
            </a:r>
            <a:r>
              <a:rPr lang="en-US" sz="2800"/>
              <a:t>)</a:t>
            </a:r>
            <a:r>
              <a:rPr lang="vi-VN" sz="2800"/>
              <a:t>, </a:t>
            </a:r>
            <a:r>
              <a:rPr lang="en-US" sz="2800"/>
              <a:t>R4(</a:t>
            </a:r>
            <a:r>
              <a:rPr lang="vi-VN" sz="2800"/>
              <a:t>CSG</a:t>
            </a:r>
            <a:r>
              <a:rPr lang="en-US" sz="2800"/>
              <a:t>)</a:t>
            </a:r>
            <a:r>
              <a:rPr lang="vi-VN" sz="2800"/>
              <a:t>, </a:t>
            </a:r>
            <a:r>
              <a:rPr lang="en-US" sz="2800"/>
              <a:t>R5(</a:t>
            </a:r>
            <a:r>
              <a:rPr lang="vi-VN" sz="2800"/>
              <a:t>HSR</a:t>
            </a:r>
            <a:r>
              <a:rPr lang="en-US" sz="2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2292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0829-3B62-4F8E-9824-E0CE7933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685800"/>
            <a:ext cx="9601201" cy="771939"/>
          </a:xfrm>
        </p:spPr>
        <p:txBody>
          <a:bodyPr/>
          <a:lstStyle/>
          <a:p>
            <a:r>
              <a:rPr lang="en-US"/>
              <a:t>Lưu ý: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1C205-89DD-4199-8FCF-A6E33136F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64974"/>
            <a:ext cx="10316817" cy="51683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/>
              <a:t>Kết quả của phép tách có thể khác nhau phụ thuộc vào thứ tự áp dụng các phụ thuộc hàm khi thực hiện thuật toán.  </a:t>
            </a:r>
            <a:endParaRPr lang="en-US" sz="2800"/>
          </a:p>
          <a:p>
            <a:pPr algn="just">
              <a:lnSpc>
                <a:spcPct val="150000"/>
              </a:lnSpc>
            </a:pPr>
            <a:r>
              <a:rPr lang="vi-VN" sz="2800"/>
              <a:t>Sinh viên tự kiểm tra xem việc tách quan hệ như trên có mất mát thông tin không.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9189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4A2318"/>
      </a:dk2>
      <a:lt2>
        <a:srgbClr val="EDECEB"/>
      </a:lt2>
      <a:accent1>
        <a:srgbClr val="F3C82E"/>
      </a:accent1>
      <a:accent2>
        <a:srgbClr val="A26176"/>
      </a:accent2>
      <a:accent3>
        <a:srgbClr val="74A94E"/>
      </a:accent3>
      <a:accent4>
        <a:srgbClr val="188E8D"/>
      </a:accent4>
      <a:accent5>
        <a:srgbClr val="EE913A"/>
      </a:accent5>
      <a:accent6>
        <a:srgbClr val="DF5D4A"/>
      </a:accent6>
      <a:hlink>
        <a:srgbClr val="188E8D"/>
      </a:hlink>
      <a:folHlink>
        <a:srgbClr val="A26176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D7AA1D6E-F3E9-4763-A3BC-84DF2E02F6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420</TotalTime>
  <Words>878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Cambria Math</vt:lpstr>
      <vt:lpstr>Franklin Gothic Book</vt:lpstr>
      <vt:lpstr>Tahoma</vt:lpstr>
      <vt:lpstr>Crop</vt:lpstr>
      <vt:lpstr>2.4.3. Chuẩn hóa quan hệ </vt:lpstr>
      <vt:lpstr>PowerPoint Presentation</vt:lpstr>
      <vt:lpstr>2.4.3.1. Thuật toán phân rã lược đồ quan hệ thành các lược đồ quan hệ con ở BCNF</vt:lpstr>
      <vt:lpstr>Các bước của thuật toán: </vt:lpstr>
      <vt:lpstr>Ví dụ 1:</vt:lpstr>
      <vt:lpstr>Ví dụ 1:</vt:lpstr>
      <vt:lpstr>Ví dụ 2:</vt:lpstr>
      <vt:lpstr>PowerPoint Presentation</vt:lpstr>
      <vt:lpstr>2.4.3.2. Thuật toán phân rã một lược đồ quan hệ thành các lược đồ con ở 3NF</vt:lpstr>
      <vt:lpstr>Các bước của thuật toán: </vt:lpstr>
      <vt:lpstr>Các bước của thuật toán: </vt:lpstr>
      <vt:lpstr>Ví dụ:</vt:lpstr>
      <vt:lpstr>Thực hiện thuật toán:</vt:lpstr>
      <vt:lpstr>Lưu ý: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2.4.3. Chuẩn hóa quan hệ</dc:title>
  <dc:creator>ngans</dc:creator>
  <cp:lastModifiedBy>ADMIN</cp:lastModifiedBy>
  <cp:revision>21</cp:revision>
  <dcterms:created xsi:type="dcterms:W3CDTF">2020-05-07T08:53:15Z</dcterms:created>
  <dcterms:modified xsi:type="dcterms:W3CDTF">2021-06-15T10:17:51Z</dcterms:modified>
</cp:coreProperties>
</file>