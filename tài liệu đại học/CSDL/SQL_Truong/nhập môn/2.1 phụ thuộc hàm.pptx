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1" r:id="rId6"/>
    <p:sldId id="260" r:id="rId7"/>
    <p:sldId id="277" r:id="rId8"/>
    <p:sldId id="278" r:id="rId9"/>
    <p:sldId id="275" r:id="rId10"/>
    <p:sldId id="276" r:id="rId11"/>
    <p:sldId id="262" r:id="rId12"/>
    <p:sldId id="263" r:id="rId13"/>
    <p:sldId id="264" r:id="rId14"/>
    <p:sldId id="265" r:id="rId15"/>
    <p:sldId id="266" r:id="rId16"/>
    <p:sldId id="279" r:id="rId17"/>
    <p:sldId id="280" r:id="rId18"/>
    <p:sldId id="267" r:id="rId19"/>
    <p:sldId id="268" r:id="rId20"/>
    <p:sldId id="269" r:id="rId21"/>
    <p:sldId id="270" r:id="rId22"/>
    <p:sldId id="271" r:id="rId23"/>
    <p:sldId id="272" r:id="rId24"/>
    <p:sldId id="273" r:id="rId25"/>
    <p:sldId id="274"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5/3/2021</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5/3/2021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5/3/2021</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5/3/2021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5/3/2021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5/3/2021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5/3/2021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5/3/2021</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5/3/2021</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5/3/2021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5/3/2021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5/3/2021</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C1DE9-161C-47CF-9422-7A780A137957}"/>
              </a:ext>
            </a:extLst>
          </p:cNvPr>
          <p:cNvSpPr>
            <a:spLocks noGrp="1"/>
          </p:cNvSpPr>
          <p:nvPr>
            <p:ph type="ctrTitle"/>
          </p:nvPr>
        </p:nvSpPr>
        <p:spPr>
          <a:xfrm>
            <a:off x="1498020" y="2578163"/>
            <a:ext cx="9195960" cy="2098226"/>
          </a:xfrm>
        </p:spPr>
        <p:txBody>
          <a:bodyPr/>
          <a:lstStyle/>
          <a:p>
            <a:pPr>
              <a:lnSpc>
                <a:spcPct val="130000"/>
              </a:lnSpc>
            </a:pPr>
            <a:r>
              <a:rPr lang="vi-VN" sz="5400"/>
              <a:t>CHƯƠNG II</a:t>
            </a:r>
            <a:r>
              <a:rPr lang="en-US" sz="5400"/>
              <a:t>:</a:t>
            </a:r>
            <a:r>
              <a:rPr lang="vi-VN" sz="5400"/>
              <a:t> LÝ THUYẾT THIẾT KẾ CƠ SỞ DỮ LIỆU </a:t>
            </a:r>
            <a:r>
              <a:rPr lang="en-US" sz="5400"/>
              <a:t/>
            </a:r>
            <a:br>
              <a:rPr lang="en-US" sz="5400"/>
            </a:br>
            <a:r>
              <a:rPr lang="vi-VN" sz="5400" b="1"/>
              <a:t>BÀI 2.1: PHỤ THUỘC HÀM </a:t>
            </a:r>
            <a:endParaRPr lang="en-US" sz="5400" b="1"/>
          </a:p>
        </p:txBody>
      </p:sp>
    </p:spTree>
    <p:extLst>
      <p:ext uri="{BB962C8B-B14F-4D97-AF65-F5344CB8AC3E}">
        <p14:creationId xmlns:p14="http://schemas.microsoft.com/office/powerpoint/2010/main" val="2514108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EED05-1B14-4BB1-AB5A-A8B9A2724130}"/>
              </a:ext>
            </a:extLst>
          </p:cNvPr>
          <p:cNvSpPr>
            <a:spLocks noGrp="1"/>
          </p:cNvSpPr>
          <p:nvPr>
            <p:ph type="title"/>
          </p:nvPr>
        </p:nvSpPr>
        <p:spPr/>
        <p:txBody>
          <a:bodyPr/>
          <a:lstStyle/>
          <a:p>
            <a:r>
              <a:rPr lang="en-US"/>
              <a:t>Các vấn đề gặp phải khi tổ chức dữ liệu: </a:t>
            </a:r>
          </a:p>
        </p:txBody>
      </p:sp>
      <p:pic>
        <p:nvPicPr>
          <p:cNvPr id="4" name="Picture 3">
            <a:extLst>
              <a:ext uri="{FF2B5EF4-FFF2-40B4-BE49-F238E27FC236}">
                <a16:creationId xmlns:a16="http://schemas.microsoft.com/office/drawing/2014/main" id="{D6E5EA57-D1E1-4CF4-9C5C-2346BFA1AFED}"/>
              </a:ext>
            </a:extLst>
          </p:cNvPr>
          <p:cNvPicPr>
            <a:picLocks noChangeAspect="1"/>
          </p:cNvPicPr>
          <p:nvPr/>
        </p:nvPicPr>
        <p:blipFill>
          <a:blip r:embed="rId2"/>
          <a:stretch>
            <a:fillRect/>
          </a:stretch>
        </p:blipFill>
        <p:spPr>
          <a:xfrm>
            <a:off x="1706706" y="1688954"/>
            <a:ext cx="9687350" cy="4483245"/>
          </a:xfrm>
          <a:prstGeom prst="rect">
            <a:avLst/>
          </a:prstGeom>
        </p:spPr>
      </p:pic>
    </p:spTree>
    <p:extLst>
      <p:ext uri="{BB962C8B-B14F-4D97-AF65-F5344CB8AC3E}">
        <p14:creationId xmlns:p14="http://schemas.microsoft.com/office/powerpoint/2010/main" val="3930724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2DC0CD-94F8-4AD8-B294-D9BA4C55CA5B}"/>
              </a:ext>
            </a:extLst>
          </p:cNvPr>
          <p:cNvSpPr>
            <a:spLocks noGrp="1"/>
          </p:cNvSpPr>
          <p:nvPr>
            <p:ph idx="1"/>
          </p:nvPr>
        </p:nvSpPr>
        <p:spPr>
          <a:xfrm>
            <a:off x="1295400" y="609600"/>
            <a:ext cx="9601200" cy="5888182"/>
          </a:xfrm>
        </p:spPr>
        <p:txBody>
          <a:bodyPr>
            <a:normAutofit lnSpcReduction="10000"/>
          </a:bodyPr>
          <a:lstStyle/>
          <a:p>
            <a:pPr marL="0" indent="0" algn="just">
              <a:lnSpc>
                <a:spcPct val="120000"/>
              </a:lnSpc>
              <a:buNone/>
            </a:pPr>
            <a:r>
              <a:rPr lang="vi-VN" sz="2400"/>
              <a:t>1)Dư thừa (redundancy): Họ tên của các sinh viên được lặp lại mỗi lần cho mỗi môn thi.  </a:t>
            </a:r>
            <a:endParaRPr lang="en-US" sz="2400"/>
          </a:p>
          <a:p>
            <a:pPr marL="0" indent="0" algn="just">
              <a:lnSpc>
                <a:spcPct val="120000"/>
              </a:lnSpc>
              <a:buNone/>
            </a:pPr>
            <a:r>
              <a:rPr lang="vi-VN" sz="2400"/>
              <a:t>2)Mâu thuẫn tiềm ẩn (potentia inconsistancyl) hay bất thường khi cập nhật. Do hậu quả của dư thừa, chúng ta có thể cập nhật họ tên của một sinh viên trong một bộ nào đó nhưng vẫn để lại họ tên cũ trong những bộ khác. Vì vậy chúng ta có thể không có một họ tên duy nhất đối với mỗi sinh viên như chúng ta mong muốn.</a:t>
            </a:r>
            <a:endParaRPr lang="en-US" sz="2400"/>
          </a:p>
          <a:p>
            <a:pPr marL="0" indent="0" algn="just">
              <a:lnSpc>
                <a:spcPct val="120000"/>
              </a:lnSpc>
              <a:buNone/>
            </a:pPr>
            <a:r>
              <a:rPr lang="vi-VN" sz="2400"/>
              <a:t>3)Bất thường khi chèn (insertion anomaly). Chúng ta không thể biết họ tên của một sinh viên nếu hiện tại sinh viên đó không dự thi môn nào.  </a:t>
            </a:r>
            <a:endParaRPr lang="en-US" sz="2400"/>
          </a:p>
          <a:p>
            <a:pPr marL="0" indent="0" algn="just">
              <a:lnSpc>
                <a:spcPct val="120000"/>
              </a:lnSpc>
              <a:buNone/>
            </a:pPr>
            <a:r>
              <a:rPr lang="vi-VN" sz="2400"/>
              <a:t>4)Bất thường khi xoá (deletion anomaly). Ngược lại với vấn đề 3) là vấn đề chúng ta có thể xoá tất cả các môn thi của một sinh viên, vô ý làm mất dấu vết để tìm ra họ tên của sinh viên này</a:t>
            </a:r>
            <a:endParaRPr lang="en-US" sz="2400"/>
          </a:p>
        </p:txBody>
      </p:sp>
    </p:spTree>
    <p:extLst>
      <p:ext uri="{BB962C8B-B14F-4D97-AF65-F5344CB8AC3E}">
        <p14:creationId xmlns:p14="http://schemas.microsoft.com/office/powerpoint/2010/main" val="2586001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BF81E-1D39-4651-98F4-C7EC61BA1CFF}"/>
              </a:ext>
            </a:extLst>
          </p:cNvPr>
          <p:cNvSpPr>
            <a:spLocks noGrp="1"/>
          </p:cNvSpPr>
          <p:nvPr>
            <p:ph type="title"/>
          </p:nvPr>
        </p:nvSpPr>
        <p:spPr>
          <a:xfrm>
            <a:off x="1219200" y="509155"/>
            <a:ext cx="9947564" cy="1485900"/>
          </a:xfrm>
        </p:spPr>
        <p:txBody>
          <a:bodyPr>
            <a:normAutofit fontScale="90000"/>
          </a:bodyPr>
          <a:lstStyle/>
          <a:p>
            <a:pPr algn="just">
              <a:lnSpc>
                <a:spcPct val="150000"/>
              </a:lnSpc>
            </a:pPr>
            <a:r>
              <a:rPr lang="vi-VN" sz="3100"/>
              <a:t>Những vấn đề nêu trên sẽ được giải quyết nếu chúng ta phân rã lược đồ quan hệ Diemthi thành hai lược đồ quan hệ: </a:t>
            </a:r>
            <a:r>
              <a:rPr lang="vi-VN"/>
              <a:t/>
            </a:r>
            <a:br>
              <a:rPr lang="vi-VN"/>
            </a:br>
            <a:endParaRPr lang="en-US"/>
          </a:p>
        </p:txBody>
      </p:sp>
      <p:sp>
        <p:nvSpPr>
          <p:cNvPr id="3" name="Content Placeholder 2">
            <a:extLst>
              <a:ext uri="{FF2B5EF4-FFF2-40B4-BE49-F238E27FC236}">
                <a16:creationId xmlns:a16="http://schemas.microsoft.com/office/drawing/2014/main" id="{3D1F822E-9607-4C8F-AEC8-4A172CA635DB}"/>
              </a:ext>
            </a:extLst>
          </p:cNvPr>
          <p:cNvSpPr>
            <a:spLocks noGrp="1"/>
          </p:cNvSpPr>
          <p:nvPr>
            <p:ph idx="1"/>
          </p:nvPr>
        </p:nvSpPr>
        <p:spPr>
          <a:xfrm>
            <a:off x="1371600" y="1995055"/>
            <a:ext cx="9601200" cy="3581400"/>
          </a:xfrm>
        </p:spPr>
        <p:txBody>
          <a:bodyPr>
            <a:normAutofit lnSpcReduction="10000"/>
          </a:bodyPr>
          <a:lstStyle/>
          <a:p>
            <a:pPr>
              <a:lnSpc>
                <a:spcPct val="150000"/>
              </a:lnSpc>
            </a:pPr>
            <a:r>
              <a:rPr lang="vi-VN" sz="2800"/>
              <a:t>Sinhvien(MASV,HOTEN)  </a:t>
            </a:r>
            <a:endParaRPr lang="en-US" sz="2800"/>
          </a:p>
          <a:p>
            <a:pPr>
              <a:lnSpc>
                <a:spcPct val="150000"/>
              </a:lnSpc>
            </a:pPr>
            <a:r>
              <a:rPr lang="vi-VN" sz="2800"/>
              <a:t>Ketqua(MASV,MONHỌC,DIEMTHI) </a:t>
            </a:r>
            <a:endParaRPr lang="en-US" sz="2800"/>
          </a:p>
          <a:p>
            <a:pPr marL="0" indent="0" algn="just">
              <a:lnSpc>
                <a:spcPct val="150000"/>
              </a:lnSpc>
              <a:buNone/>
            </a:pPr>
            <a:r>
              <a:rPr lang="vi-VN" sz="2800"/>
              <a:t>Làm sao để đưa được một lược đồ cơ sở dữ liệu chưa tốt về một lược đồ cơ sở dữ liệu tốt hơn? chương này và chương tới nhằm giải quyết vấn đề này.</a:t>
            </a:r>
            <a:endParaRPr lang="en-US" sz="2800"/>
          </a:p>
        </p:txBody>
      </p:sp>
    </p:spTree>
    <p:extLst>
      <p:ext uri="{BB962C8B-B14F-4D97-AF65-F5344CB8AC3E}">
        <p14:creationId xmlns:p14="http://schemas.microsoft.com/office/powerpoint/2010/main" val="4191691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16AB-A187-42EA-8DE0-895F4E5846B0}"/>
              </a:ext>
            </a:extLst>
          </p:cNvPr>
          <p:cNvSpPr>
            <a:spLocks noGrp="1"/>
          </p:cNvSpPr>
          <p:nvPr>
            <p:ph type="title"/>
          </p:nvPr>
        </p:nvSpPr>
        <p:spPr>
          <a:xfrm>
            <a:off x="1371600" y="290286"/>
            <a:ext cx="9906000" cy="1866900"/>
          </a:xfrm>
        </p:spPr>
        <p:txBody>
          <a:bodyPr>
            <a:normAutofit fontScale="90000"/>
          </a:bodyPr>
          <a:lstStyle/>
          <a:p>
            <a:pPr>
              <a:lnSpc>
                <a:spcPct val="150000"/>
              </a:lnSpc>
            </a:pPr>
            <a:r>
              <a:rPr lang="en-US" b="1"/>
              <a:t>2.1.1. Khái niệm phụ thuộc hàm </a:t>
            </a:r>
            <a:r>
              <a:rPr lang="en-US" sz="4000" b="1"/>
              <a:t/>
            </a:r>
            <a:br>
              <a:rPr lang="en-US" sz="4000" b="1"/>
            </a:br>
            <a:r>
              <a:rPr lang="en-US" sz="3600" b="1"/>
              <a:t>2.1.1.1.Định nghĩa Phụ thuộc hàm: </a:t>
            </a:r>
            <a:endParaRPr lang="en-US" sz="4000" b="1"/>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AFF05F-95AE-479E-8711-4F9F4E3E6EE3}"/>
                  </a:ext>
                </a:extLst>
              </p:cNvPr>
              <p:cNvSpPr>
                <a:spLocks noGrp="1"/>
              </p:cNvSpPr>
              <p:nvPr>
                <p:ph idx="1"/>
              </p:nvPr>
            </p:nvSpPr>
            <p:spPr>
              <a:xfrm>
                <a:off x="1371600" y="2286000"/>
                <a:ext cx="10515600" cy="4281714"/>
              </a:xfrm>
            </p:spPr>
            <p:txBody>
              <a:bodyPr>
                <a:normAutofit lnSpcReduction="10000"/>
              </a:bodyPr>
              <a:lstStyle/>
              <a:p>
                <a:pPr>
                  <a:lnSpc>
                    <a:spcPct val="150000"/>
                  </a:lnSpc>
                </a:pPr>
                <a:r>
                  <a:rPr lang="vi-VN" sz="2800"/>
                  <a:t>Cho lược đồ quan hệ Q{A1,A2,…,An}. X,Y là hai tập con khác rỗng của Q+. </a:t>
                </a:r>
                <a:endParaRPr lang="en-US" sz="2800"/>
              </a:p>
              <a:p>
                <a:pPr>
                  <a:lnSpc>
                    <a:spcPct val="150000"/>
                  </a:lnSpc>
                </a:pPr>
                <a:r>
                  <a:rPr lang="vi-VN" sz="2800"/>
                  <a:t>Ta nói X xác định Y (hay Y phụ thuộc hàm vào X) nếu với r là một quan hệ nào đó trên Q</a:t>
                </a:r>
                <a:endParaRPr lang="en-US" sz="2800" i="1">
                  <a:latin typeface="Cambria Math" panose="02040503050406030204" pitchFamily="18" charset="0"/>
                  <a:ea typeface="Cambria Math" panose="02040503050406030204" pitchFamily="18" charset="0"/>
                </a:endParaRPr>
              </a:p>
              <a:p>
                <a:pPr marL="0" indent="0">
                  <a:lnSpc>
                    <a:spcPct val="150000"/>
                  </a:lnSpc>
                  <a:buNone/>
                </a:pPr>
                <a14:m>
                  <m:oMath xmlns:m="http://schemas.openxmlformats.org/officeDocument/2006/math">
                    <m:r>
                      <a:rPr lang="en-US" sz="2800" b="0" i="1" smtClean="0">
                        <a:latin typeface="Cambria Math" panose="02040503050406030204" pitchFamily="18" charset="0"/>
                        <a:ea typeface="Cambria Math" panose="02040503050406030204" pitchFamily="18" charset="0"/>
                      </a:rPr>
                      <m:t>       </m:t>
                    </m:r>
                    <m:r>
                      <a:rPr lang="en-US" sz="2800" i="1">
                        <a:latin typeface="Cambria Math" panose="02040503050406030204" pitchFamily="18" charset="0"/>
                        <a:ea typeface="Cambria Math" panose="02040503050406030204" pitchFamily="18" charset="0"/>
                      </a:rPr>
                      <m:t>∀</m:t>
                    </m:r>
                  </m:oMath>
                </a14:m>
                <a:r>
                  <a:rPr lang="vi-VN" sz="2800"/>
                  <a:t> t1,t2 </a:t>
                </a:r>
                <a14:m>
                  <m:oMath xmlns:m="http://schemas.openxmlformats.org/officeDocument/2006/math">
                    <m:r>
                      <a:rPr lang="vi-VN" sz="2800" i="1" smtClean="0">
                        <a:latin typeface="Cambria Math" panose="02040503050406030204" pitchFamily="18" charset="0"/>
                        <a:ea typeface="Cambria Math" panose="02040503050406030204" pitchFamily="18" charset="0"/>
                      </a:rPr>
                      <m:t>∈</m:t>
                    </m:r>
                  </m:oMath>
                </a14:m>
                <a:r>
                  <a:rPr lang="vi-VN" sz="2800"/>
                  <a:t> r mà t1.X = t2.X</a:t>
                </a:r>
                <a:r>
                  <a:rPr lang="en-US" sz="2800"/>
                  <a:t>    </a:t>
                </a:r>
                <a14:m>
                  <m:oMath xmlns:m="http://schemas.openxmlformats.org/officeDocument/2006/math">
                    <m:r>
                      <a:rPr lang="en-US" sz="2800" i="1" smtClean="0">
                        <a:latin typeface="Cambria Math" panose="02040503050406030204" pitchFamily="18" charset="0"/>
                        <a:ea typeface="Cambria Math" panose="02040503050406030204" pitchFamily="18" charset="0"/>
                      </a:rPr>
                      <m:t>⇒</m:t>
                    </m:r>
                  </m:oMath>
                </a14:m>
                <a:r>
                  <a:rPr lang="vi-VN" sz="2800"/>
                  <a:t>  </a:t>
                </a:r>
                <a:r>
                  <a:rPr lang="en-US" sz="2800"/>
                  <a:t> </a:t>
                </a:r>
                <a:r>
                  <a:rPr lang="vi-VN" sz="2800"/>
                  <a:t>t1.Y = t2.Y. </a:t>
                </a:r>
                <a:endParaRPr lang="en-US" sz="2800"/>
              </a:p>
              <a:p>
                <a:pPr marL="0" indent="0">
                  <a:lnSpc>
                    <a:spcPct val="150000"/>
                  </a:lnSpc>
                  <a:buNone/>
                </a:pPr>
                <a:r>
                  <a:rPr lang="vi-VN" sz="2800"/>
                  <a:t>Khi đó ta ký hiệu là X → Y.</a:t>
                </a:r>
                <a:endParaRPr lang="en-US" sz="2800"/>
              </a:p>
            </p:txBody>
          </p:sp>
        </mc:Choice>
        <mc:Fallback xmlns="">
          <p:sp>
            <p:nvSpPr>
              <p:cNvPr id="3" name="Content Placeholder 2">
                <a:extLst>
                  <a:ext uri="{FF2B5EF4-FFF2-40B4-BE49-F238E27FC236}">
                    <a16:creationId xmlns:a16="http://schemas.microsoft.com/office/drawing/2014/main" id="{E8AFF05F-95AE-479E-8711-4F9F4E3E6EE3}"/>
                  </a:ext>
                </a:extLst>
              </p:cNvPr>
              <p:cNvSpPr>
                <a:spLocks noGrp="1" noRot="1" noChangeAspect="1" noMove="1" noResize="1" noEditPoints="1" noAdjustHandles="1" noChangeArrowheads="1" noChangeShapeType="1" noTextEdit="1"/>
              </p:cNvSpPr>
              <p:nvPr>
                <p:ph idx="1"/>
              </p:nvPr>
            </p:nvSpPr>
            <p:spPr>
              <a:xfrm>
                <a:off x="1371600" y="2286000"/>
                <a:ext cx="10515600" cy="4281714"/>
              </a:xfrm>
              <a:blipFill>
                <a:blip r:embed="rId2"/>
                <a:stretch>
                  <a:fillRect l="-1159"/>
                </a:stretch>
              </a:blipFill>
            </p:spPr>
            <p:txBody>
              <a:bodyPr/>
              <a:lstStyle/>
              <a:p>
                <a:r>
                  <a:rPr lang="en-US">
                    <a:noFill/>
                  </a:rPr>
                  <a:t> </a:t>
                </a:r>
              </a:p>
            </p:txBody>
          </p:sp>
        </mc:Fallback>
      </mc:AlternateContent>
    </p:spTree>
    <p:extLst>
      <p:ext uri="{BB962C8B-B14F-4D97-AF65-F5344CB8AC3E}">
        <p14:creationId xmlns:p14="http://schemas.microsoft.com/office/powerpoint/2010/main" val="3497265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16AB-A187-42EA-8DE0-895F4E5846B0}"/>
              </a:ext>
            </a:extLst>
          </p:cNvPr>
          <p:cNvSpPr>
            <a:spLocks noGrp="1"/>
          </p:cNvSpPr>
          <p:nvPr>
            <p:ph type="title"/>
          </p:nvPr>
        </p:nvSpPr>
        <p:spPr>
          <a:xfrm>
            <a:off x="1371600" y="290286"/>
            <a:ext cx="9906000" cy="1866900"/>
          </a:xfrm>
        </p:spPr>
        <p:txBody>
          <a:bodyPr>
            <a:noAutofit/>
          </a:bodyPr>
          <a:lstStyle/>
          <a:p>
            <a:pPr>
              <a:lnSpc>
                <a:spcPct val="150000"/>
              </a:lnSpc>
            </a:pPr>
            <a:r>
              <a:rPr lang="vi-VN" sz="3200" b="1"/>
              <a:t>Ví dụ 1:   Cho lược dồ quan hệ Q(ABCDE), r là quan hệ xác định trên Q được cho như sau:</a:t>
            </a:r>
            <a:endParaRPr lang="en-US" sz="2800" b="1"/>
          </a:p>
        </p:txBody>
      </p:sp>
      <p:pic>
        <p:nvPicPr>
          <p:cNvPr id="6" name="Picture 5">
            <a:extLst>
              <a:ext uri="{FF2B5EF4-FFF2-40B4-BE49-F238E27FC236}">
                <a16:creationId xmlns:a16="http://schemas.microsoft.com/office/drawing/2014/main" id="{24346BF3-5BCD-4F6C-A725-9BBF186E196D}"/>
              </a:ext>
            </a:extLst>
          </p:cNvPr>
          <p:cNvPicPr>
            <a:picLocks noChangeAspect="1"/>
          </p:cNvPicPr>
          <p:nvPr/>
        </p:nvPicPr>
        <p:blipFill>
          <a:blip r:embed="rId2"/>
          <a:stretch>
            <a:fillRect/>
          </a:stretch>
        </p:blipFill>
        <p:spPr>
          <a:xfrm>
            <a:off x="1991632" y="1719940"/>
            <a:ext cx="5548539" cy="3651481"/>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D0D75D9-55A4-4F7F-980A-97F49CD5937B}"/>
                  </a:ext>
                </a:extLst>
              </p:cNvPr>
              <p:cNvSpPr txBox="1"/>
              <p:nvPr/>
            </p:nvSpPr>
            <p:spPr>
              <a:xfrm>
                <a:off x="2489200" y="5416080"/>
                <a:ext cx="5914571" cy="1384995"/>
              </a:xfrm>
              <a:prstGeom prst="rect">
                <a:avLst/>
              </a:prstGeom>
              <a:noFill/>
            </p:spPr>
            <p:txBody>
              <a:bodyPr wrap="square" rtlCol="0">
                <a:spAutoFit/>
              </a:bodyPr>
              <a:lstStyle/>
              <a:p>
                <a:r>
                  <a:rPr lang="en-US" sz="2800"/>
                  <a:t>A</a:t>
                </a:r>
                <a14:m>
                  <m:oMath xmlns:m="http://schemas.openxmlformats.org/officeDocument/2006/math">
                    <m:r>
                      <a:rPr lang="en-US"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𝐸</m:t>
                    </m:r>
                  </m:oMath>
                </a14:m>
                <a:endParaRPr lang="en-US" sz="2800" b="0">
                  <a:ea typeface="Cambria Math" panose="02040503050406030204" pitchFamily="18" charset="0"/>
                </a:endParaRPr>
              </a:p>
              <a:p>
                <a:r>
                  <a:rPr lang="en-US" sz="2800"/>
                  <a:t>Vì t1.A=t2.A </a:t>
                </a:r>
                <a14:m>
                  <m:oMath xmlns:m="http://schemas.openxmlformats.org/officeDocument/2006/math">
                    <m:r>
                      <a:rPr lang="en-US"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𝑡</m:t>
                    </m:r>
                    <m:r>
                      <a:rPr lang="en-US" sz="2800" b="0" i="1" smtClean="0">
                        <a:latin typeface="Cambria Math" panose="02040503050406030204" pitchFamily="18" charset="0"/>
                        <a:ea typeface="Cambria Math" panose="02040503050406030204" pitchFamily="18" charset="0"/>
                      </a:rPr>
                      <m:t>1.</m:t>
                    </m:r>
                    <m:r>
                      <a:rPr lang="en-US" sz="2800" b="0" i="1" smtClean="0">
                        <a:latin typeface="Cambria Math" panose="02040503050406030204" pitchFamily="18" charset="0"/>
                        <a:ea typeface="Cambria Math" panose="02040503050406030204" pitchFamily="18" charset="0"/>
                      </a:rPr>
                      <m:t>𝐸</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𝑡</m:t>
                    </m:r>
                    <m:r>
                      <a:rPr lang="en-US" sz="2800" b="0" i="1" smtClean="0">
                        <a:latin typeface="Cambria Math" panose="02040503050406030204" pitchFamily="18" charset="0"/>
                        <a:ea typeface="Cambria Math" panose="02040503050406030204" pitchFamily="18" charset="0"/>
                      </a:rPr>
                      <m:t>2.</m:t>
                    </m:r>
                    <m:r>
                      <a:rPr lang="en-US" sz="2800" b="0" i="1" smtClean="0">
                        <a:latin typeface="Cambria Math" panose="02040503050406030204" pitchFamily="18" charset="0"/>
                        <a:ea typeface="Cambria Math" panose="02040503050406030204" pitchFamily="18" charset="0"/>
                      </a:rPr>
                      <m:t>𝐸</m:t>
                    </m:r>
                  </m:oMath>
                </a14:m>
                <a:endParaRPr lang="en-US" sz="2800" b="0">
                  <a:ea typeface="Cambria Math" panose="02040503050406030204" pitchFamily="18" charset="0"/>
                </a:endParaRPr>
              </a:p>
              <a:p>
                <a:r>
                  <a:rPr lang="en-US" sz="2800"/>
                  <a:t>t3.A=t4.A </a:t>
                </a:r>
                <a14:m>
                  <m:oMath xmlns:m="http://schemas.openxmlformats.org/officeDocument/2006/math">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𝑡</m:t>
                    </m:r>
                    <m:r>
                      <a:rPr lang="en-US" sz="2800" b="0" i="1" smtClean="0">
                        <a:latin typeface="Cambria Math" panose="02040503050406030204" pitchFamily="18" charset="0"/>
                        <a:ea typeface="Cambria Math" panose="02040503050406030204" pitchFamily="18" charset="0"/>
                      </a:rPr>
                      <m:t>3</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𝐸</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𝑡</m:t>
                    </m:r>
                    <m:r>
                      <a:rPr lang="en-US" sz="2800" b="0" i="1" smtClean="0">
                        <a:latin typeface="Cambria Math" panose="02040503050406030204" pitchFamily="18" charset="0"/>
                        <a:ea typeface="Cambria Math" panose="02040503050406030204" pitchFamily="18" charset="0"/>
                      </a:rPr>
                      <m:t>4</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𝐸</m:t>
                    </m:r>
                  </m:oMath>
                </a14:m>
                <a:endParaRPr lang="en-US" sz="2800"/>
              </a:p>
            </p:txBody>
          </p:sp>
        </mc:Choice>
        <mc:Fallback xmlns="">
          <p:sp>
            <p:nvSpPr>
              <p:cNvPr id="7" name="TextBox 6">
                <a:extLst>
                  <a:ext uri="{FF2B5EF4-FFF2-40B4-BE49-F238E27FC236}">
                    <a16:creationId xmlns:a16="http://schemas.microsoft.com/office/drawing/2014/main" id="{FD0D75D9-55A4-4F7F-980A-97F49CD5937B}"/>
                  </a:ext>
                </a:extLst>
              </p:cNvPr>
              <p:cNvSpPr txBox="1">
                <a:spLocks noRot="1" noChangeAspect="1" noMove="1" noResize="1" noEditPoints="1" noAdjustHandles="1" noChangeArrowheads="1" noChangeShapeType="1" noTextEdit="1"/>
              </p:cNvSpPr>
              <p:nvPr/>
            </p:nvSpPr>
            <p:spPr>
              <a:xfrm>
                <a:off x="2489200" y="5416080"/>
                <a:ext cx="5914571" cy="1384995"/>
              </a:xfrm>
              <a:prstGeom prst="rect">
                <a:avLst/>
              </a:prstGeom>
              <a:blipFill>
                <a:blip r:embed="rId3"/>
                <a:stretch>
                  <a:fillRect l="-2060" t="-3947" b="-11404"/>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971ED356-DE4E-4DF0-BE9B-827BC09D5814}"/>
              </a:ext>
            </a:extLst>
          </p:cNvPr>
          <p:cNvSpPr txBox="1"/>
          <p:nvPr/>
        </p:nvSpPr>
        <p:spPr>
          <a:xfrm>
            <a:off x="1505403" y="2331357"/>
            <a:ext cx="508000" cy="2970044"/>
          </a:xfrm>
          <a:prstGeom prst="rect">
            <a:avLst/>
          </a:prstGeom>
          <a:noFill/>
        </p:spPr>
        <p:txBody>
          <a:bodyPr wrap="square" rtlCol="0">
            <a:spAutoFit/>
          </a:bodyPr>
          <a:lstStyle/>
          <a:p>
            <a:pPr>
              <a:lnSpc>
                <a:spcPct val="160000"/>
              </a:lnSpc>
            </a:pPr>
            <a:r>
              <a:rPr lang="en-US" sz="2400"/>
              <a:t>t1</a:t>
            </a:r>
          </a:p>
          <a:p>
            <a:pPr>
              <a:lnSpc>
                <a:spcPct val="160000"/>
              </a:lnSpc>
            </a:pPr>
            <a:r>
              <a:rPr lang="en-US" sz="2400"/>
              <a:t>t2</a:t>
            </a:r>
          </a:p>
          <a:p>
            <a:pPr>
              <a:lnSpc>
                <a:spcPct val="160000"/>
              </a:lnSpc>
            </a:pPr>
            <a:r>
              <a:rPr lang="en-US" sz="2400"/>
              <a:t>t3</a:t>
            </a:r>
          </a:p>
          <a:p>
            <a:pPr>
              <a:lnSpc>
                <a:spcPct val="160000"/>
              </a:lnSpc>
            </a:pPr>
            <a:r>
              <a:rPr lang="en-US" sz="2400"/>
              <a:t>t4</a:t>
            </a:r>
          </a:p>
          <a:p>
            <a:pPr>
              <a:lnSpc>
                <a:spcPct val="160000"/>
              </a:lnSpc>
            </a:pPr>
            <a:r>
              <a:rPr lang="en-US" sz="2400"/>
              <a:t>t5</a:t>
            </a:r>
            <a:endParaRPr lang="en-US"/>
          </a:p>
        </p:txBody>
      </p:sp>
      <p:sp>
        <p:nvSpPr>
          <p:cNvPr id="9" name="TextBox 8">
            <a:extLst>
              <a:ext uri="{FF2B5EF4-FFF2-40B4-BE49-F238E27FC236}">
                <a16:creationId xmlns:a16="http://schemas.microsoft.com/office/drawing/2014/main" id="{560D2441-5D69-40D6-BDBB-02C3797325CC}"/>
              </a:ext>
            </a:extLst>
          </p:cNvPr>
          <p:cNvSpPr txBox="1"/>
          <p:nvPr/>
        </p:nvSpPr>
        <p:spPr>
          <a:xfrm>
            <a:off x="8026400" y="2157186"/>
            <a:ext cx="3570514" cy="1815882"/>
          </a:xfrm>
          <a:prstGeom prst="rect">
            <a:avLst/>
          </a:prstGeom>
          <a:noFill/>
        </p:spPr>
        <p:txBody>
          <a:bodyPr wrap="square" rtlCol="0">
            <a:spAutoFit/>
          </a:bodyPr>
          <a:lstStyle/>
          <a:p>
            <a:r>
              <a:rPr lang="pt-BR" sz="2800"/>
              <a:t>Xét</a:t>
            </a:r>
          </a:p>
          <a:p>
            <a:r>
              <a:rPr lang="pt-BR" sz="2800"/>
              <a:t>A → D ?</a:t>
            </a:r>
          </a:p>
          <a:p>
            <a:r>
              <a:rPr lang="pt-BR" sz="2800"/>
              <a:t>AB → D?</a:t>
            </a:r>
          </a:p>
          <a:p>
            <a:r>
              <a:rPr lang="pt-BR" sz="2800"/>
              <a:t>E → A ?</a:t>
            </a:r>
            <a:endParaRPr lang="en-US" sz="2800"/>
          </a:p>
        </p:txBody>
      </p:sp>
    </p:spTree>
    <p:extLst>
      <p:ext uri="{BB962C8B-B14F-4D97-AF65-F5344CB8AC3E}">
        <p14:creationId xmlns:p14="http://schemas.microsoft.com/office/powerpoint/2010/main" val="2590711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arn(inVertical)">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1000"/>
                                        <p:tgtEl>
                                          <p:spTgt spid="7"/>
                                        </p:tgtEl>
                                      </p:cBhvr>
                                    </p:animEffect>
                                    <p:anim calcmode="lin" valueType="num">
                                      <p:cBhvr>
                                        <p:cTn id="17" dur="1000" fill="hold"/>
                                        <p:tgtEl>
                                          <p:spTgt spid="7"/>
                                        </p:tgtEl>
                                        <p:attrNameLst>
                                          <p:attrName>ppt_x</p:attrName>
                                        </p:attrNameLst>
                                      </p:cBhvr>
                                      <p:tavLst>
                                        <p:tav tm="0">
                                          <p:val>
                                            <p:strVal val="#ppt_x"/>
                                          </p:val>
                                        </p:tav>
                                        <p:tav tm="100000">
                                          <p:val>
                                            <p:strVal val="#ppt_x"/>
                                          </p:val>
                                        </p:tav>
                                      </p:tavLst>
                                    </p:anim>
                                    <p:anim calcmode="lin" valueType="num">
                                      <p:cBhvr>
                                        <p:cTn id="1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animEffect transition="in" filter="wipe(down)">
                                      <p:cBhvr>
                                        <p:cTn id="23" dur="500"/>
                                        <p:tgtEl>
                                          <p:spTgt spid="9">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9">
                                            <p:txEl>
                                              <p:pRg st="1" end="1"/>
                                            </p:txEl>
                                          </p:spTgt>
                                        </p:tgtEl>
                                        <p:attrNameLst>
                                          <p:attrName>style.visibility</p:attrName>
                                        </p:attrNameLst>
                                      </p:cBhvr>
                                      <p:to>
                                        <p:strVal val="visible"/>
                                      </p:to>
                                    </p:set>
                                    <p:animEffect transition="in" filter="wipe(down)">
                                      <p:cBhvr>
                                        <p:cTn id="28" dur="500"/>
                                        <p:tgtEl>
                                          <p:spTgt spid="9">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9">
                                            <p:txEl>
                                              <p:pRg st="2" end="2"/>
                                            </p:txEl>
                                          </p:spTgt>
                                        </p:tgtEl>
                                        <p:attrNameLst>
                                          <p:attrName>style.visibility</p:attrName>
                                        </p:attrNameLst>
                                      </p:cBhvr>
                                      <p:to>
                                        <p:strVal val="visible"/>
                                      </p:to>
                                    </p:set>
                                    <p:animEffect transition="in" filter="wipe(down)">
                                      <p:cBhvr>
                                        <p:cTn id="33" dur="500"/>
                                        <p:tgtEl>
                                          <p:spTgt spid="9">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9">
                                            <p:txEl>
                                              <p:pRg st="3" end="3"/>
                                            </p:txEl>
                                          </p:spTgt>
                                        </p:tgtEl>
                                        <p:attrNameLst>
                                          <p:attrName>style.visibility</p:attrName>
                                        </p:attrNameLst>
                                      </p:cBhvr>
                                      <p:to>
                                        <p:strVal val="visible"/>
                                      </p:to>
                                    </p:set>
                                    <p:animEffect transition="in" filter="wipe(down)">
                                      <p:cBhvr>
                                        <p:cTn id="38"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177686" y="0"/>
            <a:ext cx="7475765" cy="6072823"/>
          </a:xfrm>
          <a:prstGeom prst="rect">
            <a:avLst/>
          </a:prstGeom>
        </p:spPr>
      </p:pic>
    </p:spTree>
    <p:extLst>
      <p:ext uri="{BB962C8B-B14F-4D97-AF65-F5344CB8AC3E}">
        <p14:creationId xmlns:p14="http://schemas.microsoft.com/office/powerpoint/2010/main" val="35014095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50299" y="1068160"/>
            <a:ext cx="9229654" cy="4509679"/>
          </a:xfrm>
          <a:prstGeom prst="rect">
            <a:avLst/>
          </a:prstGeom>
        </p:spPr>
      </p:pic>
    </p:spTree>
    <p:extLst>
      <p:ext uri="{BB962C8B-B14F-4D97-AF65-F5344CB8AC3E}">
        <p14:creationId xmlns:p14="http://schemas.microsoft.com/office/powerpoint/2010/main" val="34398691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16AB-A187-42EA-8DE0-895F4E5846B0}"/>
              </a:ext>
            </a:extLst>
          </p:cNvPr>
          <p:cNvSpPr>
            <a:spLocks noGrp="1"/>
          </p:cNvSpPr>
          <p:nvPr>
            <p:ph type="title"/>
          </p:nvPr>
        </p:nvSpPr>
        <p:spPr>
          <a:xfrm>
            <a:off x="1371600" y="290286"/>
            <a:ext cx="9906000" cy="1866900"/>
          </a:xfrm>
        </p:spPr>
        <p:txBody>
          <a:bodyPr>
            <a:normAutofit fontScale="90000"/>
          </a:bodyPr>
          <a:lstStyle/>
          <a:p>
            <a:pPr>
              <a:lnSpc>
                <a:spcPct val="150000"/>
              </a:lnSpc>
            </a:pPr>
            <a:r>
              <a:rPr lang="vi-VN" b="1"/>
              <a:t>2.1.1.2. Cách xác định phụ thuộc hàm cho Lược đồ quan hệ </a:t>
            </a:r>
            <a:endParaRPr lang="en-US" sz="4000" b="1"/>
          </a:p>
        </p:txBody>
      </p:sp>
      <p:sp>
        <p:nvSpPr>
          <p:cNvPr id="3" name="Content Placeholder 2">
            <a:extLst>
              <a:ext uri="{FF2B5EF4-FFF2-40B4-BE49-F238E27FC236}">
                <a16:creationId xmlns:a16="http://schemas.microsoft.com/office/drawing/2014/main" id="{E8AFF05F-95AE-479E-8711-4F9F4E3E6EE3}"/>
              </a:ext>
            </a:extLst>
          </p:cNvPr>
          <p:cNvSpPr>
            <a:spLocks noGrp="1"/>
          </p:cNvSpPr>
          <p:nvPr>
            <p:ph idx="1"/>
          </p:nvPr>
        </p:nvSpPr>
        <p:spPr>
          <a:xfrm>
            <a:off x="1371600" y="2286000"/>
            <a:ext cx="10515600" cy="4281714"/>
          </a:xfrm>
        </p:spPr>
        <p:txBody>
          <a:bodyPr>
            <a:normAutofit/>
          </a:bodyPr>
          <a:lstStyle/>
          <a:p>
            <a:pPr>
              <a:lnSpc>
                <a:spcPct val="150000"/>
              </a:lnSpc>
            </a:pPr>
            <a:r>
              <a:rPr lang="vi-VN" sz="2800"/>
              <a:t>Cách duy nhất để xác định đúng các phụ thuộc thích hợp cho một lược đồ quan hệ là xem xét nội dung </a:t>
            </a:r>
            <a:r>
              <a:rPr lang="vi-VN" sz="2800" b="1"/>
              <a:t>tân từ </a:t>
            </a:r>
            <a:r>
              <a:rPr lang="vi-VN" sz="2800"/>
              <a:t>của lược đồ quan hệ đó. </a:t>
            </a:r>
            <a:endParaRPr lang="en-US" sz="2800"/>
          </a:p>
          <a:p>
            <a:pPr>
              <a:lnSpc>
                <a:spcPct val="150000"/>
              </a:lnSpc>
            </a:pPr>
            <a:r>
              <a:rPr lang="vi-VN" sz="2800"/>
              <a:t>Thường khi thành lập một lược đồ quan hệ, người thiết kế luôn gắn cho nó một ý nghĩa nhất định, ý nghĩa đó gọi là </a:t>
            </a:r>
            <a:r>
              <a:rPr lang="vi-VN" sz="2800" b="1"/>
              <a:t>tân từ</a:t>
            </a:r>
            <a:r>
              <a:rPr lang="vi-VN" sz="2800"/>
              <a:t> của lược đồ quan hệ đó</a:t>
            </a:r>
            <a:endParaRPr lang="en-US" sz="2800"/>
          </a:p>
        </p:txBody>
      </p:sp>
    </p:spTree>
    <p:extLst>
      <p:ext uri="{BB962C8B-B14F-4D97-AF65-F5344CB8AC3E}">
        <p14:creationId xmlns:p14="http://schemas.microsoft.com/office/powerpoint/2010/main" val="3676605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16AB-A187-42EA-8DE0-895F4E5846B0}"/>
              </a:ext>
            </a:extLst>
          </p:cNvPr>
          <p:cNvSpPr>
            <a:spLocks noGrp="1"/>
          </p:cNvSpPr>
          <p:nvPr>
            <p:ph type="title"/>
          </p:nvPr>
        </p:nvSpPr>
        <p:spPr>
          <a:xfrm>
            <a:off x="1371600" y="290286"/>
            <a:ext cx="9906000" cy="1866900"/>
          </a:xfrm>
        </p:spPr>
        <p:txBody>
          <a:bodyPr>
            <a:normAutofit/>
          </a:bodyPr>
          <a:lstStyle/>
          <a:p>
            <a:pPr>
              <a:lnSpc>
                <a:spcPct val="150000"/>
              </a:lnSpc>
            </a:pPr>
            <a:r>
              <a:rPr lang="vi-VN" sz="3200" b="1"/>
              <a:t>2.1.1.2. Cách xác định phụ thuộc hàm cho Lược đồ quan hệ </a:t>
            </a:r>
            <a:endParaRPr lang="en-US" sz="2800" b="1"/>
          </a:p>
        </p:txBody>
      </p:sp>
      <p:sp>
        <p:nvSpPr>
          <p:cNvPr id="3" name="Content Placeholder 2">
            <a:extLst>
              <a:ext uri="{FF2B5EF4-FFF2-40B4-BE49-F238E27FC236}">
                <a16:creationId xmlns:a16="http://schemas.microsoft.com/office/drawing/2014/main" id="{E8AFF05F-95AE-479E-8711-4F9F4E3E6EE3}"/>
              </a:ext>
            </a:extLst>
          </p:cNvPr>
          <p:cNvSpPr>
            <a:spLocks noGrp="1"/>
          </p:cNvSpPr>
          <p:nvPr>
            <p:ph idx="1"/>
          </p:nvPr>
        </p:nvSpPr>
        <p:spPr>
          <a:xfrm>
            <a:off x="1371600" y="1798820"/>
            <a:ext cx="10515600" cy="5059179"/>
          </a:xfrm>
        </p:spPr>
        <p:txBody>
          <a:bodyPr>
            <a:noAutofit/>
          </a:bodyPr>
          <a:lstStyle/>
          <a:p>
            <a:pPr>
              <a:lnSpc>
                <a:spcPct val="130000"/>
              </a:lnSpc>
              <a:spcBef>
                <a:spcPts val="600"/>
              </a:spcBef>
              <a:spcAft>
                <a:spcPts val="600"/>
              </a:spcAft>
            </a:pPr>
            <a:r>
              <a:rPr lang="vi-VN" sz="2400"/>
              <a:t>Sv(MASV, HOTEN, NU, NGAYSINH, MALOP, TINH, HOCBONG) </a:t>
            </a:r>
            <a:endParaRPr lang="en-US" sz="2400"/>
          </a:p>
          <a:p>
            <a:pPr marL="0" indent="0">
              <a:lnSpc>
                <a:spcPct val="130000"/>
              </a:lnSpc>
              <a:spcBef>
                <a:spcPts val="600"/>
              </a:spcBef>
              <a:spcAft>
                <a:spcPts val="600"/>
              </a:spcAft>
              <a:buNone/>
            </a:pPr>
            <a:r>
              <a:rPr lang="vi-VN" sz="2400"/>
              <a:t>Tân từ: Mỗi sinh viên có một MASV duy nhất. Mỗi MASV xác định tất cả các thuộc tính còn lại của SV đó </a:t>
            </a:r>
            <a:endParaRPr lang="en-US" sz="2400"/>
          </a:p>
          <a:p>
            <a:pPr>
              <a:lnSpc>
                <a:spcPct val="130000"/>
              </a:lnSpc>
              <a:spcBef>
                <a:spcPts val="600"/>
              </a:spcBef>
              <a:spcAft>
                <a:spcPts val="600"/>
              </a:spcAft>
            </a:pPr>
            <a:r>
              <a:rPr lang="vi-VN" sz="2400"/>
              <a:t>Lop(MALOP, TENLOP, SISO, MAKHOA) </a:t>
            </a:r>
            <a:endParaRPr lang="en-US" sz="2400"/>
          </a:p>
          <a:p>
            <a:pPr marL="0" indent="0">
              <a:lnSpc>
                <a:spcPct val="130000"/>
              </a:lnSpc>
              <a:spcBef>
                <a:spcPts val="600"/>
              </a:spcBef>
              <a:spcAft>
                <a:spcPts val="600"/>
              </a:spcAft>
              <a:buNone/>
            </a:pPr>
            <a:r>
              <a:rPr lang="vi-VN" sz="2400"/>
              <a:t>Tân từ: Mỗi lớp có một mã lớp duy nhất, mỗi lớp chỉ thuộc về một khoa nào đó </a:t>
            </a:r>
            <a:endParaRPr lang="en-US" sz="2400"/>
          </a:p>
          <a:p>
            <a:pPr>
              <a:lnSpc>
                <a:spcPct val="130000"/>
              </a:lnSpc>
              <a:spcBef>
                <a:spcPts val="600"/>
              </a:spcBef>
              <a:spcAft>
                <a:spcPts val="600"/>
              </a:spcAft>
            </a:pPr>
            <a:r>
              <a:rPr lang="vi-VN" sz="2400"/>
              <a:t>Kh(MAKHOA, TENKHOA, SOCBGD) </a:t>
            </a:r>
            <a:endParaRPr lang="en-US" sz="2400"/>
          </a:p>
          <a:p>
            <a:pPr marL="0" indent="0">
              <a:lnSpc>
                <a:spcPct val="130000"/>
              </a:lnSpc>
              <a:spcBef>
                <a:spcPts val="600"/>
              </a:spcBef>
              <a:spcAft>
                <a:spcPts val="600"/>
              </a:spcAft>
              <a:buNone/>
            </a:pPr>
            <a:r>
              <a:rPr lang="vi-VN" sz="2400"/>
              <a:t>Tân từ: Mỗi khoa có một MAKHOA duy nhất. Mỗi MAKHOA xác định tất cả các thuộc tính còn lại của khoa đó </a:t>
            </a:r>
            <a:endParaRPr lang="en-US" sz="2400"/>
          </a:p>
        </p:txBody>
      </p:sp>
    </p:spTree>
    <p:extLst>
      <p:ext uri="{BB962C8B-B14F-4D97-AF65-F5344CB8AC3E}">
        <p14:creationId xmlns:p14="http://schemas.microsoft.com/office/powerpoint/2010/main" val="2659270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16AB-A187-42EA-8DE0-895F4E5846B0}"/>
              </a:ext>
            </a:extLst>
          </p:cNvPr>
          <p:cNvSpPr>
            <a:spLocks noGrp="1"/>
          </p:cNvSpPr>
          <p:nvPr>
            <p:ph type="title"/>
          </p:nvPr>
        </p:nvSpPr>
        <p:spPr>
          <a:xfrm>
            <a:off x="1371600" y="290286"/>
            <a:ext cx="9906000" cy="1866900"/>
          </a:xfrm>
        </p:spPr>
        <p:txBody>
          <a:bodyPr>
            <a:normAutofit fontScale="90000"/>
          </a:bodyPr>
          <a:lstStyle/>
          <a:p>
            <a:pPr>
              <a:lnSpc>
                <a:spcPct val="150000"/>
              </a:lnSpc>
            </a:pPr>
            <a:r>
              <a:rPr lang="vi-VN" b="1"/>
              <a:t>2.1.1.2. Cách xác định phụ thuộc hàm cho Lược đồ quan hệ </a:t>
            </a:r>
            <a:endParaRPr lang="en-US" sz="4000" b="1"/>
          </a:p>
        </p:txBody>
      </p:sp>
      <p:sp>
        <p:nvSpPr>
          <p:cNvPr id="3" name="Content Placeholder 2">
            <a:extLst>
              <a:ext uri="{FF2B5EF4-FFF2-40B4-BE49-F238E27FC236}">
                <a16:creationId xmlns:a16="http://schemas.microsoft.com/office/drawing/2014/main" id="{E8AFF05F-95AE-479E-8711-4F9F4E3E6EE3}"/>
              </a:ext>
            </a:extLst>
          </p:cNvPr>
          <p:cNvSpPr>
            <a:spLocks noGrp="1"/>
          </p:cNvSpPr>
          <p:nvPr>
            <p:ph idx="1"/>
          </p:nvPr>
        </p:nvSpPr>
        <p:spPr>
          <a:xfrm>
            <a:off x="1371600" y="2286000"/>
            <a:ext cx="10515600" cy="4281714"/>
          </a:xfrm>
        </p:spPr>
        <p:txBody>
          <a:bodyPr>
            <a:normAutofit/>
          </a:bodyPr>
          <a:lstStyle/>
          <a:p>
            <a:pPr>
              <a:lnSpc>
                <a:spcPct val="150000"/>
              </a:lnSpc>
            </a:pPr>
            <a:r>
              <a:rPr lang="en-US" sz="2800"/>
              <a:t>Ví dụ: </a:t>
            </a:r>
          </a:p>
          <a:p>
            <a:pPr>
              <a:lnSpc>
                <a:spcPct val="150000"/>
              </a:lnSpc>
            </a:pPr>
            <a:r>
              <a:rPr lang="en-US" sz="2800"/>
              <a:t>SINHVIEN(MASV, HOTENSV, NU, NGAYSINH, MALOP, TINH )</a:t>
            </a:r>
          </a:p>
          <a:p>
            <a:pPr marL="0" indent="0">
              <a:lnSpc>
                <a:spcPct val="150000"/>
              </a:lnSpc>
              <a:buNone/>
            </a:pPr>
            <a:r>
              <a:rPr lang="en-US" sz="2800"/>
              <a:t>MASV → HOTENSV, NU, NGAYSINH, MALOP, TINH </a:t>
            </a:r>
          </a:p>
        </p:txBody>
      </p:sp>
    </p:spTree>
    <p:extLst>
      <p:ext uri="{BB962C8B-B14F-4D97-AF65-F5344CB8AC3E}">
        <p14:creationId xmlns:p14="http://schemas.microsoft.com/office/powerpoint/2010/main" val="2705153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16AB-A187-42EA-8DE0-895F4E5846B0}"/>
              </a:ext>
            </a:extLst>
          </p:cNvPr>
          <p:cNvSpPr>
            <a:spLocks noGrp="1"/>
          </p:cNvSpPr>
          <p:nvPr>
            <p:ph type="title"/>
          </p:nvPr>
        </p:nvSpPr>
        <p:spPr>
          <a:xfrm>
            <a:off x="1371600" y="290286"/>
            <a:ext cx="9906000" cy="1866900"/>
          </a:xfrm>
        </p:spPr>
        <p:txBody>
          <a:bodyPr>
            <a:normAutofit/>
          </a:bodyPr>
          <a:lstStyle/>
          <a:p>
            <a:pPr>
              <a:lnSpc>
                <a:spcPct val="150000"/>
              </a:lnSpc>
            </a:pPr>
            <a:r>
              <a:rPr lang="vi-VN" b="1"/>
              <a:t>2.1.2. Hệ tiên đề Amstrong </a:t>
            </a:r>
            <a:endParaRPr lang="en-US" sz="4000" b="1"/>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AFF05F-95AE-479E-8711-4F9F4E3E6EE3}"/>
                  </a:ext>
                </a:extLst>
              </p:cNvPr>
              <p:cNvSpPr>
                <a:spLocks noGrp="1"/>
              </p:cNvSpPr>
              <p:nvPr>
                <p:ph idx="1"/>
              </p:nvPr>
            </p:nvSpPr>
            <p:spPr>
              <a:xfrm>
                <a:off x="1240971" y="1632857"/>
                <a:ext cx="10515600" cy="4281714"/>
              </a:xfrm>
            </p:spPr>
            <p:txBody>
              <a:bodyPr>
                <a:normAutofit/>
              </a:bodyPr>
              <a:lstStyle/>
              <a:p>
                <a:pPr algn="just">
                  <a:lnSpc>
                    <a:spcPct val="150000"/>
                  </a:lnSpc>
                </a:pPr>
                <a:r>
                  <a:rPr lang="vi-VN" sz="2800"/>
                  <a:t>Để có thể xác định được các phụ thuộc hàm khác từ tập phụ thuộc hàm đã có, ta dùng hệ tiên đề Armstrong (1974),  gồm các luật sau:  với X,Y,Z,W </a:t>
                </a:r>
                <a14:m>
                  <m:oMath xmlns:m="http://schemas.openxmlformats.org/officeDocument/2006/math">
                    <m:r>
                      <a:rPr lang="vi-VN" sz="2800" i="1" smtClean="0">
                        <a:latin typeface="Cambria Math" panose="02040503050406030204" pitchFamily="18" charset="0"/>
                        <a:ea typeface="Cambria Math" panose="02040503050406030204" pitchFamily="18" charset="0"/>
                      </a:rPr>
                      <m:t>⊆</m:t>
                    </m:r>
                  </m:oMath>
                </a14:m>
                <a:r>
                  <a:rPr lang="vi-VN" sz="2800"/>
                  <a:t>Q</a:t>
                </a:r>
                <a:r>
                  <a:rPr lang="vi-VN" sz="2800" baseline="30000"/>
                  <a:t>+</a:t>
                </a:r>
                <a:r>
                  <a:rPr lang="vi-VN" sz="2800"/>
                  <a:t> </a:t>
                </a:r>
                <a:endParaRPr lang="en-US" sz="2800"/>
              </a:p>
              <a:p>
                <a:pPr marL="0" indent="0">
                  <a:lnSpc>
                    <a:spcPct val="150000"/>
                  </a:lnSpc>
                  <a:buNone/>
                </a:pPr>
                <a:endParaRPr lang="en-US" sz="2800"/>
              </a:p>
            </p:txBody>
          </p:sp>
        </mc:Choice>
        <mc:Fallback xmlns="">
          <p:sp>
            <p:nvSpPr>
              <p:cNvPr id="3" name="Content Placeholder 2">
                <a:extLst>
                  <a:ext uri="{FF2B5EF4-FFF2-40B4-BE49-F238E27FC236}">
                    <a16:creationId xmlns:a16="http://schemas.microsoft.com/office/drawing/2014/main" id="{E8AFF05F-95AE-479E-8711-4F9F4E3E6EE3}"/>
                  </a:ext>
                </a:extLst>
              </p:cNvPr>
              <p:cNvSpPr>
                <a:spLocks noGrp="1" noRot="1" noChangeAspect="1" noMove="1" noResize="1" noEditPoints="1" noAdjustHandles="1" noChangeArrowheads="1" noChangeShapeType="1" noTextEdit="1"/>
              </p:cNvSpPr>
              <p:nvPr>
                <p:ph idx="1"/>
              </p:nvPr>
            </p:nvSpPr>
            <p:spPr>
              <a:xfrm>
                <a:off x="1240971" y="1632857"/>
                <a:ext cx="10515600" cy="4281714"/>
              </a:xfrm>
              <a:blipFill>
                <a:blip r:embed="rId2"/>
                <a:stretch>
                  <a:fillRect l="-1101" r="-1159"/>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797CD3C0-3FBD-431E-946F-EBA9E2DE43E6}"/>
              </a:ext>
            </a:extLst>
          </p:cNvPr>
          <p:cNvPicPr>
            <a:picLocks noChangeAspect="1"/>
          </p:cNvPicPr>
          <p:nvPr/>
        </p:nvPicPr>
        <p:blipFill>
          <a:blip r:embed="rId3"/>
          <a:stretch>
            <a:fillRect/>
          </a:stretch>
        </p:blipFill>
        <p:spPr>
          <a:xfrm>
            <a:off x="1551894" y="3773713"/>
            <a:ext cx="5578928" cy="1451429"/>
          </a:xfrm>
          <a:prstGeom prst="rect">
            <a:avLst/>
          </a:prstGeom>
        </p:spPr>
      </p:pic>
      <p:pic>
        <p:nvPicPr>
          <p:cNvPr id="6" name="Picture 5">
            <a:extLst>
              <a:ext uri="{FF2B5EF4-FFF2-40B4-BE49-F238E27FC236}">
                <a16:creationId xmlns:a16="http://schemas.microsoft.com/office/drawing/2014/main" id="{164F1E1D-908F-4FCD-AF07-9D921B394447}"/>
              </a:ext>
            </a:extLst>
          </p:cNvPr>
          <p:cNvPicPr>
            <a:picLocks noChangeAspect="1"/>
          </p:cNvPicPr>
          <p:nvPr/>
        </p:nvPicPr>
        <p:blipFill>
          <a:blip r:embed="rId4"/>
          <a:stretch>
            <a:fillRect/>
          </a:stretch>
        </p:blipFill>
        <p:spPr>
          <a:xfrm>
            <a:off x="1371600" y="5336951"/>
            <a:ext cx="7017657" cy="1248905"/>
          </a:xfrm>
          <a:prstGeom prst="rect">
            <a:avLst/>
          </a:prstGeom>
        </p:spPr>
      </p:pic>
    </p:spTree>
    <p:extLst>
      <p:ext uri="{BB962C8B-B14F-4D97-AF65-F5344CB8AC3E}">
        <p14:creationId xmlns:p14="http://schemas.microsoft.com/office/powerpoint/2010/main" val="187484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CAFBEC0-7390-4EED-8232-9ED86A51F756}"/>
              </a:ext>
            </a:extLst>
          </p:cNvPr>
          <p:cNvSpPr txBox="1">
            <a:spLocks/>
          </p:cNvSpPr>
          <p:nvPr/>
        </p:nvSpPr>
        <p:spPr>
          <a:xfrm>
            <a:off x="1371600" y="290286"/>
            <a:ext cx="9906000" cy="1866900"/>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pPr>
              <a:lnSpc>
                <a:spcPct val="150000"/>
              </a:lnSpc>
            </a:pPr>
            <a:r>
              <a:rPr lang="vi-VN" b="1"/>
              <a:t>2.1.2. Hệ tiên đề Amstrong </a:t>
            </a:r>
            <a:endParaRPr lang="en-US" sz="4000" b="1"/>
          </a:p>
        </p:txBody>
      </p:sp>
      <p:pic>
        <p:nvPicPr>
          <p:cNvPr id="9" name="Picture 8">
            <a:extLst>
              <a:ext uri="{FF2B5EF4-FFF2-40B4-BE49-F238E27FC236}">
                <a16:creationId xmlns:a16="http://schemas.microsoft.com/office/drawing/2014/main" id="{F339651B-0AD5-41B4-893D-A5B6F34707E6}"/>
              </a:ext>
            </a:extLst>
          </p:cNvPr>
          <p:cNvPicPr>
            <a:picLocks noChangeAspect="1"/>
          </p:cNvPicPr>
          <p:nvPr/>
        </p:nvPicPr>
        <p:blipFill>
          <a:blip r:embed="rId2"/>
          <a:stretch>
            <a:fillRect/>
          </a:stretch>
        </p:blipFill>
        <p:spPr>
          <a:xfrm>
            <a:off x="1371600" y="1446919"/>
            <a:ext cx="5707517" cy="1302956"/>
          </a:xfrm>
          <a:prstGeom prst="rect">
            <a:avLst/>
          </a:prstGeom>
        </p:spPr>
      </p:pic>
      <p:pic>
        <p:nvPicPr>
          <p:cNvPr id="10" name="Picture 9">
            <a:extLst>
              <a:ext uri="{FF2B5EF4-FFF2-40B4-BE49-F238E27FC236}">
                <a16:creationId xmlns:a16="http://schemas.microsoft.com/office/drawing/2014/main" id="{61672CBB-B65D-4E30-ADA2-588DA14452E0}"/>
              </a:ext>
            </a:extLst>
          </p:cNvPr>
          <p:cNvPicPr>
            <a:picLocks noChangeAspect="1"/>
          </p:cNvPicPr>
          <p:nvPr/>
        </p:nvPicPr>
        <p:blipFill>
          <a:blip r:embed="rId3"/>
          <a:stretch>
            <a:fillRect/>
          </a:stretch>
        </p:blipFill>
        <p:spPr>
          <a:xfrm>
            <a:off x="1313770" y="2829995"/>
            <a:ext cx="7171787" cy="2399103"/>
          </a:xfrm>
          <a:prstGeom prst="rect">
            <a:avLst/>
          </a:prstGeom>
        </p:spPr>
      </p:pic>
      <p:pic>
        <p:nvPicPr>
          <p:cNvPr id="12" name="Picture 11">
            <a:extLst>
              <a:ext uri="{FF2B5EF4-FFF2-40B4-BE49-F238E27FC236}">
                <a16:creationId xmlns:a16="http://schemas.microsoft.com/office/drawing/2014/main" id="{C455C3E4-8848-46D1-97A3-B80BD9007CC9}"/>
              </a:ext>
            </a:extLst>
          </p:cNvPr>
          <p:cNvPicPr>
            <a:picLocks noChangeAspect="1"/>
          </p:cNvPicPr>
          <p:nvPr/>
        </p:nvPicPr>
        <p:blipFill>
          <a:blip r:embed="rId4"/>
          <a:stretch>
            <a:fillRect/>
          </a:stretch>
        </p:blipFill>
        <p:spPr>
          <a:xfrm>
            <a:off x="1139200" y="5104518"/>
            <a:ext cx="6899842" cy="1463196"/>
          </a:xfrm>
          <a:prstGeom prst="rect">
            <a:avLst/>
          </a:prstGeom>
        </p:spPr>
      </p:pic>
    </p:spTree>
    <p:extLst>
      <p:ext uri="{BB962C8B-B14F-4D97-AF65-F5344CB8AC3E}">
        <p14:creationId xmlns:p14="http://schemas.microsoft.com/office/powerpoint/2010/main" val="764288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16AB-A187-42EA-8DE0-895F4E5846B0}"/>
              </a:ext>
            </a:extLst>
          </p:cNvPr>
          <p:cNvSpPr>
            <a:spLocks noGrp="1"/>
          </p:cNvSpPr>
          <p:nvPr>
            <p:ph type="title"/>
          </p:nvPr>
        </p:nvSpPr>
        <p:spPr>
          <a:xfrm>
            <a:off x="1371600" y="290286"/>
            <a:ext cx="10326914" cy="1866900"/>
          </a:xfrm>
        </p:spPr>
        <p:txBody>
          <a:bodyPr>
            <a:normAutofit fontScale="90000"/>
          </a:bodyPr>
          <a:lstStyle/>
          <a:p>
            <a:pPr>
              <a:lnSpc>
                <a:spcPct val="150000"/>
              </a:lnSpc>
            </a:pPr>
            <a:r>
              <a:rPr lang="en-US" b="1"/>
              <a:t>2.1.3. Bao đóng</a:t>
            </a:r>
            <a:br>
              <a:rPr lang="en-US" b="1"/>
            </a:br>
            <a:r>
              <a:rPr lang="en-US" b="1"/>
              <a:t>2.1.3.1. Bao Đóng Của Tập Phụ Thuộc Hàm F</a:t>
            </a:r>
            <a:endParaRPr lang="en-US" sz="4000" b="1"/>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AFF05F-95AE-479E-8711-4F9F4E3E6EE3}"/>
                  </a:ext>
                </a:extLst>
              </p:cNvPr>
              <p:cNvSpPr>
                <a:spLocks noGrp="1"/>
              </p:cNvSpPr>
              <p:nvPr>
                <p:ph idx="1"/>
              </p:nvPr>
            </p:nvSpPr>
            <p:spPr>
              <a:xfrm>
                <a:off x="1371600" y="2286000"/>
                <a:ext cx="10515600" cy="4281714"/>
              </a:xfrm>
            </p:spPr>
            <p:txBody>
              <a:bodyPr>
                <a:normAutofit/>
              </a:bodyPr>
              <a:lstStyle/>
              <a:p>
                <a:pPr>
                  <a:lnSpc>
                    <a:spcPct val="150000"/>
                  </a:lnSpc>
                </a:pPr>
                <a:r>
                  <a:rPr lang="vi-VN" sz="2800" dirty="0"/>
                  <a:t>Bao đóng (closure) của tập phụ thuộc hàm F (ký hiệu là F</a:t>
                </a:r>
                <a:r>
                  <a:rPr lang="vi-VN" sz="2800" baseline="30000" dirty="0"/>
                  <a:t>+</a:t>
                </a:r>
                <a:r>
                  <a:rPr lang="vi-VN" sz="2800" dirty="0"/>
                  <a:t>) là tập hợp tất cả các phụ thuộc hàm có thể suy ra từ F dựa vào các tiên đề Armstrong. Rõ ràng F</a:t>
                </a:r>
                <a14:m>
                  <m:oMath xmlns:m="http://schemas.openxmlformats.org/officeDocument/2006/math">
                    <m:r>
                      <a:rPr lang="vi-VN" sz="2800" i="1" smtClean="0">
                        <a:latin typeface="Cambria Math" panose="02040503050406030204" pitchFamily="18" charset="0"/>
                        <a:ea typeface="Cambria Math" panose="02040503050406030204" pitchFamily="18" charset="0"/>
                      </a:rPr>
                      <m:t>⊆</m:t>
                    </m:r>
                  </m:oMath>
                </a14:m>
                <a:r>
                  <a:rPr lang="vi-VN" sz="2800" dirty="0"/>
                  <a:t>F</a:t>
                </a:r>
                <a:r>
                  <a:rPr lang="vi-VN" sz="2800" baseline="30000" dirty="0"/>
                  <a:t>+</a:t>
                </a:r>
                <a:endParaRPr lang="en-US" sz="2800" baseline="30000" dirty="0"/>
              </a:p>
            </p:txBody>
          </p:sp>
        </mc:Choice>
        <mc:Fallback xmlns="">
          <p:sp>
            <p:nvSpPr>
              <p:cNvPr id="3" name="Content Placeholder 2">
                <a:extLst>
                  <a:ext uri="{FF2B5EF4-FFF2-40B4-BE49-F238E27FC236}">
                    <a16:creationId xmlns:a16="http://schemas.microsoft.com/office/drawing/2014/main" id="{E8AFF05F-95AE-479E-8711-4F9F4E3E6EE3}"/>
                  </a:ext>
                </a:extLst>
              </p:cNvPr>
              <p:cNvSpPr>
                <a:spLocks noGrp="1" noRot="1" noChangeAspect="1" noMove="1" noResize="1" noEditPoints="1" noAdjustHandles="1" noChangeArrowheads="1" noChangeShapeType="1" noTextEdit="1"/>
              </p:cNvSpPr>
              <p:nvPr>
                <p:ph idx="1"/>
              </p:nvPr>
            </p:nvSpPr>
            <p:spPr>
              <a:xfrm>
                <a:off x="1371600" y="2286000"/>
                <a:ext cx="10515600" cy="4281714"/>
              </a:xfrm>
              <a:blipFill>
                <a:blip r:embed="rId2"/>
                <a:stretch>
                  <a:fillRect l="-1043" r="-696"/>
                </a:stretch>
              </a:blipFill>
            </p:spPr>
            <p:txBody>
              <a:bodyPr/>
              <a:lstStyle/>
              <a:p>
                <a:r>
                  <a:rPr lang="en-US">
                    <a:noFill/>
                  </a:rPr>
                  <a:t> </a:t>
                </a:r>
              </a:p>
            </p:txBody>
          </p:sp>
        </mc:Fallback>
      </mc:AlternateContent>
    </p:spTree>
    <p:extLst>
      <p:ext uri="{BB962C8B-B14F-4D97-AF65-F5344CB8AC3E}">
        <p14:creationId xmlns:p14="http://schemas.microsoft.com/office/powerpoint/2010/main" val="2461826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16AB-A187-42EA-8DE0-895F4E5846B0}"/>
              </a:ext>
            </a:extLst>
          </p:cNvPr>
          <p:cNvSpPr>
            <a:spLocks noGrp="1"/>
          </p:cNvSpPr>
          <p:nvPr>
            <p:ph type="title"/>
          </p:nvPr>
        </p:nvSpPr>
        <p:spPr>
          <a:xfrm>
            <a:off x="1371600" y="290286"/>
            <a:ext cx="10326914" cy="1132114"/>
          </a:xfrm>
        </p:spPr>
        <p:txBody>
          <a:bodyPr>
            <a:normAutofit/>
          </a:bodyPr>
          <a:lstStyle/>
          <a:p>
            <a:pPr>
              <a:lnSpc>
                <a:spcPct val="150000"/>
              </a:lnSpc>
            </a:pPr>
            <a:r>
              <a:rPr lang="vi-VN"/>
              <a:t>Ví dụ</a:t>
            </a:r>
            <a:endParaRPr lang="en-US" sz="4000" b="1"/>
          </a:p>
        </p:txBody>
      </p:sp>
      <p:sp>
        <p:nvSpPr>
          <p:cNvPr id="3" name="Content Placeholder 2">
            <a:extLst>
              <a:ext uri="{FF2B5EF4-FFF2-40B4-BE49-F238E27FC236}">
                <a16:creationId xmlns:a16="http://schemas.microsoft.com/office/drawing/2014/main" id="{E8AFF05F-95AE-479E-8711-4F9F4E3E6EE3}"/>
              </a:ext>
            </a:extLst>
          </p:cNvPr>
          <p:cNvSpPr>
            <a:spLocks noGrp="1"/>
          </p:cNvSpPr>
          <p:nvPr>
            <p:ph idx="1"/>
          </p:nvPr>
        </p:nvSpPr>
        <p:spPr>
          <a:xfrm>
            <a:off x="1066800" y="1422399"/>
            <a:ext cx="10515600" cy="5036457"/>
          </a:xfrm>
        </p:spPr>
        <p:txBody>
          <a:bodyPr>
            <a:normAutofit/>
          </a:bodyPr>
          <a:lstStyle/>
          <a:p>
            <a:pPr>
              <a:lnSpc>
                <a:spcPct val="150000"/>
              </a:lnSpc>
            </a:pPr>
            <a:r>
              <a:rPr lang="vi-VN" sz="2800"/>
              <a:t>Cho lược đồ quan hệ Q(ABCDEGH) và F được cho như sau: </a:t>
            </a:r>
            <a:endParaRPr lang="en-US" sz="2800"/>
          </a:p>
          <a:p>
            <a:pPr>
              <a:lnSpc>
                <a:spcPct val="150000"/>
              </a:lnSpc>
            </a:pPr>
            <a:r>
              <a:rPr lang="vi-VN" sz="2800"/>
              <a:t>F = {B → A;  DA→ CE;   D → H; GH→ C; AC→ D }  </a:t>
            </a:r>
            <a:endParaRPr lang="en-US" sz="2800"/>
          </a:p>
          <a:p>
            <a:pPr>
              <a:lnSpc>
                <a:spcPct val="150000"/>
              </a:lnSpc>
            </a:pPr>
            <a:r>
              <a:rPr lang="vi-VN" sz="2800"/>
              <a:t>Khi đó F+ ={B  → A;  DA→ CE;   D → H; GH→ C; AC→ D ;  BC →  AC; BC → D; D</a:t>
            </a:r>
            <a:r>
              <a:rPr lang="en-US" sz="2800"/>
              <a:t>G</a:t>
            </a:r>
            <a:r>
              <a:rPr lang="vi-VN" sz="2800"/>
              <a:t> → </a:t>
            </a:r>
            <a:r>
              <a:rPr lang="en-US" sz="2800"/>
              <a:t>G</a:t>
            </a:r>
            <a:r>
              <a:rPr lang="vi-VN" sz="2800"/>
              <a:t>H; DG → C;</a:t>
            </a:r>
            <a:r>
              <a:rPr lang="en-US" sz="2800"/>
              <a:t>..</a:t>
            </a:r>
            <a:r>
              <a:rPr lang="vi-VN" sz="2800"/>
              <a:t>.}  </a:t>
            </a:r>
            <a:endParaRPr lang="en-US" sz="2800"/>
          </a:p>
          <a:p>
            <a:pPr>
              <a:lnSpc>
                <a:spcPct val="150000"/>
              </a:lnSpc>
            </a:pPr>
            <a:r>
              <a:rPr lang="vi-VN" sz="2800"/>
              <a:t>Lưu ý rằng, nếu mỗi thuộc tính được biểu diễn bằng một ký tự thì danh sách các thuộc tính có hoặc không có dấu phẩy đều được, còn giữa các phụ thuộc hàm phải có dấu chấm phẩy</a:t>
            </a:r>
            <a:endParaRPr lang="en-US" sz="2800"/>
          </a:p>
        </p:txBody>
      </p:sp>
    </p:spTree>
    <p:extLst>
      <p:ext uri="{BB962C8B-B14F-4D97-AF65-F5344CB8AC3E}">
        <p14:creationId xmlns:p14="http://schemas.microsoft.com/office/powerpoint/2010/main" val="750519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69423" y="959576"/>
            <a:ext cx="9291049" cy="3703864"/>
          </a:xfrm>
          <a:prstGeom prst="rect">
            <a:avLst/>
          </a:prstGeom>
        </p:spPr>
      </p:pic>
    </p:spTree>
    <p:extLst>
      <p:ext uri="{BB962C8B-B14F-4D97-AF65-F5344CB8AC3E}">
        <p14:creationId xmlns:p14="http://schemas.microsoft.com/office/powerpoint/2010/main" val="13740971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305876" y="515710"/>
            <a:ext cx="9510170" cy="5504326"/>
          </a:xfrm>
          <a:prstGeom prst="rect">
            <a:avLst/>
          </a:prstGeom>
        </p:spPr>
      </p:pic>
    </p:spTree>
    <p:extLst>
      <p:ext uri="{BB962C8B-B14F-4D97-AF65-F5344CB8AC3E}">
        <p14:creationId xmlns:p14="http://schemas.microsoft.com/office/powerpoint/2010/main" val="6092670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16AB-A187-42EA-8DE0-895F4E5846B0}"/>
              </a:ext>
            </a:extLst>
          </p:cNvPr>
          <p:cNvSpPr>
            <a:spLocks noGrp="1"/>
          </p:cNvSpPr>
          <p:nvPr>
            <p:ph type="title"/>
          </p:nvPr>
        </p:nvSpPr>
        <p:spPr>
          <a:xfrm>
            <a:off x="1371600" y="290286"/>
            <a:ext cx="10326914" cy="1132114"/>
          </a:xfrm>
        </p:spPr>
        <p:txBody>
          <a:bodyPr>
            <a:normAutofit/>
          </a:bodyPr>
          <a:lstStyle/>
          <a:p>
            <a:pPr>
              <a:lnSpc>
                <a:spcPct val="150000"/>
              </a:lnSpc>
            </a:pPr>
            <a:r>
              <a:rPr lang="vi-VN"/>
              <a:t>Các tính chất của tập F</a:t>
            </a:r>
            <a:r>
              <a:rPr lang="vi-VN" baseline="30000"/>
              <a:t>+</a:t>
            </a:r>
            <a:endParaRPr lang="en-US" sz="4000" b="1" baseline="3000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AFF05F-95AE-479E-8711-4F9F4E3E6EE3}"/>
                  </a:ext>
                </a:extLst>
              </p:cNvPr>
              <p:cNvSpPr>
                <a:spLocks noGrp="1"/>
              </p:cNvSpPr>
              <p:nvPr>
                <p:ph idx="1"/>
              </p:nvPr>
            </p:nvSpPr>
            <p:spPr>
              <a:xfrm>
                <a:off x="1066800" y="1422399"/>
                <a:ext cx="10515600" cy="5036457"/>
              </a:xfrm>
            </p:spPr>
            <p:txBody>
              <a:bodyPr>
                <a:normAutofit/>
              </a:bodyPr>
              <a:lstStyle/>
              <a:p>
                <a:pPr marL="0" indent="0">
                  <a:lnSpc>
                    <a:spcPct val="150000"/>
                  </a:lnSpc>
                  <a:buNone/>
                </a:pPr>
                <a:r>
                  <a:rPr lang="vi-VN" sz="2800" b="1"/>
                  <a:t>1.  Tính phản xạ:    </a:t>
                </a:r>
                <a:endParaRPr lang="en-US" sz="2800" b="1"/>
              </a:p>
              <a:p>
                <a:pPr marL="0" indent="0">
                  <a:lnSpc>
                    <a:spcPct val="150000"/>
                  </a:lnSpc>
                  <a:buNone/>
                </a:pPr>
                <a:r>
                  <a:rPr lang="vi-VN" sz="2800"/>
                  <a:t>Với mọi tập phụ thuộc hàm F</a:t>
                </a:r>
                <a:r>
                  <a:rPr lang="vi-VN" sz="2800" baseline="30000"/>
                  <a:t>+</a:t>
                </a:r>
                <a:r>
                  <a:rPr lang="vi-VN" sz="2800"/>
                  <a:t> ta luôn có F</a:t>
                </a:r>
                <a:r>
                  <a:rPr lang="en-US" sz="2800"/>
                  <a:t> </a:t>
                </a:r>
                <a14:m>
                  <m:oMath xmlns:m="http://schemas.openxmlformats.org/officeDocument/2006/math">
                    <m:r>
                      <a:rPr lang="vi-VN" sz="2800" i="1">
                        <a:latin typeface="Cambria Math" panose="02040503050406030204" pitchFamily="18" charset="0"/>
                        <a:ea typeface="Cambria Math" panose="02040503050406030204" pitchFamily="18" charset="0"/>
                      </a:rPr>
                      <m:t>⊆</m:t>
                    </m:r>
                  </m:oMath>
                </a14:m>
                <a:r>
                  <a:rPr lang="vi-VN" sz="2800"/>
                  <a:t> F</a:t>
                </a:r>
                <a:r>
                  <a:rPr lang="vi-VN" sz="2800" baseline="30000"/>
                  <a:t>+</a:t>
                </a:r>
                <a:r>
                  <a:rPr lang="vi-VN" sz="2800"/>
                  <a:t> </a:t>
                </a:r>
                <a:endParaRPr lang="en-US" sz="2800"/>
              </a:p>
              <a:p>
                <a:pPr marL="0" indent="0">
                  <a:lnSpc>
                    <a:spcPct val="150000"/>
                  </a:lnSpc>
                  <a:buNone/>
                </a:pPr>
                <a:r>
                  <a:rPr lang="vi-VN" sz="2800" b="1"/>
                  <a:t>2.  Tính đơn điệu:    </a:t>
                </a:r>
                <a:endParaRPr lang="en-US" sz="2800" b="1"/>
              </a:p>
              <a:p>
                <a:pPr marL="0" indent="0">
                  <a:lnSpc>
                    <a:spcPct val="150000"/>
                  </a:lnSpc>
                  <a:buNone/>
                </a:pPr>
                <a:r>
                  <a:rPr lang="vi-VN" sz="2800"/>
                  <a:t>Nếu F </a:t>
                </a:r>
                <a14:m>
                  <m:oMath xmlns:m="http://schemas.openxmlformats.org/officeDocument/2006/math">
                    <m:r>
                      <a:rPr lang="vi-VN" sz="2800" i="1">
                        <a:latin typeface="Cambria Math" panose="02040503050406030204" pitchFamily="18" charset="0"/>
                        <a:ea typeface="Cambria Math" panose="02040503050406030204" pitchFamily="18" charset="0"/>
                      </a:rPr>
                      <m:t>⊆</m:t>
                    </m:r>
                  </m:oMath>
                </a14:m>
                <a:r>
                  <a:rPr lang="vi-VN" sz="2800"/>
                  <a:t> G thì F</a:t>
                </a:r>
                <a:r>
                  <a:rPr lang="vi-VN" sz="2800" baseline="30000"/>
                  <a:t>+</a:t>
                </a:r>
                <a:r>
                  <a:rPr lang="vi-VN" sz="2800">
                    <a:ea typeface="Cambria Math" panose="02040503050406030204" pitchFamily="18" charset="0"/>
                  </a:rPr>
                  <a:t> </a:t>
                </a:r>
                <a14:m>
                  <m:oMath xmlns:m="http://schemas.openxmlformats.org/officeDocument/2006/math">
                    <m:r>
                      <a:rPr lang="vi-VN" sz="2800" i="1">
                        <a:latin typeface="Cambria Math" panose="02040503050406030204" pitchFamily="18" charset="0"/>
                        <a:ea typeface="Cambria Math" panose="02040503050406030204" pitchFamily="18" charset="0"/>
                      </a:rPr>
                      <m:t>⊆ </m:t>
                    </m:r>
                  </m:oMath>
                </a14:m>
                <a:r>
                  <a:rPr lang="vi-VN" sz="2800"/>
                  <a:t>G</a:t>
                </a:r>
                <a:r>
                  <a:rPr lang="vi-VN" sz="2800" baseline="30000"/>
                  <a:t>+</a:t>
                </a:r>
                <a:r>
                  <a:rPr lang="vi-VN" sz="2800"/>
                  <a:t> </a:t>
                </a:r>
                <a:endParaRPr lang="en-US" sz="2800"/>
              </a:p>
              <a:p>
                <a:pPr marL="0" indent="0">
                  <a:lnSpc>
                    <a:spcPct val="150000"/>
                  </a:lnSpc>
                  <a:buNone/>
                </a:pPr>
                <a:r>
                  <a:rPr lang="vi-VN" sz="2800" b="1"/>
                  <a:t>3.  Tính luỹ đẳng:    </a:t>
                </a:r>
                <a:endParaRPr lang="en-US" sz="2800" b="1"/>
              </a:p>
              <a:p>
                <a:pPr marL="0" indent="0">
                  <a:lnSpc>
                    <a:spcPct val="150000"/>
                  </a:lnSpc>
                  <a:buNone/>
                </a:pPr>
                <a:r>
                  <a:rPr lang="vi-VN" sz="2800"/>
                  <a:t>Với mọi tập phụ thuộc hàm F ta luôn luôn có F</a:t>
                </a:r>
                <a:r>
                  <a:rPr lang="vi-VN" sz="2800" baseline="30000"/>
                  <a:t>++</a:t>
                </a:r>
                <a:r>
                  <a:rPr lang="vi-VN" sz="2800"/>
                  <a:t> = F</a:t>
                </a:r>
                <a:r>
                  <a:rPr lang="vi-VN" sz="2800" baseline="30000"/>
                  <a:t>+</a:t>
                </a:r>
                <a:endParaRPr lang="en-US" sz="2800" baseline="30000"/>
              </a:p>
            </p:txBody>
          </p:sp>
        </mc:Choice>
        <mc:Fallback xmlns="">
          <p:sp>
            <p:nvSpPr>
              <p:cNvPr id="3" name="Content Placeholder 2">
                <a:extLst>
                  <a:ext uri="{FF2B5EF4-FFF2-40B4-BE49-F238E27FC236}">
                    <a16:creationId xmlns:a16="http://schemas.microsoft.com/office/drawing/2014/main" id="{E8AFF05F-95AE-479E-8711-4F9F4E3E6EE3}"/>
                  </a:ext>
                </a:extLst>
              </p:cNvPr>
              <p:cNvSpPr>
                <a:spLocks noGrp="1" noRot="1" noChangeAspect="1" noMove="1" noResize="1" noEditPoints="1" noAdjustHandles="1" noChangeArrowheads="1" noChangeShapeType="1" noTextEdit="1"/>
              </p:cNvSpPr>
              <p:nvPr>
                <p:ph idx="1"/>
              </p:nvPr>
            </p:nvSpPr>
            <p:spPr>
              <a:xfrm>
                <a:off x="1066800" y="1422399"/>
                <a:ext cx="10515600" cy="5036457"/>
              </a:xfrm>
              <a:blipFill>
                <a:blip r:embed="rId2"/>
                <a:stretch>
                  <a:fillRect l="-1159"/>
                </a:stretch>
              </a:blipFill>
            </p:spPr>
            <p:txBody>
              <a:bodyPr/>
              <a:lstStyle/>
              <a:p>
                <a:r>
                  <a:rPr lang="en-US">
                    <a:noFill/>
                  </a:rPr>
                  <a:t> </a:t>
                </a:r>
              </a:p>
            </p:txBody>
          </p:sp>
        </mc:Fallback>
      </mc:AlternateContent>
    </p:spTree>
    <p:extLst>
      <p:ext uri="{BB962C8B-B14F-4D97-AF65-F5344CB8AC3E}">
        <p14:creationId xmlns:p14="http://schemas.microsoft.com/office/powerpoint/2010/main" val="7337467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16AB-A187-42EA-8DE0-895F4E5846B0}"/>
              </a:ext>
            </a:extLst>
          </p:cNvPr>
          <p:cNvSpPr>
            <a:spLocks noGrp="1"/>
          </p:cNvSpPr>
          <p:nvPr>
            <p:ph type="title"/>
          </p:nvPr>
        </p:nvSpPr>
        <p:spPr>
          <a:xfrm>
            <a:off x="1371600" y="290286"/>
            <a:ext cx="10326914" cy="1132114"/>
          </a:xfrm>
        </p:spPr>
        <p:txBody>
          <a:bodyPr>
            <a:normAutofit/>
          </a:bodyPr>
          <a:lstStyle/>
          <a:p>
            <a:pPr>
              <a:lnSpc>
                <a:spcPct val="150000"/>
              </a:lnSpc>
            </a:pPr>
            <a:r>
              <a:rPr lang="vi-VN"/>
              <a:t>2.1.3.2.Bao Đóng Của Tập Thuộc Tính X</a:t>
            </a:r>
            <a:endParaRPr lang="en-US" sz="4000" b="1"/>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AFF05F-95AE-479E-8711-4F9F4E3E6EE3}"/>
                  </a:ext>
                </a:extLst>
              </p:cNvPr>
              <p:cNvSpPr>
                <a:spLocks noGrp="1"/>
              </p:cNvSpPr>
              <p:nvPr>
                <p:ph idx="1"/>
              </p:nvPr>
            </p:nvSpPr>
            <p:spPr>
              <a:xfrm>
                <a:off x="1066800" y="1422399"/>
                <a:ext cx="10515600" cy="5036457"/>
              </a:xfrm>
            </p:spPr>
            <p:txBody>
              <a:bodyPr>
                <a:normAutofit/>
              </a:bodyPr>
              <a:lstStyle/>
              <a:p>
                <a:pPr marL="0" indent="0">
                  <a:lnSpc>
                    <a:spcPct val="150000"/>
                  </a:lnSpc>
                  <a:buNone/>
                </a:pPr>
                <a:r>
                  <a:rPr lang="vi-VN" sz="2800"/>
                  <a:t>Cho lược đồ quan hệ Q. Giả sử F là tập các phụ thuộc hàm trong Q, X</a:t>
                </a:r>
                <a:r>
                  <a:rPr lang="vi-VN" sz="2800">
                    <a:ea typeface="Cambria Math" panose="02040503050406030204" pitchFamily="18" charset="0"/>
                  </a:rPr>
                  <a:t> </a:t>
                </a:r>
                <a14:m>
                  <m:oMath xmlns:m="http://schemas.openxmlformats.org/officeDocument/2006/math">
                    <m:r>
                      <a:rPr lang="vi-VN" sz="2800" i="1">
                        <a:latin typeface="Cambria Math" panose="02040503050406030204" pitchFamily="18" charset="0"/>
                        <a:ea typeface="Cambria Math" panose="02040503050406030204" pitchFamily="18" charset="0"/>
                      </a:rPr>
                      <m:t>⊆ </m:t>
                    </m:r>
                  </m:oMath>
                </a14:m>
                <a:r>
                  <a:rPr lang="vi-VN" sz="2800"/>
                  <a:t>Q</a:t>
                </a:r>
                <a:r>
                  <a:rPr lang="vi-VN" sz="2800" baseline="30000"/>
                  <a:t>+</a:t>
                </a:r>
                <a:r>
                  <a:rPr lang="vi-VN" sz="2800"/>
                  <a:t> </a:t>
                </a:r>
                <a:endParaRPr lang="en-US" sz="2800"/>
              </a:p>
              <a:p>
                <a:pPr marL="0" indent="0">
                  <a:lnSpc>
                    <a:spcPct val="150000"/>
                  </a:lnSpc>
                  <a:buNone/>
                </a:pPr>
                <a:r>
                  <a:rPr lang="vi-VN" sz="2800"/>
                  <a:t>Bao đóng của tập thuộc tính X đối với F ký hiệu là X</a:t>
                </a:r>
                <a:r>
                  <a:rPr lang="vi-VN" sz="2800" baseline="30000"/>
                  <a:t>+</a:t>
                </a:r>
                <a:r>
                  <a:rPr lang="vi-VN" sz="2800"/>
                  <a:t> (hoặc X</a:t>
                </a:r>
                <a:r>
                  <a:rPr lang="vi-VN" sz="2800" baseline="-25000"/>
                  <a:t>F</a:t>
                </a:r>
                <a:r>
                  <a:rPr lang="vi-VN" sz="2800" baseline="30000"/>
                  <a:t>+</a:t>
                </a:r>
                <a:r>
                  <a:rPr lang="vi-VN" sz="2800"/>
                  <a:t>) là tập tất cả các thuộc tính A </a:t>
                </a:r>
                <a14:m>
                  <m:oMath xmlns:m="http://schemas.openxmlformats.org/officeDocument/2006/math">
                    <m:r>
                      <a:rPr lang="vi-VN" sz="2800" i="1" smtClean="0">
                        <a:latin typeface="Cambria Math" panose="02040503050406030204" pitchFamily="18" charset="0"/>
                        <a:ea typeface="Cambria Math" panose="02040503050406030204" pitchFamily="18" charset="0"/>
                      </a:rPr>
                      <m:t>∈</m:t>
                    </m:r>
                  </m:oMath>
                </a14:m>
                <a:r>
                  <a:rPr lang="vi-VN" sz="2800"/>
                  <a:t> Q</a:t>
                </a:r>
                <a:r>
                  <a:rPr lang="vi-VN" sz="2800" baseline="30000"/>
                  <a:t>+</a:t>
                </a:r>
                <a:r>
                  <a:rPr lang="vi-VN" sz="2800"/>
                  <a:t> được suy ra từ X dựa vào các phụ thuộc hàm trong F và hệ tiên đề Armstrong, nghĩa là:  </a:t>
                </a:r>
                <a:endParaRPr lang="en-US" sz="2800"/>
              </a:p>
              <a:p>
                <a:pPr marL="0" indent="0">
                  <a:lnSpc>
                    <a:spcPct val="150000"/>
                  </a:lnSpc>
                  <a:buNone/>
                </a:pPr>
                <a:r>
                  <a:rPr lang="vi-VN" sz="2800"/>
                  <a:t>X</a:t>
                </a:r>
                <a:r>
                  <a:rPr lang="vi-VN" sz="2800" baseline="30000"/>
                  <a:t>+</a:t>
                </a:r>
                <a:r>
                  <a:rPr lang="vi-VN" sz="2800"/>
                  <a:t> = {A : A </a:t>
                </a:r>
                <a14:m>
                  <m:oMath xmlns:m="http://schemas.openxmlformats.org/officeDocument/2006/math">
                    <m:r>
                      <a:rPr lang="vi-VN" sz="2800" i="1">
                        <a:latin typeface="Cambria Math" panose="02040503050406030204" pitchFamily="18" charset="0"/>
                        <a:ea typeface="Cambria Math" panose="02040503050406030204" pitchFamily="18" charset="0"/>
                      </a:rPr>
                      <m:t>∈ </m:t>
                    </m:r>
                  </m:oMath>
                </a14:m>
                <a:r>
                  <a:rPr lang="vi-VN" sz="2800"/>
                  <a:t>Q</a:t>
                </a:r>
                <a:r>
                  <a:rPr lang="vi-VN" sz="2800" baseline="30000"/>
                  <a:t>+</a:t>
                </a:r>
                <a:r>
                  <a:rPr lang="vi-VN" sz="2800"/>
                  <a:t> và  X → A </a:t>
                </a:r>
                <a14:m>
                  <m:oMath xmlns:m="http://schemas.openxmlformats.org/officeDocument/2006/math">
                    <m:r>
                      <a:rPr lang="vi-VN" sz="2800" i="1">
                        <a:latin typeface="Cambria Math" panose="02040503050406030204" pitchFamily="18" charset="0"/>
                        <a:ea typeface="Cambria Math" panose="02040503050406030204" pitchFamily="18" charset="0"/>
                      </a:rPr>
                      <m:t>∈ </m:t>
                    </m:r>
                  </m:oMath>
                </a14:m>
                <a:r>
                  <a:rPr lang="vi-VN" sz="2800"/>
                  <a:t>F</a:t>
                </a:r>
                <a:r>
                  <a:rPr lang="vi-VN" sz="2800" baseline="30000"/>
                  <a:t>+</a:t>
                </a:r>
                <a:r>
                  <a:rPr lang="vi-VN" sz="2800"/>
                  <a:t>}</a:t>
                </a:r>
                <a:endParaRPr lang="en-US" sz="2800"/>
              </a:p>
            </p:txBody>
          </p:sp>
        </mc:Choice>
        <mc:Fallback xmlns="">
          <p:sp>
            <p:nvSpPr>
              <p:cNvPr id="3" name="Content Placeholder 2">
                <a:extLst>
                  <a:ext uri="{FF2B5EF4-FFF2-40B4-BE49-F238E27FC236}">
                    <a16:creationId xmlns:a16="http://schemas.microsoft.com/office/drawing/2014/main" id="{E8AFF05F-95AE-479E-8711-4F9F4E3E6EE3}"/>
                  </a:ext>
                </a:extLst>
              </p:cNvPr>
              <p:cNvSpPr>
                <a:spLocks noGrp="1" noRot="1" noChangeAspect="1" noMove="1" noResize="1" noEditPoints="1" noAdjustHandles="1" noChangeArrowheads="1" noChangeShapeType="1" noTextEdit="1"/>
              </p:cNvSpPr>
              <p:nvPr>
                <p:ph idx="1"/>
              </p:nvPr>
            </p:nvSpPr>
            <p:spPr>
              <a:xfrm>
                <a:off x="1066800" y="1422399"/>
                <a:ext cx="10515600" cy="5036457"/>
              </a:xfrm>
              <a:blipFill>
                <a:blip r:embed="rId2"/>
                <a:stretch>
                  <a:fillRect l="-1159" r="-870"/>
                </a:stretch>
              </a:blipFill>
            </p:spPr>
            <p:txBody>
              <a:bodyPr/>
              <a:lstStyle/>
              <a:p>
                <a:r>
                  <a:rPr lang="en-US">
                    <a:noFill/>
                  </a:rPr>
                  <a:t> </a:t>
                </a:r>
              </a:p>
            </p:txBody>
          </p:sp>
        </mc:Fallback>
      </mc:AlternateContent>
    </p:spTree>
    <p:extLst>
      <p:ext uri="{BB962C8B-B14F-4D97-AF65-F5344CB8AC3E}">
        <p14:creationId xmlns:p14="http://schemas.microsoft.com/office/powerpoint/2010/main" val="1451648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16AB-A187-42EA-8DE0-895F4E5846B0}"/>
              </a:ext>
            </a:extLst>
          </p:cNvPr>
          <p:cNvSpPr>
            <a:spLocks noGrp="1"/>
          </p:cNvSpPr>
          <p:nvPr>
            <p:ph type="title"/>
          </p:nvPr>
        </p:nvSpPr>
        <p:spPr>
          <a:xfrm>
            <a:off x="1371600" y="290286"/>
            <a:ext cx="10326914" cy="1132114"/>
          </a:xfrm>
        </p:spPr>
        <p:txBody>
          <a:bodyPr>
            <a:normAutofit/>
          </a:bodyPr>
          <a:lstStyle/>
          <a:p>
            <a:pPr>
              <a:lnSpc>
                <a:spcPct val="150000"/>
              </a:lnSpc>
            </a:pPr>
            <a:r>
              <a:rPr lang="en-US" sz="4000" b="1"/>
              <a:t>Ví dụ:</a:t>
            </a:r>
          </a:p>
        </p:txBody>
      </p:sp>
      <p:sp>
        <p:nvSpPr>
          <p:cNvPr id="3" name="Content Placeholder 2">
            <a:extLst>
              <a:ext uri="{FF2B5EF4-FFF2-40B4-BE49-F238E27FC236}">
                <a16:creationId xmlns:a16="http://schemas.microsoft.com/office/drawing/2014/main" id="{E8AFF05F-95AE-479E-8711-4F9F4E3E6EE3}"/>
              </a:ext>
            </a:extLst>
          </p:cNvPr>
          <p:cNvSpPr>
            <a:spLocks noGrp="1"/>
          </p:cNvSpPr>
          <p:nvPr>
            <p:ph idx="1"/>
          </p:nvPr>
        </p:nvSpPr>
        <p:spPr>
          <a:xfrm>
            <a:off x="1066800" y="1422399"/>
            <a:ext cx="10515600" cy="5036457"/>
          </a:xfrm>
        </p:spPr>
        <p:txBody>
          <a:bodyPr>
            <a:normAutofit/>
          </a:bodyPr>
          <a:lstStyle/>
          <a:p>
            <a:pPr marL="0" indent="0">
              <a:lnSpc>
                <a:spcPct val="150000"/>
              </a:lnSpc>
              <a:buNone/>
            </a:pPr>
            <a:r>
              <a:rPr lang="vi-VN" sz="2800"/>
              <a:t>Cho lược đồ quan hệ Q(ABCDEGH) và tập phụ thuộc hàm F  </a:t>
            </a:r>
            <a:endParaRPr lang="en-US" sz="2800"/>
          </a:p>
          <a:p>
            <a:pPr marL="0" indent="0">
              <a:lnSpc>
                <a:spcPct val="150000"/>
              </a:lnSpc>
              <a:buNone/>
            </a:pPr>
            <a:r>
              <a:rPr lang="vi-VN" sz="2800"/>
              <a:t>F = {B → A;  DA→ CE;   D → H; GH→ C; AC→ D } </a:t>
            </a:r>
            <a:endParaRPr lang="en-US" sz="2800"/>
          </a:p>
          <a:p>
            <a:pPr marL="0" indent="0">
              <a:lnSpc>
                <a:spcPct val="150000"/>
              </a:lnSpc>
              <a:buNone/>
            </a:pPr>
            <a:r>
              <a:rPr lang="vi-VN" sz="2800"/>
              <a:t> Hãy tính: B</a:t>
            </a:r>
            <a:r>
              <a:rPr lang="vi-VN" sz="2800" baseline="30000"/>
              <a:t>+</a:t>
            </a:r>
            <a:r>
              <a:rPr lang="vi-VN" sz="2800"/>
              <a:t>; H</a:t>
            </a:r>
            <a:r>
              <a:rPr lang="vi-VN" sz="2800" baseline="30000"/>
              <a:t>+</a:t>
            </a:r>
            <a:r>
              <a:rPr lang="vi-VN" sz="2800"/>
              <a:t>; BC</a:t>
            </a:r>
            <a:r>
              <a:rPr lang="vi-VN" sz="2800" baseline="30000"/>
              <a:t>+</a:t>
            </a:r>
            <a:endParaRPr lang="en-US" sz="2800" baseline="30000"/>
          </a:p>
          <a:p>
            <a:pPr marL="0" indent="0">
              <a:lnSpc>
                <a:spcPct val="150000"/>
              </a:lnSpc>
              <a:buNone/>
            </a:pPr>
            <a:endParaRPr lang="en-US" sz="2800" baseline="30000"/>
          </a:p>
        </p:txBody>
      </p:sp>
    </p:spTree>
    <p:extLst>
      <p:ext uri="{BB962C8B-B14F-4D97-AF65-F5344CB8AC3E}">
        <p14:creationId xmlns:p14="http://schemas.microsoft.com/office/powerpoint/2010/main" val="94823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16AB-A187-42EA-8DE0-895F4E5846B0}"/>
              </a:ext>
            </a:extLst>
          </p:cNvPr>
          <p:cNvSpPr>
            <a:spLocks noGrp="1"/>
          </p:cNvSpPr>
          <p:nvPr>
            <p:ph type="title"/>
          </p:nvPr>
        </p:nvSpPr>
        <p:spPr>
          <a:xfrm>
            <a:off x="1371600" y="290286"/>
            <a:ext cx="10326914" cy="1132114"/>
          </a:xfrm>
        </p:spPr>
        <p:txBody>
          <a:bodyPr>
            <a:normAutofit/>
          </a:bodyPr>
          <a:lstStyle/>
          <a:p>
            <a:pPr>
              <a:lnSpc>
                <a:spcPct val="150000"/>
              </a:lnSpc>
            </a:pPr>
            <a:r>
              <a:rPr lang="en-US" sz="4000" b="1"/>
              <a:t>Giải:</a:t>
            </a:r>
          </a:p>
        </p:txBody>
      </p:sp>
      <p:sp>
        <p:nvSpPr>
          <p:cNvPr id="3" name="Content Placeholder 2">
            <a:extLst>
              <a:ext uri="{FF2B5EF4-FFF2-40B4-BE49-F238E27FC236}">
                <a16:creationId xmlns:a16="http://schemas.microsoft.com/office/drawing/2014/main" id="{E8AFF05F-95AE-479E-8711-4F9F4E3E6EE3}"/>
              </a:ext>
            </a:extLst>
          </p:cNvPr>
          <p:cNvSpPr>
            <a:spLocks noGrp="1"/>
          </p:cNvSpPr>
          <p:nvPr>
            <p:ph idx="1"/>
          </p:nvPr>
        </p:nvSpPr>
        <p:spPr>
          <a:xfrm>
            <a:off x="1066800" y="1422399"/>
            <a:ext cx="10515600" cy="5036457"/>
          </a:xfrm>
        </p:spPr>
        <p:txBody>
          <a:bodyPr>
            <a:normAutofit/>
          </a:bodyPr>
          <a:lstStyle/>
          <a:p>
            <a:pPr marL="0" indent="0">
              <a:lnSpc>
                <a:spcPct val="150000"/>
              </a:lnSpc>
              <a:buNone/>
            </a:pPr>
            <a:r>
              <a:rPr lang="vi-VN" sz="2800"/>
              <a:t>Khi đó B</a:t>
            </a:r>
            <a:r>
              <a:rPr lang="vi-VN" sz="2800" baseline="30000"/>
              <a:t>+</a:t>
            </a:r>
            <a:r>
              <a:rPr lang="vi-VN" sz="2800"/>
              <a:t> = BA ;  (do có phụ thuộc hàm B → A)  </a:t>
            </a:r>
            <a:endParaRPr lang="en-US" sz="2800"/>
          </a:p>
          <a:p>
            <a:pPr marL="0" indent="0">
              <a:lnSpc>
                <a:spcPct val="150000"/>
              </a:lnSpc>
              <a:buNone/>
            </a:pPr>
            <a:r>
              <a:rPr lang="vi-VN" sz="2800"/>
              <a:t>H</a:t>
            </a:r>
            <a:r>
              <a:rPr lang="vi-VN" sz="2800" baseline="30000"/>
              <a:t>+</a:t>
            </a:r>
            <a:r>
              <a:rPr lang="vi-VN" sz="2800"/>
              <a:t> = H.  (do có phụ thuộc hàm H → H)  </a:t>
            </a:r>
            <a:endParaRPr lang="en-US" sz="2800"/>
          </a:p>
          <a:p>
            <a:pPr marL="0" indent="0">
              <a:lnSpc>
                <a:spcPct val="150000"/>
              </a:lnSpc>
              <a:buNone/>
            </a:pPr>
            <a:r>
              <a:rPr lang="vi-VN" sz="2800"/>
              <a:t>BC</a:t>
            </a:r>
            <a:r>
              <a:rPr lang="vi-VN" sz="2800" baseline="30000"/>
              <a:t>+</a:t>
            </a:r>
            <a:r>
              <a:rPr lang="vi-VN" sz="2800"/>
              <a:t> = BCADEH. (do có các phụ thuộc hàm: B  → A; AC→D; DA→ CE; D→ H)</a:t>
            </a:r>
            <a:endParaRPr lang="en-US" sz="2800" baseline="30000"/>
          </a:p>
        </p:txBody>
      </p:sp>
    </p:spTree>
    <p:extLst>
      <p:ext uri="{BB962C8B-B14F-4D97-AF65-F5344CB8AC3E}">
        <p14:creationId xmlns:p14="http://schemas.microsoft.com/office/powerpoint/2010/main" val="2540553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16AB-A187-42EA-8DE0-895F4E5846B0}"/>
              </a:ext>
            </a:extLst>
          </p:cNvPr>
          <p:cNvSpPr>
            <a:spLocks noGrp="1"/>
          </p:cNvSpPr>
          <p:nvPr>
            <p:ph type="title"/>
          </p:nvPr>
        </p:nvSpPr>
        <p:spPr>
          <a:xfrm>
            <a:off x="1371601" y="290285"/>
            <a:ext cx="9753600" cy="1582057"/>
          </a:xfrm>
        </p:spPr>
        <p:txBody>
          <a:bodyPr>
            <a:normAutofit fontScale="90000"/>
          </a:bodyPr>
          <a:lstStyle/>
          <a:p>
            <a:pPr algn="just">
              <a:lnSpc>
                <a:spcPct val="150000"/>
              </a:lnSpc>
            </a:pPr>
            <a:r>
              <a:rPr lang="en-US" sz="4000" b="1"/>
              <a:t>2.1.3.3. Thuật toán tìm bao đóng của một tập thuộc tính: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AFF05F-95AE-479E-8711-4F9F4E3E6EE3}"/>
                  </a:ext>
                </a:extLst>
              </p:cNvPr>
              <p:cNvSpPr>
                <a:spLocks noGrp="1"/>
              </p:cNvSpPr>
              <p:nvPr>
                <p:ph idx="1"/>
              </p:nvPr>
            </p:nvSpPr>
            <p:spPr>
              <a:xfrm>
                <a:off x="1066799" y="2133599"/>
                <a:ext cx="10515600" cy="5036457"/>
              </a:xfrm>
            </p:spPr>
            <p:txBody>
              <a:bodyPr>
                <a:normAutofit/>
              </a:bodyPr>
              <a:lstStyle/>
              <a:p>
                <a:pPr marL="0" indent="0">
                  <a:lnSpc>
                    <a:spcPct val="150000"/>
                  </a:lnSpc>
                  <a:buNone/>
                </a:pPr>
                <a:r>
                  <a:rPr lang="vi-VN" sz="2800" b="1"/>
                  <a:t>Thuật toán 1 </a:t>
                </a:r>
                <a:r>
                  <a:rPr lang="en-US" sz="2800" b="1"/>
                  <a:t>: </a:t>
                </a:r>
                <a:r>
                  <a:rPr lang="vi-VN" sz="2800"/>
                  <a:t>Thuật toán tìm bao đóng với độ phức tạp O(N2), với N là số lượng thuộc tính của  lược đồ quan hệ  Q. </a:t>
                </a:r>
                <a:endParaRPr lang="en-US" sz="2800"/>
              </a:p>
              <a:p>
                <a:pPr marL="0" indent="0">
                  <a:lnSpc>
                    <a:spcPct val="150000"/>
                  </a:lnSpc>
                  <a:buNone/>
                </a:pPr>
                <a:r>
                  <a:rPr lang="vi-VN" sz="2800"/>
                  <a:t>Dữ liệu vào  Q, F, X </a:t>
                </a:r>
                <a14:m>
                  <m:oMath xmlns:m="http://schemas.openxmlformats.org/officeDocument/2006/math">
                    <m:r>
                      <a:rPr lang="vi-VN" sz="2800" i="1" smtClean="0">
                        <a:latin typeface="Cambria Math" panose="02040503050406030204" pitchFamily="18" charset="0"/>
                        <a:ea typeface="Cambria Math" panose="02040503050406030204" pitchFamily="18" charset="0"/>
                      </a:rPr>
                      <m:t>⊆</m:t>
                    </m:r>
                  </m:oMath>
                </a14:m>
                <a:r>
                  <a:rPr lang="vi-VN" sz="2800"/>
                  <a:t> Q</a:t>
                </a:r>
                <a:r>
                  <a:rPr lang="vi-VN" sz="2800" baseline="30000"/>
                  <a:t>+</a:t>
                </a:r>
                <a:r>
                  <a:rPr lang="vi-VN" sz="2800"/>
                  <a:t> </a:t>
                </a:r>
                <a:endParaRPr lang="en-US" sz="2800"/>
              </a:p>
              <a:p>
                <a:pPr marL="0" indent="0">
                  <a:lnSpc>
                    <a:spcPct val="150000"/>
                  </a:lnSpc>
                  <a:buNone/>
                </a:pPr>
                <a:r>
                  <a:rPr lang="vi-VN" sz="2800"/>
                  <a:t>Dữ liệu  ra  X</a:t>
                </a:r>
                <a:r>
                  <a:rPr lang="vi-VN" sz="2800" baseline="30000"/>
                  <a:t>+</a:t>
                </a:r>
                <a:r>
                  <a:rPr lang="vi-VN" sz="2800"/>
                  <a:t> </a:t>
                </a:r>
                <a:endParaRPr lang="en-US" sz="2800"/>
              </a:p>
            </p:txBody>
          </p:sp>
        </mc:Choice>
        <mc:Fallback xmlns="">
          <p:sp>
            <p:nvSpPr>
              <p:cNvPr id="3" name="Content Placeholder 2">
                <a:extLst>
                  <a:ext uri="{FF2B5EF4-FFF2-40B4-BE49-F238E27FC236}">
                    <a16:creationId xmlns:a16="http://schemas.microsoft.com/office/drawing/2014/main" id="{E8AFF05F-95AE-479E-8711-4F9F4E3E6EE3}"/>
                  </a:ext>
                </a:extLst>
              </p:cNvPr>
              <p:cNvSpPr>
                <a:spLocks noGrp="1" noRot="1" noChangeAspect="1" noMove="1" noResize="1" noEditPoints="1" noAdjustHandles="1" noChangeArrowheads="1" noChangeShapeType="1" noTextEdit="1"/>
              </p:cNvSpPr>
              <p:nvPr>
                <p:ph idx="1"/>
              </p:nvPr>
            </p:nvSpPr>
            <p:spPr>
              <a:xfrm>
                <a:off x="1066799" y="2133599"/>
                <a:ext cx="10515600" cy="5036457"/>
              </a:xfrm>
              <a:blipFill>
                <a:blip r:embed="rId2"/>
                <a:stretch>
                  <a:fillRect l="-1159" r="-1275"/>
                </a:stretch>
              </a:blipFill>
            </p:spPr>
            <p:txBody>
              <a:bodyPr/>
              <a:lstStyle/>
              <a:p>
                <a:r>
                  <a:rPr lang="en-US">
                    <a:noFill/>
                  </a:rPr>
                  <a:t> </a:t>
                </a:r>
              </a:p>
            </p:txBody>
          </p:sp>
        </mc:Fallback>
      </mc:AlternateContent>
    </p:spTree>
    <p:extLst>
      <p:ext uri="{BB962C8B-B14F-4D97-AF65-F5344CB8AC3E}">
        <p14:creationId xmlns:p14="http://schemas.microsoft.com/office/powerpoint/2010/main" val="10858493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C946E74-E39F-45E7-82B2-4AFEF25E1087}"/>
              </a:ext>
            </a:extLst>
          </p:cNvPr>
          <p:cNvPicPr>
            <a:picLocks noChangeAspect="1"/>
          </p:cNvPicPr>
          <p:nvPr/>
        </p:nvPicPr>
        <p:blipFill>
          <a:blip r:embed="rId2"/>
          <a:stretch>
            <a:fillRect/>
          </a:stretch>
        </p:blipFill>
        <p:spPr>
          <a:xfrm>
            <a:off x="1216682" y="434070"/>
            <a:ext cx="4458176" cy="843869"/>
          </a:xfrm>
          <a:prstGeom prst="rect">
            <a:avLst/>
          </a:prstGeom>
        </p:spPr>
      </p:pic>
      <p:pic>
        <p:nvPicPr>
          <p:cNvPr id="9" name="Picture 8">
            <a:extLst>
              <a:ext uri="{FF2B5EF4-FFF2-40B4-BE49-F238E27FC236}">
                <a16:creationId xmlns:a16="http://schemas.microsoft.com/office/drawing/2014/main" id="{B8A5B189-2DCF-445E-9672-3FE4E69EFF85}"/>
              </a:ext>
            </a:extLst>
          </p:cNvPr>
          <p:cNvPicPr>
            <a:picLocks noChangeAspect="1"/>
          </p:cNvPicPr>
          <p:nvPr/>
        </p:nvPicPr>
        <p:blipFill>
          <a:blip r:embed="rId3"/>
          <a:stretch>
            <a:fillRect/>
          </a:stretch>
        </p:blipFill>
        <p:spPr>
          <a:xfrm>
            <a:off x="6096000" y="352385"/>
            <a:ext cx="5712712" cy="3313373"/>
          </a:xfrm>
          <a:prstGeom prst="rect">
            <a:avLst/>
          </a:prstGeom>
        </p:spPr>
      </p:pic>
      <p:pic>
        <p:nvPicPr>
          <p:cNvPr id="10" name="Picture 9">
            <a:extLst>
              <a:ext uri="{FF2B5EF4-FFF2-40B4-BE49-F238E27FC236}">
                <a16:creationId xmlns:a16="http://schemas.microsoft.com/office/drawing/2014/main" id="{2136F137-2931-4BF6-ACAE-59EA8B953326}"/>
              </a:ext>
            </a:extLst>
          </p:cNvPr>
          <p:cNvPicPr>
            <a:picLocks noChangeAspect="1"/>
          </p:cNvPicPr>
          <p:nvPr/>
        </p:nvPicPr>
        <p:blipFill>
          <a:blip r:embed="rId4"/>
          <a:stretch>
            <a:fillRect/>
          </a:stretch>
        </p:blipFill>
        <p:spPr>
          <a:xfrm>
            <a:off x="771071" y="2725862"/>
            <a:ext cx="7203012" cy="1581149"/>
          </a:xfrm>
          <a:prstGeom prst="rect">
            <a:avLst/>
          </a:prstGeom>
        </p:spPr>
      </p:pic>
      <p:pic>
        <p:nvPicPr>
          <p:cNvPr id="11" name="Picture 10">
            <a:extLst>
              <a:ext uri="{FF2B5EF4-FFF2-40B4-BE49-F238E27FC236}">
                <a16:creationId xmlns:a16="http://schemas.microsoft.com/office/drawing/2014/main" id="{B73818FC-A0FF-4D25-8DFD-78F39E43B441}"/>
              </a:ext>
            </a:extLst>
          </p:cNvPr>
          <p:cNvPicPr>
            <a:picLocks noChangeAspect="1"/>
          </p:cNvPicPr>
          <p:nvPr/>
        </p:nvPicPr>
        <p:blipFill>
          <a:blip r:embed="rId5"/>
          <a:stretch>
            <a:fillRect/>
          </a:stretch>
        </p:blipFill>
        <p:spPr>
          <a:xfrm>
            <a:off x="3758746" y="4141595"/>
            <a:ext cx="4107997" cy="2392728"/>
          </a:xfrm>
          <a:prstGeom prst="rect">
            <a:avLst/>
          </a:prstGeom>
        </p:spPr>
      </p:pic>
    </p:spTree>
    <p:extLst>
      <p:ext uri="{BB962C8B-B14F-4D97-AF65-F5344CB8AC3E}">
        <p14:creationId xmlns:p14="http://schemas.microsoft.com/office/powerpoint/2010/main" val="2389205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16AB-A187-42EA-8DE0-895F4E5846B0}"/>
              </a:ext>
            </a:extLst>
          </p:cNvPr>
          <p:cNvSpPr>
            <a:spLocks noGrp="1"/>
          </p:cNvSpPr>
          <p:nvPr>
            <p:ph type="title"/>
          </p:nvPr>
        </p:nvSpPr>
        <p:spPr>
          <a:xfrm>
            <a:off x="1371601" y="290286"/>
            <a:ext cx="9753600" cy="972458"/>
          </a:xfrm>
        </p:spPr>
        <p:txBody>
          <a:bodyPr>
            <a:normAutofit fontScale="90000"/>
          </a:bodyPr>
          <a:lstStyle/>
          <a:p>
            <a:pPr algn="just">
              <a:lnSpc>
                <a:spcPct val="150000"/>
              </a:lnSpc>
            </a:pPr>
            <a:r>
              <a:rPr lang="en-US" sz="4000" b="1"/>
              <a:t>Ví dụ 1: </a:t>
            </a:r>
          </a:p>
        </p:txBody>
      </p:sp>
      <p:pic>
        <p:nvPicPr>
          <p:cNvPr id="6" name="Picture 5">
            <a:extLst>
              <a:ext uri="{FF2B5EF4-FFF2-40B4-BE49-F238E27FC236}">
                <a16:creationId xmlns:a16="http://schemas.microsoft.com/office/drawing/2014/main" id="{D270CBF6-9025-4CCF-B710-653FF760CC5E}"/>
              </a:ext>
            </a:extLst>
          </p:cNvPr>
          <p:cNvPicPr>
            <a:picLocks noChangeAspect="1"/>
          </p:cNvPicPr>
          <p:nvPr/>
        </p:nvPicPr>
        <p:blipFill>
          <a:blip r:embed="rId2"/>
          <a:stretch>
            <a:fillRect/>
          </a:stretch>
        </p:blipFill>
        <p:spPr>
          <a:xfrm>
            <a:off x="1515834" y="1502908"/>
            <a:ext cx="10489985" cy="5064806"/>
          </a:xfrm>
          <a:prstGeom prst="rect">
            <a:avLst/>
          </a:prstGeom>
        </p:spPr>
      </p:pic>
    </p:spTree>
    <p:extLst>
      <p:ext uri="{BB962C8B-B14F-4D97-AF65-F5344CB8AC3E}">
        <p14:creationId xmlns:p14="http://schemas.microsoft.com/office/powerpoint/2010/main" val="33846610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16AB-A187-42EA-8DE0-895F4E5846B0}"/>
              </a:ext>
            </a:extLst>
          </p:cNvPr>
          <p:cNvSpPr>
            <a:spLocks noGrp="1"/>
          </p:cNvSpPr>
          <p:nvPr>
            <p:ph type="title"/>
          </p:nvPr>
        </p:nvSpPr>
        <p:spPr>
          <a:xfrm>
            <a:off x="1371601" y="290286"/>
            <a:ext cx="9753600" cy="972458"/>
          </a:xfrm>
        </p:spPr>
        <p:txBody>
          <a:bodyPr>
            <a:normAutofit fontScale="90000"/>
          </a:bodyPr>
          <a:lstStyle/>
          <a:p>
            <a:pPr algn="just">
              <a:lnSpc>
                <a:spcPct val="150000"/>
              </a:lnSpc>
            </a:pPr>
            <a:r>
              <a:rPr lang="en-US" sz="4000" b="1"/>
              <a:t>Ví dụ 2: </a:t>
            </a:r>
          </a:p>
        </p:txBody>
      </p:sp>
      <p:pic>
        <p:nvPicPr>
          <p:cNvPr id="3" name="Picture 2">
            <a:extLst>
              <a:ext uri="{FF2B5EF4-FFF2-40B4-BE49-F238E27FC236}">
                <a16:creationId xmlns:a16="http://schemas.microsoft.com/office/drawing/2014/main" id="{BD42836E-39BA-4757-9798-C8F3ACD15D00}"/>
              </a:ext>
            </a:extLst>
          </p:cNvPr>
          <p:cNvPicPr>
            <a:picLocks noChangeAspect="1"/>
          </p:cNvPicPr>
          <p:nvPr/>
        </p:nvPicPr>
        <p:blipFill>
          <a:blip r:embed="rId2"/>
          <a:stretch>
            <a:fillRect/>
          </a:stretch>
        </p:blipFill>
        <p:spPr>
          <a:xfrm>
            <a:off x="1725386" y="1676399"/>
            <a:ext cx="10229732" cy="4027715"/>
          </a:xfrm>
          <a:prstGeom prst="rect">
            <a:avLst/>
          </a:prstGeom>
        </p:spPr>
      </p:pic>
    </p:spTree>
    <p:extLst>
      <p:ext uri="{BB962C8B-B14F-4D97-AF65-F5344CB8AC3E}">
        <p14:creationId xmlns:p14="http://schemas.microsoft.com/office/powerpoint/2010/main" val="2313626473"/>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TM10001105[[fn=Crop]]</Template>
  <TotalTime>683</TotalTime>
  <Words>1208</Words>
  <Application>Microsoft Office PowerPoint</Application>
  <PresentationFormat>Widescreen</PresentationFormat>
  <Paragraphs>77</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Cambria Math</vt:lpstr>
      <vt:lpstr>Franklin Gothic Book</vt:lpstr>
      <vt:lpstr>Tahoma</vt:lpstr>
      <vt:lpstr>Crop</vt:lpstr>
      <vt:lpstr>CHƯƠNG II: LÝ THUYẾT THIẾT KẾ CƠ SỞ DỮ LIỆU  BÀI 2.1: PHỤ THUỘC HÀM </vt:lpstr>
      <vt:lpstr>Các vấn đề gặp phải khi tổ chức dữ liệu: </vt:lpstr>
      <vt:lpstr>PowerPoint Presentation</vt:lpstr>
      <vt:lpstr>Những vấn đề nêu trên sẽ được giải quyết nếu chúng ta phân rã lược đồ quan hệ Diemthi thành hai lược đồ quan hệ:  </vt:lpstr>
      <vt:lpstr>2.1.1. Khái niệm phụ thuộc hàm  2.1.1.1.Định nghĩa Phụ thuộc hàm: </vt:lpstr>
      <vt:lpstr>Ví dụ 1:   Cho lược dồ quan hệ Q(ABCDE), r là quan hệ xác định trên Q được cho như sau:</vt:lpstr>
      <vt:lpstr>PowerPoint Presentation</vt:lpstr>
      <vt:lpstr>PowerPoint Presentation</vt:lpstr>
      <vt:lpstr>2.1.1.2. Cách xác định phụ thuộc hàm cho Lược đồ quan hệ </vt:lpstr>
      <vt:lpstr>2.1.1.2. Cách xác định phụ thuộc hàm cho Lược đồ quan hệ </vt:lpstr>
      <vt:lpstr>2.1.1.2. Cách xác định phụ thuộc hàm cho Lược đồ quan hệ </vt:lpstr>
      <vt:lpstr>2.1.2. Hệ tiên đề Amstrong </vt:lpstr>
      <vt:lpstr>PowerPoint Presentation</vt:lpstr>
      <vt:lpstr>2.1.3. Bao đóng 2.1.3.1. Bao Đóng Của Tập Phụ Thuộc Hàm F</vt:lpstr>
      <vt:lpstr>Ví dụ</vt:lpstr>
      <vt:lpstr>PowerPoint Presentation</vt:lpstr>
      <vt:lpstr>PowerPoint Presentation</vt:lpstr>
      <vt:lpstr>Các tính chất của tập F+</vt:lpstr>
      <vt:lpstr>2.1.3.2.Bao Đóng Của Tập Thuộc Tính X</vt:lpstr>
      <vt:lpstr>Ví dụ:</vt:lpstr>
      <vt:lpstr>Giải:</vt:lpstr>
      <vt:lpstr>2.1.3.3. Thuật toán tìm bao đóng của một tập thuộc tính:</vt:lpstr>
      <vt:lpstr>PowerPoint Presentation</vt:lpstr>
      <vt:lpstr>Ví dụ 1: </vt:lpstr>
      <vt:lpstr>Ví dụ 2: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II: LÝ THUYẾT THIẾT KẾ CƠ SỞ DỮ LIỆU  BÀI 2.1: PHỤ THUỘC HÀM</dc:title>
  <dc:creator>ngans</dc:creator>
  <cp:lastModifiedBy>ADMIN</cp:lastModifiedBy>
  <cp:revision>22</cp:revision>
  <dcterms:created xsi:type="dcterms:W3CDTF">2020-03-16T07:10:54Z</dcterms:created>
  <dcterms:modified xsi:type="dcterms:W3CDTF">2021-05-03T06:47:26Z</dcterms:modified>
</cp:coreProperties>
</file>