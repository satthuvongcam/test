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1" autoAdjust="0"/>
    <p:restoredTop sz="94660"/>
  </p:normalViewPr>
  <p:slideViewPr>
    <p:cSldViewPr snapToGrid="0">
      <p:cViewPr varScale="1">
        <p:scale>
          <a:sx n="69" d="100"/>
          <a:sy n="69"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6/8/2021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6DD4-9B74-4EE7-A8A3-BA5FAC682DE5}"/>
              </a:ext>
            </a:extLst>
          </p:cNvPr>
          <p:cNvSpPr>
            <a:spLocks noGrp="1"/>
          </p:cNvSpPr>
          <p:nvPr>
            <p:ph type="ctrTitle"/>
          </p:nvPr>
        </p:nvSpPr>
        <p:spPr>
          <a:xfrm>
            <a:off x="2339831" y="1281546"/>
            <a:ext cx="8915399" cy="3221181"/>
          </a:xfrm>
        </p:spPr>
        <p:txBody>
          <a:bodyPr>
            <a:normAutofit/>
          </a:bodyPr>
          <a:lstStyle/>
          <a:p>
            <a:pPr algn="ctr">
              <a:lnSpc>
                <a:spcPct val="150000"/>
              </a:lnSpc>
            </a:pPr>
            <a:r>
              <a:rPr lang="vi-VN" b="1"/>
              <a:t>BÀI 2.4: CHUẨN HÓA CƠ SỞ DỮ LIỆU </a:t>
            </a:r>
            <a:endParaRPr lang="en-US" b="1"/>
          </a:p>
        </p:txBody>
      </p:sp>
    </p:spTree>
    <p:extLst>
      <p:ext uri="{BB962C8B-B14F-4D97-AF65-F5344CB8AC3E}">
        <p14:creationId xmlns:p14="http://schemas.microsoft.com/office/powerpoint/2010/main" val="2065682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2.4.1.1. Một số khái niệm liên quan đến dạng chuẩn </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500041" y="1752600"/>
            <a:ext cx="10096213" cy="4952999"/>
          </a:xfrm>
        </p:spPr>
        <p:txBody>
          <a:bodyPr>
            <a:normAutofit/>
          </a:bodyPr>
          <a:lstStyle/>
          <a:p>
            <a:pPr algn="just">
              <a:lnSpc>
                <a:spcPct val="120000"/>
              </a:lnSpc>
            </a:pPr>
            <a:r>
              <a:rPr lang="vi-VN" sz="2800" b="1"/>
              <a:t>Thuộc tính khoá/không khoá  </a:t>
            </a:r>
            <a:endParaRPr lang="en-US" sz="2800" b="1"/>
          </a:p>
          <a:p>
            <a:pPr marL="0" indent="0" algn="just">
              <a:lnSpc>
                <a:spcPct val="120000"/>
              </a:lnSpc>
              <a:buNone/>
            </a:pPr>
            <a:r>
              <a:rPr lang="en-US" sz="2800"/>
              <a:t>- </a:t>
            </a:r>
            <a:r>
              <a:rPr lang="vi-VN" sz="2800"/>
              <a:t>A là một thuộc tính khoá nếu A có tham gia vào bất kỳ một khoá nào của quan hệ, ngược lại A gọi là thuộc tính không khoá.  </a:t>
            </a:r>
            <a:endParaRPr lang="en-US" sz="2800"/>
          </a:p>
          <a:p>
            <a:pPr marL="0" indent="0" algn="just">
              <a:lnSpc>
                <a:spcPct val="120000"/>
              </a:lnSpc>
              <a:buNone/>
            </a:pPr>
            <a:r>
              <a:rPr lang="en-US" sz="2800"/>
              <a:t>- </a:t>
            </a:r>
            <a:r>
              <a:rPr lang="vi-VN" sz="2800"/>
              <a:t>Ví dụ:  Cho lược đồ quan hệ Q(ABC) và tập phụ thuộc hàm  </a:t>
            </a:r>
            <a:endParaRPr lang="en-US" sz="2800"/>
          </a:p>
          <a:p>
            <a:pPr marL="0" indent="0" algn="just">
              <a:lnSpc>
                <a:spcPct val="120000"/>
              </a:lnSpc>
              <a:buNone/>
            </a:pPr>
            <a:r>
              <a:rPr lang="vi-VN" sz="2800"/>
              <a:t> F={ A→ B; A → C; B → A}  </a:t>
            </a:r>
            <a:endParaRPr lang="en-US" sz="2800"/>
          </a:p>
          <a:p>
            <a:pPr marL="0" indent="0" algn="just">
              <a:lnSpc>
                <a:spcPct val="120000"/>
              </a:lnSpc>
              <a:buNone/>
            </a:pPr>
            <a:r>
              <a:rPr lang="vi-VN" sz="2800"/>
              <a:t>Có hai khóa là A và B. khi đó thuộc tính khoá là A, B; thuộc tính không khóa là: C</a:t>
            </a:r>
            <a:endParaRPr lang="en-US" sz="2800"/>
          </a:p>
        </p:txBody>
      </p:sp>
    </p:spTree>
    <p:extLst>
      <p:ext uri="{BB962C8B-B14F-4D97-AF65-F5344CB8AC3E}">
        <p14:creationId xmlns:p14="http://schemas.microsoft.com/office/powerpoint/2010/main" val="180564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680150" y="367146"/>
                <a:ext cx="10096213" cy="6123708"/>
              </a:xfrm>
            </p:spPr>
            <p:txBody>
              <a:bodyPr>
                <a:normAutofit lnSpcReduction="10000"/>
              </a:bodyPr>
              <a:lstStyle/>
              <a:p>
                <a:pPr algn="just">
                  <a:lnSpc>
                    <a:spcPct val="120000"/>
                  </a:lnSpc>
                </a:pPr>
                <a:r>
                  <a:rPr lang="vi-VN" sz="2800" b="1"/>
                  <a:t>Thuộc tính phụ thuộc đầy đủ- phụ thuộc hàm đầy đủ.</a:t>
                </a:r>
                <a:endParaRPr lang="en-US" sz="2800" b="1"/>
              </a:p>
              <a:p>
                <a:pPr marL="0" indent="0" algn="just">
                  <a:lnSpc>
                    <a:spcPct val="120000"/>
                  </a:lnSpc>
                  <a:buNone/>
                </a:pPr>
                <a:r>
                  <a:rPr lang="vi-VN" sz="2800"/>
                  <a:t>A là một thuộc tính phụ thuộc đầy đủ vào tập thuộc tính X nếu X→A là một phụ thuộc hàm đầy đủ (tức là không tồn tại X'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X sao cho X' → A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F</a:t>
                </a:r>
                <a:r>
                  <a:rPr lang="vi-VN" sz="2800" baseline="30000"/>
                  <a:t>+</a:t>
                </a:r>
                <a:r>
                  <a:rPr lang="vi-VN" sz="2800"/>
                  <a:t>)  </a:t>
                </a:r>
                <a:endParaRPr lang="en-US" sz="2800"/>
              </a:p>
              <a:p>
                <a:pPr marL="0" indent="0" algn="just">
                  <a:lnSpc>
                    <a:spcPct val="120000"/>
                  </a:lnSpc>
                  <a:buNone/>
                </a:pPr>
                <a:r>
                  <a:rPr lang="vi-VN" sz="2800"/>
                  <a:t>Ví dụ:  Cho lược đồ quan hệ Q(ABC) và tập phụ thuộc hàm   </a:t>
                </a:r>
                <a:endParaRPr lang="en-US" sz="2800"/>
              </a:p>
              <a:p>
                <a:pPr marL="0" indent="0" algn="just">
                  <a:lnSpc>
                    <a:spcPct val="120000"/>
                  </a:lnSpc>
                  <a:buNone/>
                </a:pPr>
                <a:r>
                  <a:rPr lang="vi-VN" sz="2800"/>
                  <a:t>F={  A → B; A→ C; AB → C }  </a:t>
                </a:r>
                <a:endParaRPr lang="en-US" sz="2800"/>
              </a:p>
              <a:p>
                <a:pPr marL="0" indent="0" algn="just">
                  <a:lnSpc>
                    <a:spcPct val="120000"/>
                  </a:lnSpc>
                  <a:buNone/>
                </a:pPr>
                <a:r>
                  <a:rPr lang="vi-VN" sz="2800"/>
                  <a:t>thì A →B; A → C là các phụ thuộc hàm đầy đủ. </a:t>
                </a:r>
                <a:endParaRPr lang="en-US" sz="2800"/>
              </a:p>
              <a:p>
                <a:pPr marL="0" indent="0" algn="just">
                  <a:lnSpc>
                    <a:spcPct val="120000"/>
                  </a:lnSpc>
                  <a:buNone/>
                </a:pPr>
                <a:r>
                  <a:rPr lang="vi-VN" sz="2800"/>
                  <a:t>Phụ thuộc hàm AB→ C không là phụ thuộc hàm đầy đủ vì có A → C. </a:t>
                </a:r>
                <a:endParaRPr lang="en-US" sz="2800"/>
              </a:p>
              <a:p>
                <a:pPr marL="0" indent="0" algn="just">
                  <a:lnSpc>
                    <a:spcPct val="120000"/>
                  </a:lnSpc>
                  <a:buNone/>
                </a:pPr>
                <a:r>
                  <a:rPr lang="vi-VN" sz="2800"/>
                  <a:t>Chú ý rằng, một phụ thuộc hàm mà vế trái chỉ có một thuộc tính là phụ thuộc hàm đầy đủ.</a:t>
                </a:r>
                <a:endParaRPr lang="en-US" sz="2800"/>
              </a:p>
            </p:txBody>
          </p:sp>
        </mc:Choice>
        <mc:Fallback xmlns="">
          <p:sp>
            <p:nvSpPr>
              <p:cNvPr id="3" name="Content Placeholder 2">
                <a:extLst>
                  <a:ext uri="{FF2B5EF4-FFF2-40B4-BE49-F238E27FC236}">
                    <a16:creationId xmlns:a16="http://schemas.microsoft.com/office/drawing/2014/main" id="{89EF2F9B-B2C0-41CE-ACA4-0F6CDB3C89EC}"/>
                  </a:ext>
                </a:extLst>
              </p:cNvPr>
              <p:cNvSpPr>
                <a:spLocks noGrp="1" noRot="1" noChangeAspect="1" noMove="1" noResize="1" noEditPoints="1" noAdjustHandles="1" noChangeArrowheads="1" noChangeShapeType="1" noTextEdit="1"/>
              </p:cNvSpPr>
              <p:nvPr>
                <p:ph idx="1"/>
              </p:nvPr>
            </p:nvSpPr>
            <p:spPr>
              <a:xfrm>
                <a:off x="1680150" y="367146"/>
                <a:ext cx="10096213" cy="6123708"/>
              </a:xfrm>
              <a:blipFill>
                <a:blip r:embed="rId2"/>
                <a:stretch>
                  <a:fillRect l="-1268" t="-995" r="-1208" b="-299"/>
                </a:stretch>
              </a:blipFill>
            </p:spPr>
            <p:txBody>
              <a:bodyPr/>
              <a:lstStyle/>
              <a:p>
                <a:r>
                  <a:rPr lang="en-US">
                    <a:noFill/>
                  </a:rPr>
                  <a:t> </a:t>
                </a:r>
              </a:p>
            </p:txBody>
          </p:sp>
        </mc:Fallback>
      </mc:AlternateContent>
    </p:spTree>
    <p:extLst>
      <p:ext uri="{BB962C8B-B14F-4D97-AF65-F5344CB8AC3E}">
        <p14:creationId xmlns:p14="http://schemas.microsoft.com/office/powerpoint/2010/main" val="339073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2.4.1.2. Dạng chuẩn 1 (1NF) </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264514" y="1392836"/>
            <a:ext cx="10412824" cy="4952999"/>
          </a:xfrm>
        </p:spPr>
        <p:txBody>
          <a:bodyPr>
            <a:normAutofit/>
          </a:bodyPr>
          <a:lstStyle/>
          <a:p>
            <a:pPr algn="just">
              <a:lnSpc>
                <a:spcPct val="120000"/>
              </a:lnSpc>
            </a:pPr>
            <a:r>
              <a:rPr lang="vi-VN" sz="2800"/>
              <a:t>Lược đồ quan hệ Q được gọi là đạt dạng chuẩn 1 (1NF) nếu và chỉ nếu toàn bộ các thuộc tính của Q đều mang giá trị đơn. </a:t>
            </a:r>
            <a:endParaRPr lang="en-US" sz="2800"/>
          </a:p>
          <a:p>
            <a:pPr algn="just">
              <a:lnSpc>
                <a:spcPct val="120000"/>
              </a:lnSpc>
            </a:pPr>
            <a:r>
              <a:rPr lang="en-US" sz="2800"/>
              <a:t>Chẳng hạn xét quan hệ   </a:t>
            </a:r>
          </a:p>
          <a:p>
            <a:pPr marL="0" indent="0" algn="just">
              <a:lnSpc>
                <a:spcPct val="120000"/>
              </a:lnSpc>
              <a:buNone/>
            </a:pPr>
            <a:endParaRPr lang="en-US" sz="2800"/>
          </a:p>
        </p:txBody>
      </p:sp>
      <p:pic>
        <p:nvPicPr>
          <p:cNvPr id="4" name="Picture 3">
            <a:extLst>
              <a:ext uri="{FF2B5EF4-FFF2-40B4-BE49-F238E27FC236}">
                <a16:creationId xmlns:a16="http://schemas.microsoft.com/office/drawing/2014/main" id="{FEDE2EAC-B43C-4EA7-AACD-47ADDA641B68}"/>
              </a:ext>
            </a:extLst>
          </p:cNvPr>
          <p:cNvPicPr>
            <a:picLocks noChangeAspect="1"/>
          </p:cNvPicPr>
          <p:nvPr/>
        </p:nvPicPr>
        <p:blipFill>
          <a:blip r:embed="rId2"/>
          <a:stretch>
            <a:fillRect/>
          </a:stretch>
        </p:blipFill>
        <p:spPr>
          <a:xfrm>
            <a:off x="1789362" y="3593891"/>
            <a:ext cx="8715340" cy="2627027"/>
          </a:xfrm>
          <a:prstGeom prst="rect">
            <a:avLst/>
          </a:prstGeom>
        </p:spPr>
      </p:pic>
    </p:spTree>
    <p:extLst>
      <p:ext uri="{BB962C8B-B14F-4D97-AF65-F5344CB8AC3E}">
        <p14:creationId xmlns:p14="http://schemas.microsoft.com/office/powerpoint/2010/main" val="193770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2.4.1.2. Dạng chuẩn 1 (1NF) </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39465" y="4585742"/>
            <a:ext cx="10412824" cy="1725118"/>
          </a:xfrm>
        </p:spPr>
        <p:txBody>
          <a:bodyPr>
            <a:normAutofit/>
          </a:bodyPr>
          <a:lstStyle/>
          <a:p>
            <a:pPr algn="just">
              <a:lnSpc>
                <a:spcPct val="120000"/>
              </a:lnSpc>
            </a:pPr>
            <a:r>
              <a:rPr lang="vi-VN" sz="2800" b="1" i="1"/>
              <a:t>Nhận xét:  </a:t>
            </a:r>
            <a:r>
              <a:rPr lang="vi-VN" sz="2800"/>
              <a:t>Quan hệ  ở dạng chuẩn 1 có tồn tại sự dư thừa dữ liệu, VD sinh viên Nguyễn Văn Thành có nhiều môn thi thì các thuộc tính MaSV, Họ tên sẽ được lặp lại nhiều lần </a:t>
            </a:r>
            <a:endParaRPr lang="en-US" sz="2800"/>
          </a:p>
        </p:txBody>
      </p:sp>
      <p:pic>
        <p:nvPicPr>
          <p:cNvPr id="5" name="Picture 4">
            <a:extLst>
              <a:ext uri="{FF2B5EF4-FFF2-40B4-BE49-F238E27FC236}">
                <a16:creationId xmlns:a16="http://schemas.microsoft.com/office/drawing/2014/main" id="{82518048-72C3-48C4-98C1-DB2DE1139BB0}"/>
              </a:ext>
            </a:extLst>
          </p:cNvPr>
          <p:cNvPicPr>
            <a:picLocks noChangeAspect="1"/>
          </p:cNvPicPr>
          <p:nvPr/>
        </p:nvPicPr>
        <p:blipFill>
          <a:blip r:embed="rId2"/>
          <a:stretch>
            <a:fillRect/>
          </a:stretch>
        </p:blipFill>
        <p:spPr>
          <a:xfrm>
            <a:off x="658163" y="1116141"/>
            <a:ext cx="10157028" cy="3051123"/>
          </a:xfrm>
          <a:prstGeom prst="rect">
            <a:avLst/>
          </a:prstGeom>
        </p:spPr>
      </p:pic>
    </p:spTree>
    <p:extLst>
      <p:ext uri="{BB962C8B-B14F-4D97-AF65-F5344CB8AC3E}">
        <p14:creationId xmlns:p14="http://schemas.microsoft.com/office/powerpoint/2010/main" val="166444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2.4.1.3.Dạng Chuẩn 2 (2NF)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069642" y="1317885"/>
                <a:ext cx="10412824" cy="4783112"/>
              </a:xfrm>
            </p:spPr>
            <p:txBody>
              <a:bodyPr>
                <a:normAutofit/>
              </a:bodyPr>
              <a:lstStyle/>
              <a:p>
                <a:pPr algn="just">
                  <a:lnSpc>
                    <a:spcPct val="120000"/>
                  </a:lnSpc>
                </a:pPr>
                <a:r>
                  <a:rPr lang="vi-VN" sz="2800" dirty="0"/>
                  <a:t>Một lược đồ quan hệ Q đạt dạng chuẩn 2 nếu Q  đạt dạng chuẩn 1 và tất cả các thuộc tính không khoá của Q đều phụ thuộc đầy đủ vào khoá</a:t>
                </a:r>
                <a:r>
                  <a:rPr lang="en-US" sz="2800" dirty="0"/>
                  <a:t>,</a:t>
                </a:r>
                <a:r>
                  <a:rPr lang="vi-VN" sz="2800" dirty="0"/>
                  <a:t> có nghĩa là không có tập con của khóa kéo theo thuộc tính không khóa.  </a:t>
                </a:r>
                <a:endParaRPr lang="en-US" sz="2800" dirty="0"/>
              </a:p>
              <a:p>
                <a:pPr algn="just">
                  <a:lnSpc>
                    <a:spcPct val="120000"/>
                  </a:lnSpc>
                </a:pPr>
                <a:r>
                  <a:rPr lang="en-US" sz="2800" dirty="0"/>
                  <a:t>K</a:t>
                </a:r>
                <a:r>
                  <a:rPr lang="vi-VN" sz="2800" dirty="0"/>
                  <a:t>hông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dirty="0"/>
                  <a:t>k</a:t>
                </a:r>
                <a:r>
                  <a:rPr lang="vi-VN" sz="2800" baseline="-25000" dirty="0"/>
                  <a:t>i</a:t>
                </a:r>
                <a:r>
                  <a:rPr lang="vi-VN" sz="2800" dirty="0"/>
                  <a:t>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dirty="0"/>
                  <a:t>K mà k</a:t>
                </a:r>
                <a:r>
                  <a:rPr lang="vi-VN" sz="2800" baseline="-25000" dirty="0"/>
                  <a:t>i</a:t>
                </a:r>
                <a:r>
                  <a:rPr lang="en-US" sz="2800" dirty="0"/>
                  <a:t> </a:t>
                </a:r>
                <a:r>
                  <a:rPr lang="vi-VN" sz="2800" dirty="0"/>
                  <a:t>→ B (B là một thuộc tính không khóa thuộc tập F</a:t>
                </a:r>
                <a:r>
                  <a:rPr lang="vi-VN" sz="2800" baseline="-25000" dirty="0"/>
                  <a:t>n</a:t>
                </a:r>
                <a:r>
                  <a:rPr lang="vi-VN" sz="2800" dirty="0"/>
                  <a:t>) </a:t>
                </a:r>
                <a:endParaRPr lang="en-US" sz="2800" dirty="0"/>
              </a:p>
              <a:p>
                <a:pPr algn="just">
                  <a:lnSpc>
                    <a:spcPct val="120000"/>
                  </a:lnSpc>
                </a:pPr>
                <a:r>
                  <a:rPr lang="vi-VN" sz="2800" dirty="0"/>
                  <a:t>Nếu một lược đồ quan hệ không đạt chuẩn 2 thì ta nói nó  đạt dạng chuẩn 1. </a:t>
                </a:r>
                <a:endParaRPr lang="en-US" sz="2800" dirty="0"/>
              </a:p>
            </p:txBody>
          </p:sp>
        </mc:Choice>
        <mc:Fallback xmlns="">
          <p:sp>
            <p:nvSpPr>
              <p:cNvPr id="3" name="Content Placeholder 2">
                <a:extLst>
                  <a:ext uri="{FF2B5EF4-FFF2-40B4-BE49-F238E27FC236}">
                    <a16:creationId xmlns:a16="http://schemas.microsoft.com/office/drawing/2014/main" id="{89EF2F9B-B2C0-41CE-ACA4-0F6CDB3C89EC}"/>
                  </a:ext>
                </a:extLst>
              </p:cNvPr>
              <p:cNvSpPr>
                <a:spLocks noGrp="1" noRot="1" noChangeAspect="1" noMove="1" noResize="1" noEditPoints="1" noAdjustHandles="1" noChangeArrowheads="1" noChangeShapeType="1" noTextEdit="1"/>
              </p:cNvSpPr>
              <p:nvPr>
                <p:ph idx="1"/>
              </p:nvPr>
            </p:nvSpPr>
            <p:spPr>
              <a:xfrm>
                <a:off x="1069642" y="1317885"/>
                <a:ext cx="10412824" cy="4783112"/>
              </a:xfrm>
              <a:blipFill>
                <a:blip r:embed="rId2"/>
                <a:stretch>
                  <a:fillRect l="-1053" t="-637" r="-1170"/>
                </a:stretch>
              </a:blipFill>
            </p:spPr>
            <p:txBody>
              <a:bodyPr/>
              <a:lstStyle/>
              <a:p>
                <a:r>
                  <a:rPr lang="en-US">
                    <a:noFill/>
                  </a:rPr>
                  <a:t> </a:t>
                </a:r>
              </a:p>
            </p:txBody>
          </p:sp>
        </mc:Fallback>
      </mc:AlternateContent>
    </p:spTree>
    <p:extLst>
      <p:ext uri="{BB962C8B-B14F-4D97-AF65-F5344CB8AC3E}">
        <p14:creationId xmlns:p14="http://schemas.microsoft.com/office/powerpoint/2010/main" val="47817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Thuật toán kiểm tra dạng chuẩn 2</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09484" y="1289154"/>
            <a:ext cx="10412824" cy="5186597"/>
          </a:xfrm>
        </p:spPr>
        <p:txBody>
          <a:bodyPr>
            <a:normAutofit/>
          </a:bodyPr>
          <a:lstStyle/>
          <a:p>
            <a:pPr algn="just">
              <a:lnSpc>
                <a:spcPct val="150000"/>
              </a:lnSpc>
            </a:pPr>
            <a:r>
              <a:rPr lang="vi-VN" sz="2800" dirty="0"/>
              <a:t>Vào: Lược đồ Q, tập phụ thuộc hàm F </a:t>
            </a:r>
          </a:p>
          <a:p>
            <a:pPr algn="just">
              <a:lnSpc>
                <a:spcPct val="150000"/>
              </a:lnSpc>
            </a:pPr>
            <a:r>
              <a:rPr lang="vi-VN" sz="2800" dirty="0"/>
              <a:t>Ra: Khẳng định Q đạt chuẩn 2 hay không  </a:t>
            </a:r>
            <a:endParaRPr lang="en-US" sz="2800" dirty="0"/>
          </a:p>
          <a:p>
            <a:pPr algn="just">
              <a:lnSpc>
                <a:spcPct val="150000"/>
              </a:lnSpc>
            </a:pPr>
            <a:r>
              <a:rPr lang="vi-VN" sz="2800" dirty="0"/>
              <a:t>Bước 1: Tìm tất cả các khóa của Q </a:t>
            </a:r>
            <a:endParaRPr lang="en-US" sz="2800" dirty="0"/>
          </a:p>
          <a:p>
            <a:pPr algn="just">
              <a:lnSpc>
                <a:spcPct val="150000"/>
              </a:lnSpc>
            </a:pPr>
            <a:r>
              <a:rPr lang="vi-VN" sz="2800" dirty="0"/>
              <a:t>Bước 2:  Với mỗi khóa K, tìm bao đóng của tất cả tập con thực sự S của K </a:t>
            </a:r>
            <a:endParaRPr lang="en-US" sz="2800" dirty="0"/>
          </a:p>
          <a:p>
            <a:pPr algn="just">
              <a:lnSpc>
                <a:spcPct val="150000"/>
              </a:lnSpc>
            </a:pPr>
            <a:r>
              <a:rPr lang="vi-VN" sz="2800" dirty="0"/>
              <a:t>Bước 3: Nếu có bao đóng S</a:t>
            </a:r>
            <a:r>
              <a:rPr lang="vi-VN" sz="2800" baseline="30000" dirty="0"/>
              <a:t>+</a:t>
            </a:r>
            <a:r>
              <a:rPr lang="vi-VN" sz="2800" dirty="0"/>
              <a:t> chứa thuộc tính không khóa thì Q không đạt chuẩn 2 và ngược lại thì Q đạt chuẩn 2.</a:t>
            </a:r>
            <a:endParaRPr lang="en-US" sz="2800" dirty="0"/>
          </a:p>
        </p:txBody>
      </p:sp>
    </p:spTree>
    <p:extLst>
      <p:ext uri="{BB962C8B-B14F-4D97-AF65-F5344CB8AC3E}">
        <p14:creationId xmlns:p14="http://schemas.microsoft.com/office/powerpoint/2010/main" val="62571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Thuật toán kiểm tra dạng chuẩn 2</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09484" y="1289154"/>
            <a:ext cx="10412824" cy="5186597"/>
          </a:xfrm>
        </p:spPr>
        <p:txBody>
          <a:bodyPr>
            <a:normAutofit/>
          </a:bodyPr>
          <a:lstStyle/>
          <a:p>
            <a:pPr algn="just">
              <a:lnSpc>
                <a:spcPct val="150000"/>
              </a:lnSpc>
            </a:pPr>
            <a:r>
              <a:rPr lang="vi-VN" sz="2800"/>
              <a:t>Ví dụ</a:t>
            </a:r>
            <a:r>
              <a:rPr lang="en-US" sz="2800"/>
              <a:t> 1</a:t>
            </a:r>
            <a:r>
              <a:rPr lang="vi-VN" sz="2800"/>
              <a:t>: Cho lược đồ Q(ABCD) và F = {AB → C; B→D; BC→A} có đạt chuẩn 2 không </a:t>
            </a:r>
            <a:endParaRPr lang="en-US" sz="2800"/>
          </a:p>
          <a:p>
            <a:pPr algn="just">
              <a:lnSpc>
                <a:spcPct val="150000"/>
              </a:lnSpc>
            </a:pPr>
            <a:r>
              <a:rPr lang="vi-VN" sz="2800"/>
              <a:t>Giải:</a:t>
            </a:r>
            <a:r>
              <a:rPr lang="en-US" sz="2800"/>
              <a:t> </a:t>
            </a:r>
          </a:p>
          <a:p>
            <a:pPr algn="just">
              <a:lnSpc>
                <a:spcPct val="150000"/>
              </a:lnSpc>
            </a:pPr>
            <a:r>
              <a:rPr lang="en-US" sz="2800"/>
              <a:t>Bước 1: Tìm khóa</a:t>
            </a:r>
          </a:p>
          <a:p>
            <a:pPr marL="0" indent="0" algn="just">
              <a:lnSpc>
                <a:spcPct val="150000"/>
              </a:lnSpc>
              <a:buNone/>
            </a:pPr>
            <a:r>
              <a:rPr lang="en-US" sz="2800"/>
              <a:t>TN = {B}; TG = {AC}</a:t>
            </a:r>
          </a:p>
        </p:txBody>
      </p:sp>
      <p:pic>
        <p:nvPicPr>
          <p:cNvPr id="5" name="Picture 4">
            <a:extLst>
              <a:ext uri="{FF2B5EF4-FFF2-40B4-BE49-F238E27FC236}">
                <a16:creationId xmlns:a16="http://schemas.microsoft.com/office/drawing/2014/main" id="{B0322E2F-A780-4A41-8B0A-0CC29FB5C605}"/>
              </a:ext>
            </a:extLst>
          </p:cNvPr>
          <p:cNvPicPr>
            <a:picLocks noChangeAspect="1"/>
          </p:cNvPicPr>
          <p:nvPr/>
        </p:nvPicPr>
        <p:blipFill>
          <a:blip r:embed="rId2"/>
          <a:stretch>
            <a:fillRect/>
          </a:stretch>
        </p:blipFill>
        <p:spPr>
          <a:xfrm>
            <a:off x="5029200" y="3238740"/>
            <a:ext cx="6802582" cy="2815695"/>
          </a:xfrm>
          <a:prstGeom prst="rect">
            <a:avLst/>
          </a:prstGeom>
        </p:spPr>
      </p:pic>
    </p:spTree>
    <p:extLst>
      <p:ext uri="{BB962C8B-B14F-4D97-AF65-F5344CB8AC3E}">
        <p14:creationId xmlns:p14="http://schemas.microsoft.com/office/powerpoint/2010/main" val="242115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Thuật toán kiểm tra dạng chuẩn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479372" y="4242218"/>
                <a:ext cx="10412824" cy="2139846"/>
              </a:xfrm>
            </p:spPr>
            <p:txBody>
              <a:bodyPr>
                <a:normAutofit/>
              </a:bodyPr>
              <a:lstStyle/>
              <a:p>
                <a:pPr algn="just">
                  <a:lnSpc>
                    <a:spcPct val="150000"/>
                  </a:lnSpc>
                </a:pPr>
                <a:r>
                  <a:rPr lang="vi-VN" sz="2800"/>
                  <a:t>Khóa là K1 = AB và K2 = BC. Ta thấy B</a:t>
                </a:r>
                <a:r>
                  <a:rPr lang="vi-VN" sz="2800">
                    <a:ea typeface="Cambria Math" panose="02040503050406030204" pitchFamily="18" charset="0"/>
                  </a:rPr>
                  <a:t>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K1 và B → D, D là thuộc tính không khóa như vậy thuộc tính không khóa không phụ thuộc đầy đủ vào khóa </a:t>
                </a:r>
                <a:r>
                  <a:rPr lang="en-US" sz="2800"/>
                  <a:t>=&gt; </a:t>
                </a:r>
                <a:r>
                  <a:rPr lang="vi-VN" sz="2800"/>
                  <a:t>không đạt chuẩn 2</a:t>
                </a:r>
                <a:endParaRPr lang="en-US" sz="2800"/>
              </a:p>
            </p:txBody>
          </p:sp>
        </mc:Choice>
        <mc:Fallback xmlns="">
          <p:sp>
            <p:nvSpPr>
              <p:cNvPr id="3" name="Content Placeholder 2">
                <a:extLst>
                  <a:ext uri="{FF2B5EF4-FFF2-40B4-BE49-F238E27FC236}">
                    <a16:creationId xmlns:a16="http://schemas.microsoft.com/office/drawing/2014/main" id="{89EF2F9B-B2C0-41CE-ACA4-0F6CDB3C89EC}"/>
                  </a:ext>
                </a:extLst>
              </p:cNvPr>
              <p:cNvSpPr>
                <a:spLocks noGrp="1" noRot="1" noChangeAspect="1" noMove="1" noResize="1" noEditPoints="1" noAdjustHandles="1" noChangeArrowheads="1" noChangeShapeType="1" noTextEdit="1"/>
              </p:cNvSpPr>
              <p:nvPr>
                <p:ph idx="1"/>
              </p:nvPr>
            </p:nvSpPr>
            <p:spPr>
              <a:xfrm>
                <a:off x="1479372" y="4242218"/>
                <a:ext cx="10412824" cy="2139846"/>
              </a:xfrm>
              <a:blipFill>
                <a:blip r:embed="rId2"/>
                <a:stretch>
                  <a:fillRect l="-1112" r="-1171"/>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87D4A10D-E546-4DF9-90E6-6BC1F178DCF9}"/>
              </a:ext>
            </a:extLst>
          </p:cNvPr>
          <p:cNvGraphicFramePr>
            <a:graphicFrameLocks noGrp="1"/>
          </p:cNvGraphicFramePr>
          <p:nvPr>
            <p:extLst>
              <p:ext uri="{D42A27DB-BD31-4B8C-83A1-F6EECF244321}">
                <p14:modId xmlns:p14="http://schemas.microsoft.com/office/powerpoint/2010/main" val="1389425747"/>
              </p:ext>
            </p:extLst>
          </p:nvPr>
        </p:nvGraphicFramePr>
        <p:xfrm>
          <a:off x="3620957" y="1012723"/>
          <a:ext cx="4473731" cy="1828800"/>
        </p:xfrm>
        <a:graphic>
          <a:graphicData uri="http://schemas.openxmlformats.org/drawingml/2006/table">
            <a:tbl>
              <a:tblPr firstRow="1" bandRow="1">
                <a:tableStyleId>{5C22544A-7EE6-4342-B048-85BDC9FD1C3A}</a:tableStyleId>
              </a:tblPr>
              <a:tblGrid>
                <a:gridCol w="1441373">
                  <a:extLst>
                    <a:ext uri="{9D8B030D-6E8A-4147-A177-3AD203B41FA5}">
                      <a16:colId xmlns:a16="http://schemas.microsoft.com/office/drawing/2014/main" val="3759286039"/>
                    </a:ext>
                  </a:extLst>
                </a:gridCol>
                <a:gridCol w="3032358">
                  <a:extLst>
                    <a:ext uri="{9D8B030D-6E8A-4147-A177-3AD203B41FA5}">
                      <a16:colId xmlns:a16="http://schemas.microsoft.com/office/drawing/2014/main" val="2154818875"/>
                    </a:ext>
                  </a:extLst>
                </a:gridCol>
              </a:tblGrid>
              <a:tr h="0">
                <a:tc>
                  <a:txBody>
                    <a:bodyPr/>
                    <a:lstStyle/>
                    <a:p>
                      <a:r>
                        <a:rPr lang="en-US" sz="2400"/>
                        <a:t>S</a:t>
                      </a:r>
                    </a:p>
                  </a:txBody>
                  <a:tcPr/>
                </a:tc>
                <a:tc>
                  <a:txBody>
                    <a:bodyPr/>
                    <a:lstStyle/>
                    <a:p>
                      <a:r>
                        <a:rPr lang="en-US" sz="2400"/>
                        <a:t>S</a:t>
                      </a:r>
                      <a:r>
                        <a:rPr lang="en-US" sz="2400" baseline="30000"/>
                        <a:t>+</a:t>
                      </a:r>
                      <a:endParaRPr lang="en-US" sz="2400"/>
                    </a:p>
                  </a:txBody>
                  <a:tcPr/>
                </a:tc>
                <a:extLst>
                  <a:ext uri="{0D108BD9-81ED-4DB2-BD59-A6C34878D82A}">
                    <a16:rowId xmlns:a16="http://schemas.microsoft.com/office/drawing/2014/main" val="2803928002"/>
                  </a:ext>
                </a:extLst>
              </a:tr>
              <a:tr h="370840">
                <a:tc>
                  <a:txBody>
                    <a:bodyPr/>
                    <a:lstStyle/>
                    <a:p>
                      <a:r>
                        <a:rPr lang="en-US" sz="2400"/>
                        <a:t>A</a:t>
                      </a:r>
                    </a:p>
                  </a:txBody>
                  <a:tcPr/>
                </a:tc>
                <a:tc>
                  <a:txBody>
                    <a:bodyPr/>
                    <a:lstStyle/>
                    <a:p>
                      <a:r>
                        <a:rPr lang="en-US" sz="2400"/>
                        <a:t>A</a:t>
                      </a:r>
                    </a:p>
                  </a:txBody>
                  <a:tcPr/>
                </a:tc>
                <a:extLst>
                  <a:ext uri="{0D108BD9-81ED-4DB2-BD59-A6C34878D82A}">
                    <a16:rowId xmlns:a16="http://schemas.microsoft.com/office/drawing/2014/main" val="469402922"/>
                  </a:ext>
                </a:extLst>
              </a:tr>
              <a:tr h="370840">
                <a:tc>
                  <a:txBody>
                    <a:bodyPr/>
                    <a:lstStyle/>
                    <a:p>
                      <a:r>
                        <a:rPr lang="en-US" sz="2400"/>
                        <a:t>B</a:t>
                      </a:r>
                    </a:p>
                  </a:txBody>
                  <a:tcPr/>
                </a:tc>
                <a:tc>
                  <a:txBody>
                    <a:bodyPr/>
                    <a:lstStyle/>
                    <a:p>
                      <a:r>
                        <a:rPr lang="en-US" sz="2400" dirty="0"/>
                        <a:t>BD</a:t>
                      </a:r>
                    </a:p>
                  </a:txBody>
                  <a:tcPr/>
                </a:tc>
                <a:extLst>
                  <a:ext uri="{0D108BD9-81ED-4DB2-BD59-A6C34878D82A}">
                    <a16:rowId xmlns:a16="http://schemas.microsoft.com/office/drawing/2014/main" val="1703519068"/>
                  </a:ext>
                </a:extLst>
              </a:tr>
              <a:tr h="370840">
                <a:tc>
                  <a:txBody>
                    <a:bodyPr/>
                    <a:lstStyle/>
                    <a:p>
                      <a:r>
                        <a:rPr lang="en-US" sz="2400"/>
                        <a:t>C</a:t>
                      </a:r>
                    </a:p>
                  </a:txBody>
                  <a:tcPr/>
                </a:tc>
                <a:tc>
                  <a:txBody>
                    <a:bodyPr/>
                    <a:lstStyle/>
                    <a:p>
                      <a:r>
                        <a:rPr lang="en-US" sz="2400" dirty="0"/>
                        <a:t>C</a:t>
                      </a:r>
                    </a:p>
                  </a:txBody>
                  <a:tcPr/>
                </a:tc>
                <a:extLst>
                  <a:ext uri="{0D108BD9-81ED-4DB2-BD59-A6C34878D82A}">
                    <a16:rowId xmlns:a16="http://schemas.microsoft.com/office/drawing/2014/main" val="2972860686"/>
                  </a:ext>
                </a:extLst>
              </a:tr>
            </a:tbl>
          </a:graphicData>
        </a:graphic>
      </p:graphicFrame>
    </p:spTree>
    <p:extLst>
      <p:ext uri="{BB962C8B-B14F-4D97-AF65-F5344CB8AC3E}">
        <p14:creationId xmlns:p14="http://schemas.microsoft.com/office/powerpoint/2010/main" val="369491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Ví dụ 2: </a:t>
            </a:r>
            <a:r>
              <a:rPr lang="vi-VN" sz="3200"/>
              <a:t>Xác định dạng chuẩn của </a:t>
            </a:r>
            <a:r>
              <a:rPr lang="en-US" sz="3200"/>
              <a:t>các </a:t>
            </a:r>
            <a:r>
              <a:rPr lang="vi-VN" sz="3200"/>
              <a:t>lược đồ quan hệ sau. </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64903" y="1794165"/>
            <a:ext cx="10412824" cy="4357254"/>
          </a:xfrm>
        </p:spPr>
        <p:txBody>
          <a:bodyPr>
            <a:normAutofit/>
          </a:bodyPr>
          <a:lstStyle/>
          <a:p>
            <a:pPr algn="just">
              <a:lnSpc>
                <a:spcPct val="150000"/>
              </a:lnSpc>
            </a:pPr>
            <a:r>
              <a:rPr lang="en-US" sz="2800"/>
              <a:t>a) </a:t>
            </a:r>
            <a:r>
              <a:rPr lang="vi-VN" sz="2800"/>
              <a:t>Q(A,B,C,D)  và F={ AB → D;B → D; C→ A}</a:t>
            </a:r>
            <a:endParaRPr lang="en-US" sz="2800"/>
          </a:p>
          <a:p>
            <a:pPr marL="0" indent="0" algn="just">
              <a:lnSpc>
                <a:spcPct val="150000"/>
              </a:lnSpc>
              <a:buNone/>
            </a:pPr>
            <a:r>
              <a:rPr lang="en-US" sz="2800"/>
              <a:t>b) Q(GMVNHP)  F={G→N; G→H;  G→P;  G→V;  NHP→M} </a:t>
            </a:r>
          </a:p>
        </p:txBody>
      </p:sp>
    </p:spTree>
    <p:extLst>
      <p:ext uri="{BB962C8B-B14F-4D97-AF65-F5344CB8AC3E}">
        <p14:creationId xmlns:p14="http://schemas.microsoft.com/office/powerpoint/2010/main" val="312135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Hệ quả: </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789361" y="1250373"/>
            <a:ext cx="9571365" cy="4357254"/>
          </a:xfrm>
        </p:spPr>
        <p:txBody>
          <a:bodyPr>
            <a:normAutofit/>
          </a:bodyPr>
          <a:lstStyle/>
          <a:p>
            <a:pPr algn="just">
              <a:lnSpc>
                <a:spcPct val="150000"/>
              </a:lnSpc>
              <a:buFontTx/>
              <a:buChar char="-"/>
            </a:pPr>
            <a:r>
              <a:rPr lang="en-US" sz="2800"/>
              <a:t>Q đạt 2NF nếu Q là 1NF và tập thuộc tính không khoá của Q bằng rỗng.  </a:t>
            </a:r>
          </a:p>
          <a:p>
            <a:pPr algn="just">
              <a:lnSpc>
                <a:spcPct val="150000"/>
              </a:lnSpc>
              <a:buFontTx/>
              <a:buChar char="-"/>
            </a:pPr>
            <a:r>
              <a:rPr lang="en-US" sz="2800"/>
              <a:t>Nếu khoá của quan hệ có một thuộc tính thì quan hệ đó ít nhất  đạt chuẩn 2.</a:t>
            </a:r>
          </a:p>
        </p:txBody>
      </p:sp>
    </p:spTree>
    <p:extLst>
      <p:ext uri="{BB962C8B-B14F-4D97-AF65-F5344CB8AC3E}">
        <p14:creationId xmlns:p14="http://schemas.microsoft.com/office/powerpoint/2010/main" val="410475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280890"/>
          </a:xfrm>
        </p:spPr>
        <p:txBody>
          <a:bodyPr/>
          <a:lstStyle/>
          <a:p>
            <a:r>
              <a:rPr lang="en-US" b="1"/>
              <a:t>Ví dụ</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68632" y="1544782"/>
            <a:ext cx="10412824" cy="5160818"/>
          </a:xfrm>
        </p:spPr>
        <p:txBody>
          <a:bodyPr>
            <a:normAutofit/>
          </a:bodyPr>
          <a:lstStyle/>
          <a:p>
            <a:pPr algn="just">
              <a:lnSpc>
                <a:spcPct val="150000"/>
              </a:lnSpc>
              <a:buFontTx/>
              <a:buChar char="-"/>
            </a:pPr>
            <a:r>
              <a:rPr lang="en-US" sz="2800"/>
              <a:t>Q(ABCD) </a:t>
            </a:r>
          </a:p>
          <a:p>
            <a:pPr algn="just">
              <a:lnSpc>
                <a:spcPct val="150000"/>
              </a:lnSpc>
              <a:buFontTx/>
              <a:buChar char="-"/>
            </a:pPr>
            <a:r>
              <a:rPr lang="en-US" sz="2800"/>
              <a:t>F = {A  → B;  B → DC} </a:t>
            </a:r>
          </a:p>
          <a:p>
            <a:pPr algn="just">
              <a:lnSpc>
                <a:spcPct val="150000"/>
              </a:lnSpc>
              <a:buFontTx/>
              <a:buChar char="-"/>
            </a:pPr>
            <a:r>
              <a:rPr lang="en-US" sz="2800"/>
              <a:t>Ta có K = A, vậy đạt dạng chuẩn 2</a:t>
            </a:r>
          </a:p>
          <a:p>
            <a:pPr marL="0" indent="0" algn="just">
              <a:lnSpc>
                <a:spcPct val="150000"/>
              </a:lnSpc>
              <a:buNone/>
            </a:pPr>
            <a:r>
              <a:rPr lang="vi-VN" sz="2800" i="1" u="sng"/>
              <a:t>Nhận xét:  </a:t>
            </a:r>
            <a:r>
              <a:rPr lang="vi-VN" sz="2800"/>
              <a:t>- Quan hệ ở dạng chuẩn 2 có sự dư thừa thông tin. </a:t>
            </a:r>
            <a:endParaRPr lang="en-US" sz="2800"/>
          </a:p>
          <a:p>
            <a:pPr marL="0" indent="0" algn="just">
              <a:lnSpc>
                <a:spcPct val="150000"/>
              </a:lnSpc>
              <a:buNone/>
            </a:pPr>
            <a:r>
              <a:rPr lang="vi-VN" sz="2800"/>
              <a:t>- Dạng chuẩn 2 có thể bị vi phạm khi quan hệ có khóa  gồm hơn một thuộc tính</a:t>
            </a:r>
            <a:r>
              <a:rPr lang="en-US" sz="2800"/>
              <a:t> </a:t>
            </a:r>
          </a:p>
        </p:txBody>
      </p:sp>
    </p:spTree>
    <p:extLst>
      <p:ext uri="{BB962C8B-B14F-4D97-AF65-F5344CB8AC3E}">
        <p14:creationId xmlns:p14="http://schemas.microsoft.com/office/powerpoint/2010/main" val="255503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714810"/>
          </a:xfrm>
        </p:spPr>
        <p:txBody>
          <a:bodyPr>
            <a:normAutofit/>
          </a:bodyPr>
          <a:lstStyle/>
          <a:p>
            <a:pPr>
              <a:lnSpc>
                <a:spcPct val="150000"/>
              </a:lnSpc>
            </a:pPr>
            <a:r>
              <a:rPr lang="en-US" b="1"/>
              <a:t>2.4.1.4. Dạng chuẩn 3 (3NF) </a:t>
            </a:r>
            <a:br>
              <a:rPr lang="en-US" b="1"/>
            </a:br>
            <a:r>
              <a:rPr lang="en-US" sz="3200" b="1"/>
              <a:t>Phụ thuộc hàm bắc cầu </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68632" y="1978702"/>
            <a:ext cx="10412824" cy="4726898"/>
          </a:xfrm>
        </p:spPr>
        <p:txBody>
          <a:bodyPr>
            <a:normAutofit/>
          </a:bodyPr>
          <a:lstStyle/>
          <a:p>
            <a:pPr algn="just">
              <a:buFontTx/>
              <a:buChar char="-"/>
            </a:pPr>
            <a:r>
              <a:rPr lang="vi-VN" sz="2800"/>
              <a:t>Q là lược đồ quan hệ, X, Y là hai tập con của Q</a:t>
            </a:r>
            <a:r>
              <a:rPr lang="vi-VN" sz="2800" baseline="30000"/>
              <a:t>+</a:t>
            </a:r>
            <a:r>
              <a:rPr lang="vi-VN" sz="2800"/>
              <a:t>, A là một thuộc tính</a:t>
            </a:r>
            <a:endParaRPr lang="en-US" sz="2800"/>
          </a:p>
          <a:p>
            <a:pPr algn="just">
              <a:buFontTx/>
              <a:buChar char="-"/>
            </a:pPr>
            <a:r>
              <a:rPr lang="vi-VN" sz="2800"/>
              <a:t> Nói rằng A là phụ thuộc hàm bắc cầu vào X nếu thỏa mãn các điều kiện sau: </a:t>
            </a:r>
            <a:endParaRPr lang="en-US" sz="2800"/>
          </a:p>
          <a:p>
            <a:pPr marL="0" indent="0" algn="just">
              <a:buNone/>
            </a:pPr>
            <a:r>
              <a:rPr lang="en-US" sz="2800"/>
              <a:t>	</a:t>
            </a:r>
            <a:r>
              <a:rPr lang="vi-VN" sz="2800"/>
              <a:t>+ X→Y; </a:t>
            </a:r>
            <a:endParaRPr lang="en-US" sz="2800"/>
          </a:p>
          <a:p>
            <a:pPr marL="0" indent="0" algn="just">
              <a:buNone/>
            </a:pPr>
            <a:r>
              <a:rPr lang="en-US" sz="2800"/>
              <a:t>	+ </a:t>
            </a:r>
            <a:r>
              <a:rPr lang="vi-VN" sz="2800"/>
              <a:t>Y→ A </a:t>
            </a:r>
            <a:endParaRPr lang="en-US" sz="2800"/>
          </a:p>
          <a:p>
            <a:pPr marL="0" indent="0" algn="just">
              <a:buNone/>
            </a:pPr>
            <a:r>
              <a:rPr lang="en-US" sz="2800"/>
              <a:t>     </a:t>
            </a:r>
            <a:r>
              <a:rPr lang="vi-VN" sz="2800"/>
              <a:t>+ Y không dẫn xuất ra được X </a:t>
            </a:r>
            <a:endParaRPr lang="en-US" sz="2800"/>
          </a:p>
          <a:p>
            <a:pPr marL="0" indent="0" algn="just">
              <a:buNone/>
            </a:pPr>
            <a:r>
              <a:rPr lang="en-US" sz="2800"/>
              <a:t>	</a:t>
            </a:r>
            <a:r>
              <a:rPr lang="vi-VN" sz="2800"/>
              <a:t>+ A không thuộc XY </a:t>
            </a:r>
            <a:endParaRPr lang="en-US" sz="2800"/>
          </a:p>
          <a:p>
            <a:pPr algn="just">
              <a:buFontTx/>
              <a:buChar char="-"/>
            </a:pPr>
            <a:endParaRPr lang="en-US" sz="2800"/>
          </a:p>
        </p:txBody>
      </p:sp>
    </p:spTree>
    <p:extLst>
      <p:ext uri="{BB962C8B-B14F-4D97-AF65-F5344CB8AC3E}">
        <p14:creationId xmlns:p14="http://schemas.microsoft.com/office/powerpoint/2010/main" val="235449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714810"/>
          </a:xfrm>
        </p:spPr>
        <p:txBody>
          <a:bodyPr>
            <a:normAutofit/>
          </a:bodyPr>
          <a:lstStyle/>
          <a:p>
            <a:pPr>
              <a:lnSpc>
                <a:spcPct val="150000"/>
              </a:lnSpc>
            </a:pPr>
            <a:r>
              <a:rPr lang="en-US" b="1"/>
              <a:t>VÍ DỤ</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68632" y="1978702"/>
            <a:ext cx="10412824" cy="4726898"/>
          </a:xfrm>
        </p:spPr>
        <p:txBody>
          <a:bodyPr>
            <a:normAutofit/>
          </a:bodyPr>
          <a:lstStyle/>
          <a:p>
            <a:pPr algn="just">
              <a:lnSpc>
                <a:spcPct val="150000"/>
              </a:lnSpc>
              <a:buFontTx/>
              <a:buChar char="-"/>
            </a:pPr>
            <a:r>
              <a:rPr lang="vi-VN" sz="2800"/>
              <a:t>Cho lược đồ quan hệ Q(ABCD)  </a:t>
            </a:r>
            <a:endParaRPr lang="en-US" sz="2800"/>
          </a:p>
          <a:p>
            <a:pPr algn="just">
              <a:lnSpc>
                <a:spcPct val="150000"/>
              </a:lnSpc>
              <a:buFontTx/>
              <a:buChar char="-"/>
            </a:pPr>
            <a:r>
              <a:rPr lang="vi-VN" sz="2800"/>
              <a:t>F={AB → C ; D → B;  C → D}</a:t>
            </a:r>
            <a:endParaRPr lang="en-US" sz="2800"/>
          </a:p>
          <a:p>
            <a:pPr algn="just">
              <a:lnSpc>
                <a:spcPct val="150000"/>
              </a:lnSpc>
              <a:buFontTx/>
              <a:buChar char="-"/>
            </a:pPr>
            <a:r>
              <a:rPr lang="en-US" sz="2800"/>
              <a:t>D phụ thuộc hàm bắc cầu vào AB vì </a:t>
            </a:r>
            <a:r>
              <a:rPr lang="vi-VN" sz="2800"/>
              <a:t>AB → C </a:t>
            </a:r>
            <a:r>
              <a:rPr lang="en-US" sz="2800"/>
              <a:t>; </a:t>
            </a:r>
            <a:r>
              <a:rPr lang="vi-VN" sz="2800"/>
              <a:t>C → D</a:t>
            </a:r>
            <a:r>
              <a:rPr lang="en-US" sz="2800"/>
              <a:t>; C không xác định được AB; D không thuộc AB hay C</a:t>
            </a:r>
          </a:p>
          <a:p>
            <a:pPr marL="0" indent="0" algn="just">
              <a:buNone/>
            </a:pPr>
            <a:endParaRPr lang="en-US" sz="2800"/>
          </a:p>
        </p:txBody>
      </p:sp>
    </p:spTree>
    <p:extLst>
      <p:ext uri="{BB962C8B-B14F-4D97-AF65-F5344CB8AC3E}">
        <p14:creationId xmlns:p14="http://schemas.microsoft.com/office/powerpoint/2010/main" val="237003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714810"/>
          </a:xfrm>
        </p:spPr>
        <p:txBody>
          <a:bodyPr>
            <a:normAutofit/>
          </a:bodyPr>
          <a:lstStyle/>
          <a:p>
            <a:pPr>
              <a:lnSpc>
                <a:spcPct val="150000"/>
              </a:lnSpc>
            </a:pPr>
            <a:r>
              <a:rPr lang="en-US" b="1"/>
              <a:t>Định nghĩa 1</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68632" y="1469036"/>
                <a:ext cx="10412824" cy="5125072"/>
              </a:xfrm>
            </p:spPr>
            <p:txBody>
              <a:bodyPr>
                <a:normAutofit/>
              </a:bodyPr>
              <a:lstStyle/>
              <a:p>
                <a:pPr algn="just">
                  <a:lnSpc>
                    <a:spcPct val="150000"/>
                  </a:lnSpc>
                  <a:buFontTx/>
                  <a:buChar char="-"/>
                </a:pPr>
                <a:r>
                  <a:rPr lang="vi-VN" sz="2800"/>
                  <a:t>Một lược đồ quan hệ Q  đạt dạng chuẩn 3 nếu mọi phụ thuộc hàm X→A</a:t>
                </a:r>
                <a:r>
                  <a:rPr lang="en-US" sz="2800"/>
                  <a:t>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F</a:t>
                </a:r>
                <a:r>
                  <a:rPr lang="vi-VN" sz="2800" baseline="30000"/>
                  <a:t>+</a:t>
                </a:r>
                <a:r>
                  <a:rPr lang="vi-VN" sz="2800"/>
                  <a:t> ( F là tập phụ thuộc không hiển nhiên định nghĩa trên Q, A là thuộc tính đơn không thuộc X, X là tập thuộc tính con của tập Q</a:t>
                </a:r>
                <a:r>
                  <a:rPr lang="vi-VN" sz="2800" baseline="30000"/>
                  <a:t>+</a:t>
                </a:r>
                <a:r>
                  <a:rPr lang="vi-VN" sz="2800"/>
                  <a:t>), thì một trong hai điều kiện sau được thoả mãn:  </a:t>
                </a:r>
                <a:endParaRPr lang="en-US" sz="2800"/>
              </a:p>
              <a:p>
                <a:pPr algn="just">
                  <a:lnSpc>
                    <a:spcPct val="150000"/>
                  </a:lnSpc>
                  <a:buFontTx/>
                  <a:buChar char="-"/>
                </a:pPr>
                <a:r>
                  <a:rPr lang="vi-VN" sz="2800"/>
                  <a:t>Hoặc X là một siêu khoá của Q </a:t>
                </a:r>
                <a:endParaRPr lang="en-US" sz="2800"/>
              </a:p>
              <a:p>
                <a:pPr algn="just">
                  <a:lnSpc>
                    <a:spcPct val="150000"/>
                  </a:lnSpc>
                  <a:buFontTx/>
                  <a:buChar char="-"/>
                </a:pPr>
                <a:r>
                  <a:rPr lang="vi-VN" sz="2800"/>
                  <a:t>Hoặc A là một thuộc tính khoá</a:t>
                </a:r>
                <a:endParaRPr lang="en-US" sz="2800"/>
              </a:p>
            </p:txBody>
          </p:sp>
        </mc:Choice>
        <mc:Fallback xmlns="">
          <p:sp>
            <p:nvSpPr>
              <p:cNvPr id="3" name="Content Placeholder 2">
                <a:extLst>
                  <a:ext uri="{FF2B5EF4-FFF2-40B4-BE49-F238E27FC236}">
                    <a16:creationId xmlns:a16="http://schemas.microsoft.com/office/drawing/2014/main" id="{89EF2F9B-B2C0-41CE-ACA4-0F6CDB3C89EC}"/>
                  </a:ext>
                </a:extLst>
              </p:cNvPr>
              <p:cNvSpPr>
                <a:spLocks noGrp="1" noRot="1" noChangeAspect="1" noMove="1" noResize="1" noEditPoints="1" noAdjustHandles="1" noChangeArrowheads="1" noChangeShapeType="1" noTextEdit="1"/>
              </p:cNvSpPr>
              <p:nvPr>
                <p:ph idx="1"/>
              </p:nvPr>
            </p:nvSpPr>
            <p:spPr>
              <a:xfrm>
                <a:off x="1368632" y="1469036"/>
                <a:ext cx="10412824" cy="5125072"/>
              </a:xfrm>
              <a:blipFill>
                <a:blip r:embed="rId2"/>
                <a:stretch>
                  <a:fillRect l="-1230" r="-1171"/>
                </a:stretch>
              </a:blipFill>
            </p:spPr>
            <p:txBody>
              <a:bodyPr/>
              <a:lstStyle/>
              <a:p>
                <a:r>
                  <a:rPr lang="en-US">
                    <a:noFill/>
                  </a:rPr>
                  <a:t> </a:t>
                </a:r>
              </a:p>
            </p:txBody>
          </p:sp>
        </mc:Fallback>
      </mc:AlternateContent>
    </p:spTree>
    <p:extLst>
      <p:ext uri="{BB962C8B-B14F-4D97-AF65-F5344CB8AC3E}">
        <p14:creationId xmlns:p14="http://schemas.microsoft.com/office/powerpoint/2010/main" val="209413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714810"/>
          </a:xfrm>
        </p:spPr>
        <p:txBody>
          <a:bodyPr>
            <a:normAutofit/>
          </a:bodyPr>
          <a:lstStyle/>
          <a:p>
            <a:pPr>
              <a:lnSpc>
                <a:spcPct val="150000"/>
              </a:lnSpc>
            </a:pPr>
            <a:r>
              <a:rPr lang="vi-VN"/>
              <a:t>Ví dụ: Xác định dạng chuẩn của lược đồ quan hệ sau.</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458573" y="2398427"/>
            <a:ext cx="10412824" cy="3837482"/>
          </a:xfrm>
        </p:spPr>
        <p:txBody>
          <a:bodyPr>
            <a:normAutofit/>
          </a:bodyPr>
          <a:lstStyle/>
          <a:p>
            <a:pPr algn="just">
              <a:lnSpc>
                <a:spcPct val="150000"/>
              </a:lnSpc>
              <a:buFontTx/>
              <a:buChar char="-"/>
            </a:pPr>
            <a:r>
              <a:rPr lang="vi-VN" sz="2800"/>
              <a:t>Q(NGPM)  F={NGP→M; M→P} </a:t>
            </a:r>
            <a:endParaRPr lang="en-US" sz="2800"/>
          </a:p>
          <a:p>
            <a:pPr algn="just">
              <a:lnSpc>
                <a:spcPct val="150000"/>
              </a:lnSpc>
              <a:buFontTx/>
              <a:buChar char="-"/>
            </a:pPr>
            <a:r>
              <a:rPr lang="vi-VN" sz="2800"/>
              <a:t>Dễ thấy các khoá của Q là  {NGP}, {NGM}   </a:t>
            </a:r>
            <a:endParaRPr lang="en-US" sz="2800"/>
          </a:p>
          <a:p>
            <a:pPr algn="just">
              <a:lnSpc>
                <a:spcPct val="150000"/>
              </a:lnSpc>
              <a:buFontTx/>
              <a:buChar char="-"/>
            </a:pPr>
            <a:r>
              <a:rPr lang="vi-VN" sz="2800"/>
              <a:t>NGP → M có vế trái là siêu khoá   </a:t>
            </a:r>
            <a:endParaRPr lang="en-US" sz="2800"/>
          </a:p>
          <a:p>
            <a:pPr algn="just">
              <a:lnSpc>
                <a:spcPct val="150000"/>
              </a:lnSpc>
              <a:buFontTx/>
              <a:buChar char="-"/>
            </a:pPr>
            <a:r>
              <a:rPr lang="vi-VN" sz="2800"/>
              <a:t>M → P có vế phải là thuộc tính khoá.   Nên Q đạt chuẩn 3.</a:t>
            </a:r>
            <a:endParaRPr lang="en-US" sz="2800"/>
          </a:p>
        </p:txBody>
      </p:sp>
    </p:spTree>
    <p:extLst>
      <p:ext uri="{BB962C8B-B14F-4D97-AF65-F5344CB8AC3E}">
        <p14:creationId xmlns:p14="http://schemas.microsoft.com/office/powerpoint/2010/main" val="75822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89362" y="263892"/>
            <a:ext cx="9571365" cy="1055242"/>
          </a:xfrm>
        </p:spPr>
        <p:txBody>
          <a:bodyPr>
            <a:normAutofit/>
          </a:bodyPr>
          <a:lstStyle/>
          <a:p>
            <a:pPr>
              <a:lnSpc>
                <a:spcPct val="150000"/>
              </a:lnSpc>
            </a:pPr>
            <a:r>
              <a:rPr lang="vi-VN"/>
              <a:t>Định nghĩa 2 </a:t>
            </a:r>
            <a:endParaRPr lang="en-US"/>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143779" y="1510259"/>
            <a:ext cx="10412824" cy="3837482"/>
          </a:xfrm>
        </p:spPr>
        <p:txBody>
          <a:bodyPr>
            <a:normAutofit lnSpcReduction="10000"/>
          </a:bodyPr>
          <a:lstStyle/>
          <a:p>
            <a:pPr algn="just">
              <a:lnSpc>
                <a:spcPct val="150000"/>
              </a:lnSpc>
              <a:buFontTx/>
              <a:buChar char="-"/>
            </a:pPr>
            <a:r>
              <a:rPr lang="vi-VN" sz="2800"/>
              <a:t>Lược đồ quan hệ Q ở dạng chuẩn 3 nếu mọi thuộc tính không khóa của Q đều không phụ thuộc bắc cầu vào một khóa bất kỳ của Q </a:t>
            </a:r>
            <a:endParaRPr lang="en-US" sz="2800"/>
          </a:p>
          <a:p>
            <a:pPr algn="just">
              <a:lnSpc>
                <a:spcPct val="150000"/>
              </a:lnSpc>
              <a:buFontTx/>
              <a:buChar char="-"/>
            </a:pPr>
            <a:r>
              <a:rPr lang="vi-VN" sz="2800"/>
              <a:t>Hai định nghĩa trên là tương đương, tuy nhiên việc cài đặt thuật toán kiểm tra dạng chuẩn 3 theo định nghĩa 1 thì hiệu quả hơn nhiều vì không cần kiểm tra tính phụ thuộc bắc cầu</a:t>
            </a:r>
            <a:endParaRPr lang="en-US" sz="2800"/>
          </a:p>
        </p:txBody>
      </p:sp>
    </p:spTree>
    <p:extLst>
      <p:ext uri="{BB962C8B-B14F-4D97-AF65-F5344CB8AC3E}">
        <p14:creationId xmlns:p14="http://schemas.microsoft.com/office/powerpoint/2010/main" val="381344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59382" y="128981"/>
            <a:ext cx="9571365" cy="1055242"/>
          </a:xfrm>
        </p:spPr>
        <p:txBody>
          <a:bodyPr>
            <a:normAutofit/>
          </a:bodyPr>
          <a:lstStyle/>
          <a:p>
            <a:pPr>
              <a:lnSpc>
                <a:spcPct val="150000"/>
              </a:lnSpc>
            </a:pPr>
            <a:r>
              <a:rPr lang="en-US" b="1"/>
              <a:t>Hệ quả</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38652" y="1034320"/>
            <a:ext cx="9992095" cy="5694699"/>
          </a:xfrm>
        </p:spPr>
        <p:txBody>
          <a:bodyPr>
            <a:normAutofit fontScale="92500" lnSpcReduction="10000"/>
          </a:bodyPr>
          <a:lstStyle/>
          <a:p>
            <a:pPr algn="just">
              <a:lnSpc>
                <a:spcPct val="150000"/>
              </a:lnSpc>
              <a:buFontTx/>
              <a:buChar char="-"/>
            </a:pPr>
            <a:r>
              <a:rPr lang="vi-VN" sz="2800" dirty="0"/>
              <a:t>Hệ quả 1: Nếu Q đạt chuẩn 3 thì Q đạt chuẩn 2</a:t>
            </a:r>
            <a:endParaRPr lang="en-US" sz="2800" dirty="0"/>
          </a:p>
          <a:p>
            <a:pPr algn="just">
              <a:lnSpc>
                <a:spcPct val="150000"/>
              </a:lnSpc>
              <a:buFontTx/>
              <a:buChar char="-"/>
            </a:pPr>
            <a:r>
              <a:rPr lang="en-US" sz="2800" dirty="0" err="1"/>
              <a:t>Hệ</a:t>
            </a:r>
            <a:r>
              <a:rPr lang="en-US" sz="2800" dirty="0"/>
              <a:t> </a:t>
            </a:r>
            <a:r>
              <a:rPr lang="en-US" sz="2800" dirty="0" err="1"/>
              <a:t>quả</a:t>
            </a:r>
            <a:r>
              <a:rPr lang="en-US" sz="2800" dirty="0"/>
              <a:t> 2: </a:t>
            </a:r>
            <a:r>
              <a:rPr lang="en-US" sz="2800" dirty="0" err="1"/>
              <a:t>Nếu</a:t>
            </a:r>
            <a:r>
              <a:rPr lang="en-US" sz="2800" dirty="0"/>
              <a:t> Q </a:t>
            </a:r>
            <a:r>
              <a:rPr lang="en-US" sz="2800" dirty="0" err="1"/>
              <a:t>không</a:t>
            </a:r>
            <a:r>
              <a:rPr lang="en-US" sz="2800" dirty="0"/>
              <a:t> </a:t>
            </a:r>
            <a:r>
              <a:rPr lang="en-US" sz="2800" dirty="0" err="1"/>
              <a:t>có</a:t>
            </a:r>
            <a:r>
              <a:rPr lang="en-US" sz="2800" dirty="0"/>
              <a:t> </a:t>
            </a:r>
            <a:r>
              <a:rPr lang="en-US" sz="2800" dirty="0" err="1"/>
              <a:t>thuộc</a:t>
            </a:r>
            <a:r>
              <a:rPr lang="en-US" sz="2800" dirty="0"/>
              <a:t> </a:t>
            </a:r>
            <a:r>
              <a:rPr lang="en-US" sz="2800" dirty="0" err="1"/>
              <a:t>tính</a:t>
            </a:r>
            <a:r>
              <a:rPr lang="en-US" sz="2800" dirty="0"/>
              <a:t> </a:t>
            </a:r>
            <a:r>
              <a:rPr lang="en-US" sz="2800" dirty="0" err="1"/>
              <a:t>không</a:t>
            </a:r>
            <a:r>
              <a:rPr lang="en-US" sz="2800" dirty="0"/>
              <a:t> </a:t>
            </a:r>
            <a:r>
              <a:rPr lang="en-US" sz="2800" dirty="0" err="1"/>
              <a:t>khoá</a:t>
            </a:r>
            <a:r>
              <a:rPr lang="en-US" sz="2800" dirty="0"/>
              <a:t> </a:t>
            </a:r>
            <a:r>
              <a:rPr lang="en-US" sz="2800" dirty="0" err="1"/>
              <a:t>thì</a:t>
            </a:r>
            <a:r>
              <a:rPr lang="en-US" sz="2800" dirty="0"/>
              <a:t> Q </a:t>
            </a:r>
            <a:r>
              <a:rPr lang="en-US" sz="2800" dirty="0" err="1"/>
              <a:t>đạt</a:t>
            </a:r>
            <a:r>
              <a:rPr lang="en-US" sz="2800" dirty="0"/>
              <a:t> </a:t>
            </a:r>
            <a:r>
              <a:rPr lang="en-US" sz="2800" dirty="0" err="1"/>
              <a:t>chuẩn</a:t>
            </a:r>
            <a:r>
              <a:rPr lang="en-US" sz="2800" dirty="0"/>
              <a:t> 3.</a:t>
            </a:r>
          </a:p>
          <a:p>
            <a:pPr marL="0" indent="0" algn="just">
              <a:lnSpc>
                <a:spcPct val="150000"/>
              </a:lnSpc>
              <a:buNone/>
            </a:pPr>
            <a:r>
              <a:rPr lang="vi-VN" sz="2800" b="1" i="1" u="sng" dirty="0"/>
              <a:t>Nhận xét:  </a:t>
            </a:r>
            <a:endParaRPr lang="en-US" sz="2800" b="1" i="1" u="sng" dirty="0"/>
          </a:p>
          <a:p>
            <a:pPr algn="just">
              <a:lnSpc>
                <a:spcPct val="150000"/>
              </a:lnSpc>
              <a:buFontTx/>
              <a:buChar char="-"/>
            </a:pPr>
            <a:r>
              <a:rPr lang="vi-VN" sz="2800" dirty="0"/>
              <a:t>Trong một CSDL tốt, các quan hệ nên được chuyển về dạng chuẩn 3.  </a:t>
            </a:r>
            <a:endParaRPr lang="en-US" sz="2800" dirty="0"/>
          </a:p>
          <a:p>
            <a:pPr algn="just">
              <a:lnSpc>
                <a:spcPct val="150000"/>
              </a:lnSpc>
              <a:buFontTx/>
              <a:buChar char="-"/>
            </a:pPr>
            <a:r>
              <a:rPr lang="vi-VN" sz="2800" dirty="0"/>
              <a:t>Tuy nhiên, dữ liệu vẫn có khả năng dư thừa khi quan hệ có hai tập khóa dự tuyển gối lẫn nhau, hoặc quan hệ có thuộc tính không khóa xác định một thuộc tính khóa.</a:t>
            </a:r>
            <a:endParaRPr lang="en-US" sz="2800" dirty="0"/>
          </a:p>
        </p:txBody>
      </p:sp>
    </p:spTree>
    <p:extLst>
      <p:ext uri="{BB962C8B-B14F-4D97-AF65-F5344CB8AC3E}">
        <p14:creationId xmlns:p14="http://schemas.microsoft.com/office/powerpoint/2010/main" val="349798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759382" y="128981"/>
            <a:ext cx="9571365" cy="1055242"/>
          </a:xfrm>
        </p:spPr>
        <p:txBody>
          <a:bodyPr>
            <a:normAutofit/>
          </a:bodyPr>
          <a:lstStyle/>
          <a:p>
            <a:pPr>
              <a:lnSpc>
                <a:spcPct val="150000"/>
              </a:lnSpc>
            </a:pPr>
            <a:r>
              <a:rPr lang="en-US" b="1"/>
              <a:t>* Thuật toán kiểm tra dạng chuẩn 3 </a:t>
            </a:r>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338652" y="1034320"/>
            <a:ext cx="9992095" cy="5694699"/>
          </a:xfrm>
        </p:spPr>
        <p:txBody>
          <a:bodyPr>
            <a:normAutofit/>
          </a:bodyPr>
          <a:lstStyle/>
          <a:p>
            <a:pPr algn="just">
              <a:lnSpc>
                <a:spcPct val="150000"/>
              </a:lnSpc>
              <a:buFontTx/>
              <a:buChar char="-"/>
            </a:pPr>
            <a:r>
              <a:rPr lang="vi-VN" sz="2800"/>
              <a:t>Vào: Lược đồ quan hệ Q và tập phụ thuộc hàm F </a:t>
            </a:r>
            <a:endParaRPr lang="en-US" sz="2800"/>
          </a:p>
          <a:p>
            <a:pPr algn="just">
              <a:lnSpc>
                <a:spcPct val="150000"/>
              </a:lnSpc>
              <a:buFontTx/>
              <a:buChar char="-"/>
            </a:pPr>
            <a:r>
              <a:rPr lang="vi-VN" sz="2800"/>
              <a:t>Ra: Khẳng định Q đạt chuẩn 3 hay không đạt chuẩn 3 </a:t>
            </a:r>
            <a:endParaRPr lang="en-US" sz="2800"/>
          </a:p>
          <a:p>
            <a:pPr algn="just">
              <a:lnSpc>
                <a:spcPct val="150000"/>
              </a:lnSpc>
              <a:buFontTx/>
              <a:buChar char="-"/>
            </a:pPr>
            <a:r>
              <a:rPr lang="vi-VN" sz="2800" u="sng"/>
              <a:t>Bước 1:</a:t>
            </a:r>
            <a:r>
              <a:rPr lang="vi-VN" sz="2800"/>
              <a:t> Tìm tất cả khóa của Q </a:t>
            </a:r>
            <a:endParaRPr lang="en-US" sz="2800"/>
          </a:p>
          <a:p>
            <a:pPr algn="just">
              <a:lnSpc>
                <a:spcPct val="150000"/>
              </a:lnSpc>
              <a:buFontTx/>
              <a:buChar char="-"/>
            </a:pPr>
            <a:r>
              <a:rPr lang="vi-VN" sz="2800" u="sng"/>
              <a:t>Bước 2:</a:t>
            </a:r>
            <a:r>
              <a:rPr lang="vi-VN" sz="2800"/>
              <a:t>  Từ F tạo tập phụ thuộc hàm tương đương F</a:t>
            </a:r>
            <a:r>
              <a:rPr lang="vi-VN" sz="2800" baseline="-25000"/>
              <a:t>1tt</a:t>
            </a:r>
            <a:r>
              <a:rPr lang="vi-VN" sz="2800"/>
              <a:t> có vế phải là một thuộc tính </a:t>
            </a:r>
            <a:endParaRPr lang="en-US" sz="2800"/>
          </a:p>
          <a:p>
            <a:pPr algn="just">
              <a:lnSpc>
                <a:spcPct val="150000"/>
              </a:lnSpc>
              <a:buFontTx/>
              <a:buChar char="-"/>
            </a:pPr>
            <a:r>
              <a:rPr lang="vi-VN" sz="2800" u="sng"/>
              <a:t>Bước 3</a:t>
            </a:r>
            <a:r>
              <a:rPr lang="vi-VN" sz="2800"/>
              <a:t>: Nếu mọi phụ thuộc hàm X→A thuộc F</a:t>
            </a:r>
            <a:r>
              <a:rPr lang="vi-VN" sz="2800" baseline="-25000"/>
              <a:t>1tt</a:t>
            </a:r>
            <a:r>
              <a:rPr lang="vi-VN" sz="2800"/>
              <a:t> với A không thuộc X đều có X là siêu khóa hoặc A là thuộc tính khóa thì Q đạt chuẩn 3 và ngược lại</a:t>
            </a:r>
            <a:endParaRPr lang="en-US" sz="2800"/>
          </a:p>
        </p:txBody>
      </p:sp>
    </p:spTree>
    <p:extLst>
      <p:ext uri="{BB962C8B-B14F-4D97-AF65-F5344CB8AC3E}">
        <p14:creationId xmlns:p14="http://schemas.microsoft.com/office/powerpoint/2010/main" val="368813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413665" y="199187"/>
            <a:ext cx="10562533" cy="1340056"/>
          </a:xfrm>
        </p:spPr>
        <p:txBody>
          <a:bodyPr>
            <a:normAutofit/>
          </a:bodyPr>
          <a:lstStyle/>
          <a:p>
            <a:pPr>
              <a:lnSpc>
                <a:spcPct val="150000"/>
              </a:lnSpc>
            </a:pPr>
            <a:r>
              <a:rPr lang="vi-VN" sz="2800"/>
              <a:t>Ví dụ: Cho lược đồ Q(ABCD) và </a:t>
            </a:r>
            <a:r>
              <a:rPr lang="en-US" sz="2800"/>
              <a:t> </a:t>
            </a:r>
            <a:r>
              <a:rPr lang="vi-VN" sz="2800"/>
              <a:t>F = {AB → C; D→B; C→ABD}</a:t>
            </a:r>
            <a:endParaRPr lang="en-US" sz="2800" b="1"/>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1698885" y="734518"/>
            <a:ext cx="9992095" cy="734519"/>
          </a:xfrm>
        </p:spPr>
        <p:txBody>
          <a:bodyPr>
            <a:normAutofit/>
          </a:bodyPr>
          <a:lstStyle/>
          <a:p>
            <a:pPr algn="just">
              <a:lnSpc>
                <a:spcPct val="150000"/>
              </a:lnSpc>
              <a:buFontTx/>
              <a:buChar char="-"/>
            </a:pPr>
            <a:r>
              <a:rPr lang="en-US" sz="2800"/>
              <a:t>Bước 1:</a:t>
            </a:r>
          </a:p>
        </p:txBody>
      </p:sp>
      <p:pic>
        <p:nvPicPr>
          <p:cNvPr id="4" name="Picture 3">
            <a:extLst>
              <a:ext uri="{FF2B5EF4-FFF2-40B4-BE49-F238E27FC236}">
                <a16:creationId xmlns:a16="http://schemas.microsoft.com/office/drawing/2014/main" id="{442F92DF-81EB-4022-B6B8-FE1BF0686EC5}"/>
              </a:ext>
            </a:extLst>
          </p:cNvPr>
          <p:cNvPicPr>
            <a:picLocks noChangeAspect="1"/>
          </p:cNvPicPr>
          <p:nvPr/>
        </p:nvPicPr>
        <p:blipFill>
          <a:blip r:embed="rId2"/>
          <a:stretch>
            <a:fillRect/>
          </a:stretch>
        </p:blipFill>
        <p:spPr>
          <a:xfrm>
            <a:off x="1399148" y="1469037"/>
            <a:ext cx="9033469" cy="5213826"/>
          </a:xfrm>
          <a:prstGeom prst="rect">
            <a:avLst/>
          </a:prstGeom>
        </p:spPr>
      </p:pic>
    </p:spTree>
    <p:extLst>
      <p:ext uri="{BB962C8B-B14F-4D97-AF65-F5344CB8AC3E}">
        <p14:creationId xmlns:p14="http://schemas.microsoft.com/office/powerpoint/2010/main" val="82977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10562533" cy="972796"/>
          </a:xfrm>
        </p:spPr>
        <p:txBody>
          <a:bodyPr>
            <a:normAutofit/>
          </a:bodyPr>
          <a:lstStyle/>
          <a:p>
            <a:pPr>
              <a:lnSpc>
                <a:spcPct val="150000"/>
              </a:lnSpc>
            </a:pPr>
            <a:r>
              <a:rPr lang="vi-VN" sz="2800"/>
              <a:t>Ví dụ: Cho lược đồ Q(ABCD) và </a:t>
            </a:r>
            <a:r>
              <a:rPr lang="en-US" sz="2800"/>
              <a:t> </a:t>
            </a:r>
            <a:r>
              <a:rPr lang="vi-VN" sz="2800"/>
              <a:t>F = {AB → C; D→B; C→ABD}</a:t>
            </a:r>
            <a:endParaRPr lang="en-US" sz="2800" b="1"/>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816220" y="1556604"/>
            <a:ext cx="9992095" cy="3744791"/>
          </a:xfrm>
        </p:spPr>
        <p:txBody>
          <a:bodyPr>
            <a:normAutofit/>
          </a:bodyPr>
          <a:lstStyle/>
          <a:p>
            <a:pPr algn="just">
              <a:lnSpc>
                <a:spcPct val="150000"/>
              </a:lnSpc>
              <a:buFontTx/>
              <a:buChar char="-"/>
            </a:pPr>
            <a:r>
              <a:rPr lang="en-US" sz="2800"/>
              <a:t>Bước 2: F</a:t>
            </a:r>
            <a:r>
              <a:rPr lang="en-US" sz="2800" baseline="-25000"/>
              <a:t>1tt</a:t>
            </a:r>
            <a:r>
              <a:rPr lang="en-US" sz="2800"/>
              <a:t>=</a:t>
            </a:r>
            <a:r>
              <a:rPr lang="vi-VN" sz="2800"/>
              <a:t> {AB → C; D→B; C→A</a:t>
            </a:r>
            <a:r>
              <a:rPr lang="en-US" sz="2800"/>
              <a:t>; </a:t>
            </a:r>
            <a:r>
              <a:rPr lang="vi-VN" sz="2800"/>
              <a:t>C→</a:t>
            </a:r>
            <a:r>
              <a:rPr lang="en-US" sz="2800"/>
              <a:t>B; </a:t>
            </a:r>
            <a:r>
              <a:rPr lang="vi-VN" sz="2800"/>
              <a:t>C→</a:t>
            </a:r>
            <a:r>
              <a:rPr lang="en-US" sz="2800"/>
              <a:t>D</a:t>
            </a:r>
            <a:r>
              <a:rPr lang="vi-VN" sz="2800"/>
              <a:t>}</a:t>
            </a:r>
            <a:endParaRPr lang="en-US" sz="2800"/>
          </a:p>
          <a:p>
            <a:pPr algn="just">
              <a:lnSpc>
                <a:spcPct val="150000"/>
              </a:lnSpc>
              <a:buFontTx/>
              <a:buChar char="-"/>
            </a:pPr>
            <a:r>
              <a:rPr lang="en-US" sz="2800"/>
              <a:t>Bước 3: K1 = {AB}; K2 = {AD}; K3 = {C} là các khóa =&gt; mọi phụ thuộc hàm X </a:t>
            </a:r>
            <a:r>
              <a:rPr lang="vi-VN" sz="2800"/>
              <a:t>→</a:t>
            </a:r>
            <a:r>
              <a:rPr lang="en-US" sz="2800"/>
              <a:t> A đều có A là thuộc tính khóa. Vậy Q đạt chuẩn 3 </a:t>
            </a:r>
          </a:p>
        </p:txBody>
      </p:sp>
    </p:spTree>
    <p:extLst>
      <p:ext uri="{BB962C8B-B14F-4D97-AF65-F5344CB8AC3E}">
        <p14:creationId xmlns:p14="http://schemas.microsoft.com/office/powerpoint/2010/main" val="86155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10562533" cy="972796"/>
          </a:xfrm>
        </p:spPr>
        <p:txBody>
          <a:bodyPr>
            <a:normAutofit/>
          </a:bodyPr>
          <a:lstStyle/>
          <a:p>
            <a:pPr>
              <a:lnSpc>
                <a:spcPct val="150000"/>
              </a:lnSpc>
            </a:pPr>
            <a:r>
              <a:rPr lang="vi-VN" sz="3200" b="1"/>
              <a:t>2.4.1.5. Dạng chuẩn BCNF</a:t>
            </a:r>
            <a:endParaRPr lang="en-US" sz="3200" b="1"/>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786240" y="3213528"/>
            <a:ext cx="9992095" cy="2418161"/>
          </a:xfrm>
        </p:spPr>
        <p:txBody>
          <a:bodyPr>
            <a:normAutofit/>
          </a:bodyPr>
          <a:lstStyle/>
          <a:p>
            <a:pPr algn="just">
              <a:lnSpc>
                <a:spcPct val="150000"/>
              </a:lnSpc>
              <a:buFontTx/>
              <a:buChar char="-"/>
            </a:pPr>
            <a:r>
              <a:rPr lang="vi-VN" sz="2800" b="1" i="1"/>
              <a:t>Hệ quả 1: </a:t>
            </a:r>
            <a:r>
              <a:rPr lang="vi-VN" sz="2800"/>
              <a:t>Nếu Q đạt chuẩn BCNF thì Q đạt chuẩn 3 </a:t>
            </a:r>
            <a:endParaRPr lang="en-US" sz="2800"/>
          </a:p>
          <a:p>
            <a:pPr algn="just">
              <a:lnSpc>
                <a:spcPct val="150000"/>
              </a:lnSpc>
              <a:buFontTx/>
              <a:buChar char="-"/>
            </a:pPr>
            <a:r>
              <a:rPr lang="vi-VN" sz="2800" b="1" i="1"/>
              <a:t>Hệ quả 2:</a:t>
            </a:r>
            <a:r>
              <a:rPr lang="vi-VN" sz="2800"/>
              <a:t> Mỗi lược đồ có hai thuộc tính đều đạt chuẩn BCNF</a:t>
            </a:r>
            <a:endParaRPr lang="en-US" sz="2800"/>
          </a:p>
        </p:txBody>
      </p:sp>
      <p:pic>
        <p:nvPicPr>
          <p:cNvPr id="4" name="Picture 3">
            <a:extLst>
              <a:ext uri="{FF2B5EF4-FFF2-40B4-BE49-F238E27FC236}">
                <a16:creationId xmlns:a16="http://schemas.microsoft.com/office/drawing/2014/main" id="{2534E3E2-2D79-4E40-B357-59A25C3D9121}"/>
              </a:ext>
            </a:extLst>
          </p:cNvPr>
          <p:cNvPicPr>
            <a:picLocks noChangeAspect="1"/>
          </p:cNvPicPr>
          <p:nvPr/>
        </p:nvPicPr>
        <p:blipFill>
          <a:blip r:embed="rId2"/>
          <a:stretch>
            <a:fillRect/>
          </a:stretch>
        </p:blipFill>
        <p:spPr>
          <a:xfrm>
            <a:off x="494128" y="1654418"/>
            <a:ext cx="11243169" cy="1351176"/>
          </a:xfrm>
          <a:prstGeom prst="rect">
            <a:avLst/>
          </a:prstGeom>
        </p:spPr>
      </p:pic>
    </p:spTree>
    <p:extLst>
      <p:ext uri="{BB962C8B-B14F-4D97-AF65-F5344CB8AC3E}">
        <p14:creationId xmlns:p14="http://schemas.microsoft.com/office/powerpoint/2010/main" val="199789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10562533" cy="972796"/>
          </a:xfrm>
        </p:spPr>
        <p:txBody>
          <a:bodyPr>
            <a:normAutofit/>
          </a:bodyPr>
          <a:lstStyle/>
          <a:p>
            <a:pPr>
              <a:lnSpc>
                <a:spcPct val="150000"/>
              </a:lnSpc>
            </a:pPr>
            <a:r>
              <a:rPr lang="vi-VN" sz="3200" b="1"/>
              <a:t>Thuật toán kiểm tra dạng chuẩn BCNF</a:t>
            </a:r>
            <a:endParaRPr lang="en-US" sz="3200" b="1"/>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921151" y="1557979"/>
            <a:ext cx="9992095" cy="4041711"/>
          </a:xfrm>
        </p:spPr>
        <p:txBody>
          <a:bodyPr>
            <a:normAutofit/>
          </a:bodyPr>
          <a:lstStyle/>
          <a:p>
            <a:pPr algn="just">
              <a:lnSpc>
                <a:spcPct val="150000"/>
              </a:lnSpc>
              <a:buFontTx/>
              <a:buChar char="-"/>
            </a:pPr>
            <a:r>
              <a:rPr lang="vi-VN" sz="2800"/>
              <a:t>Vào: lược đồ quan hệ Q, tập phụ thuộc hàm F </a:t>
            </a:r>
            <a:endParaRPr lang="en-US" sz="2800"/>
          </a:p>
          <a:p>
            <a:pPr algn="just">
              <a:lnSpc>
                <a:spcPct val="150000"/>
              </a:lnSpc>
              <a:buFontTx/>
              <a:buChar char="-"/>
            </a:pPr>
            <a:r>
              <a:rPr lang="vi-VN" sz="2800"/>
              <a:t>Ra: Khẳng định Q có đạt chuẩn BCNF không </a:t>
            </a:r>
            <a:endParaRPr lang="en-US" sz="2800"/>
          </a:p>
          <a:p>
            <a:pPr algn="just">
              <a:lnSpc>
                <a:spcPct val="150000"/>
              </a:lnSpc>
              <a:buFontTx/>
              <a:buChar char="-"/>
            </a:pPr>
            <a:r>
              <a:rPr lang="vi-VN" sz="2800" b="1" u="sng"/>
              <a:t>Bước 1:</a:t>
            </a:r>
            <a:r>
              <a:rPr lang="vi-VN" sz="2800"/>
              <a:t> Tìm tất cả các khóa của Q </a:t>
            </a:r>
            <a:endParaRPr lang="en-US" sz="2800"/>
          </a:p>
          <a:p>
            <a:pPr algn="just">
              <a:lnSpc>
                <a:spcPct val="150000"/>
              </a:lnSpc>
              <a:buFontTx/>
              <a:buChar char="-"/>
            </a:pPr>
            <a:r>
              <a:rPr lang="vi-VN" sz="2800" b="1" u="sng"/>
              <a:t>Bước 2:</a:t>
            </a:r>
            <a:r>
              <a:rPr lang="vi-VN" sz="2800"/>
              <a:t> Từ F tạo tập phụ thuộc hàm tương đương F</a:t>
            </a:r>
            <a:r>
              <a:rPr lang="vi-VN" sz="2800" baseline="-25000"/>
              <a:t>1tt</a:t>
            </a:r>
            <a:r>
              <a:rPr lang="vi-VN" sz="2800"/>
              <a:t> có vế phải một thuộc </a:t>
            </a:r>
            <a:r>
              <a:rPr lang="en-US" sz="2800"/>
              <a:t> </a:t>
            </a:r>
            <a:r>
              <a:rPr lang="vi-VN" sz="2800"/>
              <a:t>tính</a:t>
            </a:r>
            <a:endParaRPr lang="en-US" sz="2800"/>
          </a:p>
        </p:txBody>
      </p:sp>
      <p:pic>
        <p:nvPicPr>
          <p:cNvPr id="5" name="Picture 4">
            <a:extLst>
              <a:ext uri="{FF2B5EF4-FFF2-40B4-BE49-F238E27FC236}">
                <a16:creationId xmlns:a16="http://schemas.microsoft.com/office/drawing/2014/main" id="{B5FA9D49-BB21-46B0-812A-8579F034FFA4}"/>
              </a:ext>
            </a:extLst>
          </p:cNvPr>
          <p:cNvPicPr>
            <a:picLocks noChangeAspect="1"/>
          </p:cNvPicPr>
          <p:nvPr/>
        </p:nvPicPr>
        <p:blipFill>
          <a:blip r:embed="rId2"/>
          <a:stretch>
            <a:fillRect/>
          </a:stretch>
        </p:blipFill>
        <p:spPr>
          <a:xfrm>
            <a:off x="660102" y="5156616"/>
            <a:ext cx="10871796" cy="1349115"/>
          </a:xfrm>
          <a:prstGeom prst="rect">
            <a:avLst/>
          </a:prstGeom>
        </p:spPr>
      </p:pic>
    </p:spTree>
    <p:extLst>
      <p:ext uri="{BB962C8B-B14F-4D97-AF65-F5344CB8AC3E}">
        <p14:creationId xmlns:p14="http://schemas.microsoft.com/office/powerpoint/2010/main" val="424977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9902431" cy="972796"/>
          </a:xfrm>
        </p:spPr>
        <p:txBody>
          <a:bodyPr>
            <a:normAutofit/>
          </a:bodyPr>
          <a:lstStyle/>
          <a:p>
            <a:pPr>
              <a:lnSpc>
                <a:spcPct val="150000"/>
              </a:lnSpc>
            </a:pPr>
            <a:r>
              <a:rPr lang="vi-VN" sz="3200"/>
              <a:t>Ví dụ Q = (ABCDEI) và F= {ACD → EBI; CE → AD}</a:t>
            </a:r>
            <a:endParaRPr lang="en-US" sz="3200"/>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921151" y="1557979"/>
            <a:ext cx="9992095" cy="855437"/>
          </a:xfrm>
        </p:spPr>
        <p:txBody>
          <a:bodyPr>
            <a:normAutofit/>
          </a:bodyPr>
          <a:lstStyle/>
          <a:p>
            <a:pPr algn="just">
              <a:lnSpc>
                <a:spcPct val="150000"/>
              </a:lnSpc>
              <a:buFontTx/>
              <a:buChar char="-"/>
            </a:pPr>
            <a:r>
              <a:rPr lang="vi-VN" sz="2800" b="1" u="sng"/>
              <a:t>Bước 1:</a:t>
            </a:r>
            <a:r>
              <a:rPr lang="vi-VN" sz="2800"/>
              <a:t> Tìm tất cả các khóa của Q </a:t>
            </a:r>
            <a:endParaRPr lang="en-US" sz="2800"/>
          </a:p>
        </p:txBody>
      </p:sp>
      <p:pic>
        <p:nvPicPr>
          <p:cNvPr id="4" name="Picture 3">
            <a:extLst>
              <a:ext uri="{FF2B5EF4-FFF2-40B4-BE49-F238E27FC236}">
                <a16:creationId xmlns:a16="http://schemas.microsoft.com/office/drawing/2014/main" id="{A7E42DB6-389E-43E5-B919-BF39C67FB7A5}"/>
              </a:ext>
            </a:extLst>
          </p:cNvPr>
          <p:cNvPicPr>
            <a:picLocks noChangeAspect="1"/>
          </p:cNvPicPr>
          <p:nvPr/>
        </p:nvPicPr>
        <p:blipFill>
          <a:blip r:embed="rId2"/>
          <a:stretch>
            <a:fillRect/>
          </a:stretch>
        </p:blipFill>
        <p:spPr>
          <a:xfrm>
            <a:off x="1178367" y="2609380"/>
            <a:ext cx="10498971" cy="4210893"/>
          </a:xfrm>
          <a:prstGeom prst="rect">
            <a:avLst/>
          </a:prstGeom>
        </p:spPr>
      </p:pic>
    </p:spTree>
    <p:extLst>
      <p:ext uri="{BB962C8B-B14F-4D97-AF65-F5344CB8AC3E}">
        <p14:creationId xmlns:p14="http://schemas.microsoft.com/office/powerpoint/2010/main" val="221865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9902431" cy="972796"/>
          </a:xfrm>
        </p:spPr>
        <p:txBody>
          <a:bodyPr>
            <a:normAutofit/>
          </a:bodyPr>
          <a:lstStyle/>
          <a:p>
            <a:pPr>
              <a:lnSpc>
                <a:spcPct val="150000"/>
              </a:lnSpc>
            </a:pPr>
            <a:r>
              <a:rPr lang="vi-VN" sz="3200"/>
              <a:t>Ví dụ Q = (ABCDEI) và F= {ACD → EBI; CE → AD}</a:t>
            </a:r>
            <a:endParaRPr lang="en-US" sz="3200"/>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921151" y="1557979"/>
            <a:ext cx="9992095" cy="855437"/>
          </a:xfrm>
        </p:spPr>
        <p:txBody>
          <a:bodyPr>
            <a:normAutofit/>
          </a:bodyPr>
          <a:lstStyle/>
          <a:p>
            <a:pPr algn="just">
              <a:lnSpc>
                <a:spcPct val="150000"/>
              </a:lnSpc>
              <a:buFontTx/>
              <a:buChar char="-"/>
            </a:pPr>
            <a:r>
              <a:rPr lang="vi-VN" sz="2800" b="1" u="sng"/>
              <a:t>Bước </a:t>
            </a:r>
            <a:r>
              <a:rPr lang="en-US" sz="2800" b="1" u="sng"/>
              <a:t>2</a:t>
            </a:r>
            <a:r>
              <a:rPr lang="vi-VN" sz="2800" b="1" u="sng"/>
              <a:t>:</a:t>
            </a:r>
            <a:endParaRPr lang="en-US" sz="2800"/>
          </a:p>
        </p:txBody>
      </p:sp>
      <p:pic>
        <p:nvPicPr>
          <p:cNvPr id="5" name="Picture 4">
            <a:extLst>
              <a:ext uri="{FF2B5EF4-FFF2-40B4-BE49-F238E27FC236}">
                <a16:creationId xmlns:a16="http://schemas.microsoft.com/office/drawing/2014/main" id="{B37F0042-58F8-4E81-8067-32A70FD9488C}"/>
              </a:ext>
            </a:extLst>
          </p:cNvPr>
          <p:cNvPicPr>
            <a:picLocks noChangeAspect="1"/>
          </p:cNvPicPr>
          <p:nvPr/>
        </p:nvPicPr>
        <p:blipFill>
          <a:blip r:embed="rId2"/>
          <a:stretch>
            <a:fillRect/>
          </a:stretch>
        </p:blipFill>
        <p:spPr>
          <a:xfrm>
            <a:off x="1099952" y="2143592"/>
            <a:ext cx="9992095" cy="1016599"/>
          </a:xfrm>
          <a:prstGeom prst="rect">
            <a:avLst/>
          </a:prstGeom>
        </p:spPr>
      </p:pic>
      <p:sp>
        <p:nvSpPr>
          <p:cNvPr id="6" name="Content Placeholder 2">
            <a:extLst>
              <a:ext uri="{FF2B5EF4-FFF2-40B4-BE49-F238E27FC236}">
                <a16:creationId xmlns:a16="http://schemas.microsoft.com/office/drawing/2014/main" id="{00749879-FD23-4742-AE86-6A32DB788C0D}"/>
              </a:ext>
            </a:extLst>
          </p:cNvPr>
          <p:cNvSpPr txBox="1">
            <a:spLocks/>
          </p:cNvSpPr>
          <p:nvPr/>
        </p:nvSpPr>
        <p:spPr>
          <a:xfrm>
            <a:off x="921150" y="3341809"/>
            <a:ext cx="10610748" cy="27441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Tx/>
              <a:buChar char="-"/>
            </a:pPr>
            <a:r>
              <a:rPr lang="vi-VN" sz="2800" b="1" u="sng"/>
              <a:t>Bước </a:t>
            </a:r>
            <a:r>
              <a:rPr lang="en-US" sz="2800" b="1" u="sng"/>
              <a:t>3</a:t>
            </a:r>
            <a:r>
              <a:rPr lang="vi-VN" sz="2800" b="1" u="sng"/>
              <a:t>:</a:t>
            </a:r>
            <a:r>
              <a:rPr lang="en-US" sz="2800" b="1" u="sng"/>
              <a:t> </a:t>
            </a:r>
            <a:endParaRPr lang="en-US" sz="2800"/>
          </a:p>
          <a:p>
            <a:pPr marL="0" indent="0" algn="just">
              <a:lnSpc>
                <a:spcPct val="150000"/>
              </a:lnSpc>
              <a:buNone/>
            </a:pPr>
            <a:r>
              <a:rPr lang="en-US" sz="2800"/>
              <a:t>Mọi phụ thuộc hàm của F1tt đều có vế trái là siêu khóa → Q đạt dạng chuẩn BCNF</a:t>
            </a:r>
          </a:p>
        </p:txBody>
      </p:sp>
    </p:spTree>
    <p:extLst>
      <p:ext uri="{BB962C8B-B14F-4D97-AF65-F5344CB8AC3E}">
        <p14:creationId xmlns:p14="http://schemas.microsoft.com/office/powerpoint/2010/main" val="80009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fade">
                                      <p:cBhvr>
                                        <p:cTn id="18" dur="500"/>
                                        <p:tgtEl>
                                          <p:spTgt spid="6">
                                            <p:txEl>
                                              <p:pRg st="0" end="0"/>
                                            </p:txEl>
                                          </p:spTgt>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DDE-5555-4744-804E-D0230A4CD652}"/>
              </a:ext>
            </a:extLst>
          </p:cNvPr>
          <p:cNvSpPr>
            <a:spLocks noGrp="1"/>
          </p:cNvSpPr>
          <p:nvPr>
            <p:ph type="title"/>
          </p:nvPr>
        </p:nvSpPr>
        <p:spPr>
          <a:xfrm>
            <a:off x="1629467" y="528970"/>
            <a:ext cx="9902431" cy="972796"/>
          </a:xfrm>
        </p:spPr>
        <p:txBody>
          <a:bodyPr>
            <a:normAutofit/>
          </a:bodyPr>
          <a:lstStyle/>
          <a:p>
            <a:pPr>
              <a:lnSpc>
                <a:spcPct val="150000"/>
              </a:lnSpc>
            </a:pPr>
            <a:r>
              <a:rPr lang="vi-VN" sz="3200" b="1"/>
              <a:t>* Bài toán kiểm tra W ở dạng chuẩn mấy</a:t>
            </a:r>
            <a:endParaRPr lang="en-US" sz="3200" b="1"/>
          </a:p>
        </p:txBody>
      </p:sp>
      <p:sp>
        <p:nvSpPr>
          <p:cNvPr id="3" name="Content Placeholder 2">
            <a:extLst>
              <a:ext uri="{FF2B5EF4-FFF2-40B4-BE49-F238E27FC236}">
                <a16:creationId xmlns:a16="http://schemas.microsoft.com/office/drawing/2014/main" id="{89EF2F9B-B2C0-41CE-ACA4-0F6CDB3C89EC}"/>
              </a:ext>
            </a:extLst>
          </p:cNvPr>
          <p:cNvSpPr>
            <a:spLocks noGrp="1"/>
          </p:cNvSpPr>
          <p:nvPr>
            <p:ph idx="1"/>
          </p:nvPr>
        </p:nvSpPr>
        <p:spPr>
          <a:xfrm>
            <a:off x="921151" y="1557978"/>
            <a:ext cx="9992095" cy="4771051"/>
          </a:xfrm>
        </p:spPr>
        <p:txBody>
          <a:bodyPr>
            <a:normAutofit lnSpcReduction="10000"/>
          </a:bodyPr>
          <a:lstStyle/>
          <a:p>
            <a:pPr marL="0" indent="0" algn="just">
              <a:lnSpc>
                <a:spcPct val="150000"/>
              </a:lnSpc>
              <a:buNone/>
            </a:pPr>
            <a:r>
              <a:rPr lang="vi-VN" sz="2800" b="1" u="sng"/>
              <a:t>Cách 1:</a:t>
            </a:r>
            <a:r>
              <a:rPr lang="vi-VN" sz="2800"/>
              <a:t> </a:t>
            </a:r>
            <a:endParaRPr lang="en-US" sz="2800"/>
          </a:p>
          <a:p>
            <a:pPr marL="0" indent="0" algn="just">
              <a:lnSpc>
                <a:spcPct val="150000"/>
              </a:lnSpc>
              <a:buNone/>
            </a:pPr>
            <a:r>
              <a:rPr lang="vi-VN" sz="2800"/>
              <a:t>- Khẳng định W là dạng chuẩn 1 </a:t>
            </a:r>
            <a:endParaRPr lang="en-US" sz="2800"/>
          </a:p>
          <a:p>
            <a:pPr algn="just">
              <a:lnSpc>
                <a:spcPct val="150000"/>
              </a:lnSpc>
              <a:buFontTx/>
              <a:buChar char="-"/>
            </a:pPr>
            <a:r>
              <a:rPr lang="vi-VN" sz="2800"/>
              <a:t> Kiểm tra W có là 2NF không: Nếu là 2NF thì tiếp tục kiểm tra W có là 3NF không. Nếu W không là 2NF thì kết luận là 1NF </a:t>
            </a:r>
            <a:endParaRPr lang="en-US" sz="2800"/>
          </a:p>
          <a:p>
            <a:pPr algn="just">
              <a:lnSpc>
                <a:spcPct val="150000"/>
              </a:lnSpc>
              <a:buFontTx/>
              <a:buChar char="-"/>
            </a:pPr>
            <a:r>
              <a:rPr lang="vi-VN" sz="2800"/>
              <a:t>- Kiểm tra xem W có là 3NF không... </a:t>
            </a:r>
            <a:endParaRPr lang="en-US" sz="2800"/>
          </a:p>
          <a:p>
            <a:pPr marL="0" indent="0" algn="just">
              <a:lnSpc>
                <a:spcPct val="150000"/>
              </a:lnSpc>
              <a:buNone/>
            </a:pPr>
            <a:r>
              <a:rPr lang="vi-VN" sz="2800" b="1" u="sng"/>
              <a:t>Cách 2:</a:t>
            </a:r>
            <a:r>
              <a:rPr lang="vi-VN" sz="2800"/>
              <a:t> Kiểm tra BCNF, 3NF, 2NF và kết luận</a:t>
            </a:r>
            <a:endParaRPr lang="en-US" sz="2800"/>
          </a:p>
        </p:txBody>
      </p:sp>
    </p:spTree>
    <p:extLst>
      <p:ext uri="{BB962C8B-B14F-4D97-AF65-F5344CB8AC3E}">
        <p14:creationId xmlns:p14="http://schemas.microsoft.com/office/powerpoint/2010/main" val="334411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596</TotalTime>
  <Words>1752</Words>
  <Application>Microsoft Office PowerPoint</Application>
  <PresentationFormat>Widescreen</PresentationFormat>
  <Paragraphs>116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Cambria Math</vt:lpstr>
      <vt:lpstr>Century Gothic</vt:lpstr>
      <vt:lpstr>Tahoma</vt:lpstr>
      <vt:lpstr>Wingdings 3</vt:lpstr>
      <vt:lpstr>Wisp</vt:lpstr>
      <vt:lpstr>BÀI 2.4: CHUẨN HÓA CƠ SỞ DỮ LIỆU </vt:lpstr>
      <vt:lpstr>2.4.1.1. Một số khái niệm liên quan đến dạng chuẩn </vt:lpstr>
      <vt:lpstr>PowerPoint Presentation</vt:lpstr>
      <vt:lpstr>2.4.1.2. Dạng chuẩn 1 (1NF) </vt:lpstr>
      <vt:lpstr>2.4.1.2. Dạng chuẩn 1 (1NF) </vt:lpstr>
      <vt:lpstr>2.4.1.3.Dạng Chuẩn 2 (2NF)</vt:lpstr>
      <vt:lpstr>Thuật toán kiểm tra dạng chuẩn 2</vt:lpstr>
      <vt:lpstr>Thuật toán kiểm tra dạng chuẩn 2</vt:lpstr>
      <vt:lpstr>Thuật toán kiểm tra dạng chuẩn 2</vt:lpstr>
      <vt:lpstr>Ví dụ 2: Xác định dạng chuẩn của các lược đồ quan hệ sau. </vt:lpstr>
      <vt:lpstr>Hệ quả: </vt:lpstr>
      <vt:lpstr>Ví dụ</vt:lpstr>
      <vt:lpstr>2.4.1.4. Dạng chuẩn 3 (3NF)  Phụ thuộc hàm bắc cầu </vt:lpstr>
      <vt:lpstr>VÍ DỤ</vt:lpstr>
      <vt:lpstr>Định nghĩa 1</vt:lpstr>
      <vt:lpstr>Ví dụ: Xác định dạng chuẩn của lược đồ quan hệ sau.</vt:lpstr>
      <vt:lpstr>Định nghĩa 2 </vt:lpstr>
      <vt:lpstr>Hệ quả</vt:lpstr>
      <vt:lpstr>* Thuật toán kiểm tra dạng chuẩn 3 </vt:lpstr>
      <vt:lpstr>Ví dụ: Cho lược đồ Q(ABCD) và  F = {AB → C; D→B; C→ABD}</vt:lpstr>
      <vt:lpstr>Ví dụ: Cho lược đồ Q(ABCD) và  F = {AB → C; D→B; C→ABD}</vt:lpstr>
      <vt:lpstr>2.4.1.5. Dạng chuẩn BCNF</vt:lpstr>
      <vt:lpstr>Thuật toán kiểm tra dạng chuẩn BCNF</vt:lpstr>
      <vt:lpstr>Ví dụ Q = (ABCDEI) và F= {ACD → EBI; CE → AD}</vt:lpstr>
      <vt:lpstr>Ví dụ Q = (ABCDEI) và F= {ACD → EBI; CE → AD}</vt:lpstr>
      <vt:lpstr>* Bài toán kiểm tra W ở dạng chuẩn mấy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2.4: CHUẨN HÓA CƠ SỞ DỮ LIỆU </dc:title>
  <dc:creator>ngans</dc:creator>
  <cp:lastModifiedBy>ADMIN</cp:lastModifiedBy>
  <cp:revision>31</cp:revision>
  <dcterms:created xsi:type="dcterms:W3CDTF">2020-04-18T07:43:17Z</dcterms:created>
  <dcterms:modified xsi:type="dcterms:W3CDTF">2021-06-08T09:57:17Z</dcterms:modified>
</cp:coreProperties>
</file>