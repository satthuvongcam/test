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80" r:id="rId13"/>
    <p:sldId id="279" r:id="rId14"/>
    <p:sldId id="282" r:id="rId15"/>
    <p:sldId id="283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85" r:id="rId24"/>
    <p:sldId id="286" r:id="rId25"/>
    <p:sldId id="287" r:id="rId26"/>
    <p:sldId id="288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08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4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20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36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5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76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6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83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65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90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46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42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068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573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852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0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43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FC58-E481-4311-892B-3625D2557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6727" y="1523998"/>
            <a:ext cx="9213273" cy="2105891"/>
          </a:xfrm>
        </p:spPr>
        <p:txBody>
          <a:bodyPr>
            <a:normAutofit/>
          </a:bodyPr>
          <a:lstStyle/>
          <a:p>
            <a:r>
              <a:rPr lang="vi-VN" b="1" dirty="0"/>
              <a:t>2.4.2. Phép phân rã các lược đồ quan hệ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0695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AB02-5392-46E0-AEC6-5252C424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212273"/>
          </a:xfrm>
        </p:spPr>
        <p:txBody>
          <a:bodyPr/>
          <a:lstStyle/>
          <a:p>
            <a:r>
              <a:rPr lang="vi-VN" dirty="0"/>
              <a:t>2.4.2.1. Định nghĩa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67DF02-7928-4F26-9ED8-A7096814C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0" y="1045086"/>
            <a:ext cx="10439235" cy="17378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A6D175-E89A-473E-95BA-1CB11FD89753}"/>
              </a:ext>
            </a:extLst>
          </p:cNvPr>
          <p:cNvSpPr/>
          <p:nvPr/>
        </p:nvSpPr>
        <p:spPr>
          <a:xfrm>
            <a:off x="1151801" y="2998883"/>
            <a:ext cx="7937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/>
              <a:t>Ví dụ: Cho quan hệ R với các phụ thuộc hàm như sau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E53E30-38D2-421E-926C-E49FEFD2C69B}"/>
              </a:ext>
            </a:extLst>
          </p:cNvPr>
          <p:cNvSpPr/>
          <p:nvPr/>
        </p:nvSpPr>
        <p:spPr>
          <a:xfrm>
            <a:off x="2215500" y="4353100"/>
            <a:ext cx="9419303" cy="1964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/>
              <a:t>Ta </a:t>
            </a:r>
            <a:r>
              <a:rPr lang="en-US" sz="2800" i="1" dirty="0" err="1"/>
              <a:t>có</a:t>
            </a:r>
            <a:r>
              <a:rPr lang="en-US" sz="2800" i="1" dirty="0"/>
              <a:t> </a:t>
            </a:r>
            <a:r>
              <a:rPr lang="en-US" sz="2800" i="1" dirty="0" err="1"/>
              <a:t>thể</a:t>
            </a:r>
            <a:r>
              <a:rPr lang="en-US" sz="2800" i="1" dirty="0"/>
              <a:t> </a:t>
            </a:r>
            <a:r>
              <a:rPr lang="en-US" sz="2800" i="1" dirty="0" err="1"/>
              <a:t>phân</a:t>
            </a:r>
            <a:r>
              <a:rPr lang="en-US" sz="2800" i="1" dirty="0"/>
              <a:t> </a:t>
            </a:r>
            <a:r>
              <a:rPr lang="en-US" sz="2800" i="1" dirty="0" err="1"/>
              <a:t>rã</a:t>
            </a:r>
            <a:r>
              <a:rPr lang="en-US" sz="2800" i="1" dirty="0"/>
              <a:t> </a:t>
            </a:r>
            <a:r>
              <a:rPr lang="en-US" sz="2800" i="1" dirty="0" err="1"/>
              <a:t>thành</a:t>
            </a:r>
            <a:r>
              <a:rPr lang="en-US" sz="2800" i="1" dirty="0"/>
              <a:t> 3 </a:t>
            </a:r>
            <a:r>
              <a:rPr lang="en-US" sz="2800" i="1" dirty="0" err="1"/>
              <a:t>lược</a:t>
            </a:r>
            <a:r>
              <a:rPr lang="en-US" sz="2800" i="1" dirty="0"/>
              <a:t>  </a:t>
            </a:r>
            <a:r>
              <a:rPr lang="en-US" sz="2800" i="1" dirty="0" err="1"/>
              <a:t>đồ</a:t>
            </a:r>
            <a:r>
              <a:rPr lang="en-US" sz="2800" i="1" dirty="0"/>
              <a:t> 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R1(</a:t>
            </a:r>
            <a:r>
              <a:rPr lang="en-US" sz="2800" dirty="0" err="1"/>
              <a:t>MaSV</a:t>
            </a:r>
            <a:r>
              <a:rPr lang="en-US" sz="2800" dirty="0"/>
              <a:t>, </a:t>
            </a:r>
            <a:r>
              <a:rPr lang="en-US" sz="2800" dirty="0" err="1"/>
              <a:t>TenSV</a:t>
            </a:r>
            <a:r>
              <a:rPr lang="en-US" sz="2800" dirty="0"/>
              <a:t>, Lop) </a:t>
            </a:r>
            <a:r>
              <a:rPr lang="en-US" sz="2800" dirty="0" err="1"/>
              <a:t>và</a:t>
            </a:r>
            <a:r>
              <a:rPr lang="en-US" sz="2800" dirty="0"/>
              <a:t>   R2(</a:t>
            </a:r>
            <a:r>
              <a:rPr lang="en-US" sz="2800" dirty="0" err="1"/>
              <a:t>MaMH,TenMH</a:t>
            </a:r>
            <a:r>
              <a:rPr lang="en-US" sz="2800" dirty="0"/>
              <a:t>, ĐVHT) </a:t>
            </a:r>
            <a:r>
              <a:rPr lang="en-US" sz="2800" dirty="0" err="1"/>
              <a:t>và</a:t>
            </a:r>
            <a:r>
              <a:rPr lang="en-US" sz="2800" dirty="0"/>
              <a:t> 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R3(</a:t>
            </a:r>
            <a:r>
              <a:rPr lang="en-US" sz="2800" dirty="0" err="1"/>
              <a:t>MaSV</a:t>
            </a:r>
            <a:r>
              <a:rPr lang="en-US" sz="2800" dirty="0"/>
              <a:t>, </a:t>
            </a:r>
            <a:r>
              <a:rPr lang="en-US" sz="2800" dirty="0" err="1"/>
              <a:t>MaMH</a:t>
            </a:r>
            <a:r>
              <a:rPr lang="en-US" sz="28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27817-D452-45E2-81AB-06FF27241F70}"/>
              </a:ext>
            </a:extLst>
          </p:cNvPr>
          <p:cNvSpPr txBox="1"/>
          <p:nvPr/>
        </p:nvSpPr>
        <p:spPr>
          <a:xfrm>
            <a:off x="1014730" y="3522103"/>
            <a:ext cx="10439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F={</a:t>
            </a:r>
            <a:r>
              <a:rPr lang="en-GB" sz="2400" dirty="0" err="1"/>
              <a:t>MaSV</a:t>
            </a:r>
            <a:r>
              <a:rPr lang="en-GB" sz="2400" dirty="0"/>
              <a:t>-&gt;</a:t>
            </a:r>
            <a:r>
              <a:rPr lang="en-GB" sz="2400" dirty="0" err="1"/>
              <a:t>TenSV,Lop</a:t>
            </a:r>
            <a:r>
              <a:rPr lang="en-GB" sz="2400" dirty="0"/>
              <a:t>; </a:t>
            </a:r>
            <a:r>
              <a:rPr lang="en-GB" sz="2400" dirty="0" err="1"/>
              <a:t>MaMH</a:t>
            </a:r>
            <a:r>
              <a:rPr lang="en-GB" sz="2400" dirty="0"/>
              <a:t>-&gt;</a:t>
            </a:r>
            <a:r>
              <a:rPr lang="en-GB" sz="2400" dirty="0" err="1"/>
              <a:t>TenMH</a:t>
            </a:r>
            <a:r>
              <a:rPr lang="en-GB" sz="2400" dirty="0"/>
              <a:t>, DVHT; </a:t>
            </a:r>
            <a:r>
              <a:rPr lang="en-GB" sz="2400" dirty="0" err="1"/>
              <a:t>MaSV,MaMH</a:t>
            </a:r>
            <a:r>
              <a:rPr lang="en-GB" sz="2400" dirty="0"/>
              <a:t>-&gt; </a:t>
            </a:r>
            <a:r>
              <a:rPr lang="en-GB" sz="2400" dirty="0" err="1"/>
              <a:t>TenMH</a:t>
            </a:r>
            <a:r>
              <a:rPr lang="en-GB" sz="2400" dirty="0"/>
              <a:t>, DVHT, </a:t>
            </a:r>
            <a:r>
              <a:rPr lang="en-GB" sz="2400" dirty="0" err="1"/>
              <a:t>TenSV,Lop</a:t>
            </a:r>
            <a:r>
              <a:rPr lang="en-GB" sz="2400"/>
              <a:t> 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187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0"/>
            <a:ext cx="8619060" cy="1752599"/>
          </a:xfrm>
        </p:spPr>
        <p:txBody>
          <a:bodyPr/>
          <a:lstStyle/>
          <a:p>
            <a:r>
              <a:rPr lang="en-US" b="1" dirty="0"/>
              <a:t>2.4.2.2.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rã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mất</a:t>
            </a:r>
            <a:r>
              <a:rPr lang="en-US" b="1" dirty="0"/>
              <a:t> </a:t>
            </a:r>
            <a:r>
              <a:rPr lang="en-US" b="1" dirty="0" err="1"/>
              <a:t>mát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119" y="1866899"/>
            <a:ext cx="10018713" cy="3124201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vi-VN" sz="2800"/>
              <a:t>Cho R là một lược đồ quan hệ, phép rã </a:t>
            </a:r>
            <a:r>
              <a:rPr lang="el-GR" sz="2800"/>
              <a:t>ρ=(</a:t>
            </a:r>
            <a:r>
              <a:rPr lang="vi-VN" sz="2800"/>
              <a:t>R1,R2, . . .,Rn) và D là tập các phụ thuộc dữ liệu. Phép phân rã </a:t>
            </a:r>
            <a:r>
              <a:rPr lang="el-GR" sz="2800"/>
              <a:t>ρ </a:t>
            </a:r>
            <a:r>
              <a:rPr lang="vi-VN" sz="2800"/>
              <a:t>không mất mát thông tin nếu khi thực hiện phép toán kết nối tự nhiên các quan hệ thành phần R1,R2, . . .,Rn ta vẫn nhận được kết quả của quan hệ ban đầu.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122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0"/>
            <a:ext cx="8619060" cy="1752599"/>
          </a:xfrm>
        </p:spPr>
        <p:txBody>
          <a:bodyPr/>
          <a:lstStyle/>
          <a:p>
            <a:r>
              <a:rPr lang="en-US" b="1"/>
              <a:t>Ví dụ về một phép phân rã có mất mát thông tin: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117" y="1584610"/>
            <a:ext cx="10018713" cy="82088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vi-VN" sz="2800"/>
              <a:t>Cho quan hệ: 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29373-C77C-434F-83CF-53ABCB5DB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03" y="2615603"/>
            <a:ext cx="9554139" cy="203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1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0"/>
            <a:ext cx="8619060" cy="1752599"/>
          </a:xfrm>
        </p:spPr>
        <p:txBody>
          <a:bodyPr/>
          <a:lstStyle/>
          <a:p>
            <a:r>
              <a:rPr lang="en-US" b="1"/>
              <a:t>Ví dụ về một phép phân rã có mất mát thông tin: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553" y="1806283"/>
            <a:ext cx="10018713" cy="122786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30000"/>
              </a:lnSpc>
            </a:pPr>
            <a:r>
              <a:rPr lang="vi-VN" sz="2800"/>
              <a:t>Nếu ta phân rã quan hệ trên thành 2 quan hệ:  </a:t>
            </a:r>
            <a:endParaRPr lang="en-US" sz="2800"/>
          </a:p>
          <a:p>
            <a:pPr marL="0" indent="0" algn="just">
              <a:lnSpc>
                <a:spcPct val="130000"/>
              </a:lnSpc>
              <a:buNone/>
            </a:pPr>
            <a:r>
              <a:rPr lang="vi-VN" sz="2800"/>
              <a:t>R1(MaSV, MaMH) và  R2(MaMH, Điem) như sau: 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237B0-70D2-412E-9E74-D6CFDC46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73" y="3337211"/>
            <a:ext cx="9483393" cy="262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0"/>
            <a:ext cx="8619060" cy="1752599"/>
          </a:xfrm>
        </p:spPr>
        <p:txBody>
          <a:bodyPr/>
          <a:lstStyle/>
          <a:p>
            <a:r>
              <a:rPr lang="en-US" b="1"/>
              <a:t>Ví dụ về một phép phân rã có mất mát thông tin: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553" y="1806283"/>
            <a:ext cx="10018713" cy="122786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vi-VN" sz="2800"/>
              <a:t>Thực hiện phép kết nối tự nhiên 2 quan hệ R1 và R2: </a:t>
            </a:r>
          </a:p>
          <a:p>
            <a:pPr marL="0" indent="0" algn="just">
              <a:lnSpc>
                <a:spcPct val="130000"/>
              </a:lnSpc>
              <a:buNone/>
            </a:pP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CC90B-5D60-458F-8F31-17101059F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46" y="2420214"/>
            <a:ext cx="9324376" cy="424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7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0"/>
            <a:ext cx="8619060" cy="1752599"/>
          </a:xfrm>
        </p:spPr>
        <p:txBody>
          <a:bodyPr/>
          <a:lstStyle/>
          <a:p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rã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mất</a:t>
            </a:r>
            <a:r>
              <a:rPr lang="en-US" b="1" dirty="0"/>
              <a:t> </a:t>
            </a:r>
            <a:r>
              <a:rPr lang="en-US" b="1" dirty="0" err="1"/>
              <a:t>mát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không</a:t>
            </a:r>
            <a:r>
              <a:rPr lang="en-US" b="1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553" y="1806283"/>
            <a:ext cx="10018713" cy="4040335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vi-VN" sz="2800" dirty="0"/>
              <a:t>Input:  </a:t>
            </a:r>
            <a:endParaRPr lang="en-US" sz="28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vi-VN" sz="2800" dirty="0"/>
              <a:t>- Lược đồ quan hệ R={A1, A2, . . . , An}  </a:t>
            </a:r>
            <a:endParaRPr lang="en-US" sz="28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vi-VN" sz="2800" dirty="0"/>
              <a:t>- Tập các phụ thuộc hàm F   </a:t>
            </a:r>
            <a:endParaRPr lang="en-US" sz="28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vi-VN" sz="2800" dirty="0"/>
              <a:t>- Phép tách </a:t>
            </a:r>
            <a:r>
              <a:rPr lang="el-GR" sz="2800" dirty="0"/>
              <a:t>ρ(</a:t>
            </a:r>
            <a:r>
              <a:rPr lang="vi-VN" sz="2800" dirty="0"/>
              <a:t>R1, R2, . . . , Rk) </a:t>
            </a:r>
            <a:endParaRPr lang="en-US" sz="2800" dirty="0"/>
          </a:p>
          <a:p>
            <a:pPr algn="just">
              <a:lnSpc>
                <a:spcPct val="130000"/>
              </a:lnSpc>
            </a:pPr>
            <a:r>
              <a:rPr lang="vi-VN" sz="2800" dirty="0"/>
              <a:t>Output: Kết luận phép tách </a:t>
            </a:r>
            <a:r>
              <a:rPr lang="el-GR" sz="2800" dirty="0"/>
              <a:t>ρ </a:t>
            </a:r>
            <a:r>
              <a:rPr lang="en-GB" sz="2800" dirty="0" err="1"/>
              <a:t>có</a:t>
            </a:r>
            <a:r>
              <a:rPr lang="en-GB" sz="2800" dirty="0"/>
              <a:t> </a:t>
            </a:r>
            <a:r>
              <a:rPr lang="en-GB" sz="2800" dirty="0" err="1"/>
              <a:t>mất</a:t>
            </a:r>
            <a:r>
              <a:rPr lang="en-GB" sz="2800" dirty="0"/>
              <a:t> </a:t>
            </a:r>
            <a:r>
              <a:rPr lang="en-GB" sz="2800" dirty="0" err="1"/>
              <a:t>mát</a:t>
            </a:r>
            <a:r>
              <a:rPr lang="en-GB" sz="2800" dirty="0"/>
              <a:t> </a:t>
            </a:r>
            <a:r>
              <a:rPr lang="en-GB" sz="2800" dirty="0" err="1"/>
              <a:t>thông</a:t>
            </a:r>
            <a:r>
              <a:rPr lang="en-GB" sz="2800" dirty="0"/>
              <a:t> tin hay </a:t>
            </a:r>
            <a:r>
              <a:rPr lang="en-GB" sz="2800" dirty="0" err="1"/>
              <a:t>không</a:t>
            </a:r>
            <a:r>
              <a:rPr lang="en-GB" sz="2800" dirty="0"/>
              <a:t> </a:t>
            </a:r>
            <a:r>
              <a:rPr lang="en-GB" sz="2800" dirty="0" err="1"/>
              <a:t>mất</a:t>
            </a:r>
            <a:r>
              <a:rPr lang="en-GB" sz="2800" dirty="0"/>
              <a:t> </a:t>
            </a:r>
            <a:r>
              <a:rPr lang="en-GB" sz="2800" dirty="0" err="1"/>
              <a:t>mát</a:t>
            </a:r>
            <a:r>
              <a:rPr lang="en-GB" sz="2800" dirty="0"/>
              <a:t> </a:t>
            </a:r>
            <a:r>
              <a:rPr lang="en-GB" sz="2800" dirty="0" err="1"/>
              <a:t>thông</a:t>
            </a:r>
            <a:r>
              <a:rPr lang="en-GB" sz="2800" dirty="0"/>
              <a:t> tin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521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1"/>
            <a:ext cx="8619060" cy="973282"/>
          </a:xfrm>
        </p:spPr>
        <p:txBody>
          <a:bodyPr/>
          <a:lstStyle/>
          <a:p>
            <a:r>
              <a:rPr lang="vi-VN" b="1"/>
              <a:t>Các bước của thuật toán: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353" y="1163784"/>
            <a:ext cx="10018713" cy="973282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vi-VN" sz="2800" u="sng"/>
              <a:t>Bước 1:</a:t>
            </a:r>
            <a:endParaRPr lang="en-US" sz="2800" u="sn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13974-4DDA-4CDA-AD2C-CA78C9BF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45" y="2537866"/>
            <a:ext cx="10219821" cy="158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1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1"/>
            <a:ext cx="8619060" cy="973282"/>
          </a:xfrm>
        </p:spPr>
        <p:txBody>
          <a:bodyPr/>
          <a:lstStyle/>
          <a:p>
            <a:r>
              <a:rPr lang="vi-VN" b="1"/>
              <a:t>Các bước của thuật toán: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5640-F4FF-4BE1-B2DE-02A291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353" y="1163783"/>
            <a:ext cx="10018713" cy="82404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vi-VN" sz="2800" u="sng"/>
              <a:t>Bước 2</a:t>
            </a:r>
            <a:r>
              <a:rPr lang="en-US" sz="2800" u="sng"/>
              <a:t>: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72100-0D5C-469D-9D95-745630D4B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58" y="2137065"/>
            <a:ext cx="10068403" cy="397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5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3FD7-537B-429D-B611-6BF9B469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946" y="190501"/>
            <a:ext cx="8619060" cy="973282"/>
          </a:xfrm>
        </p:spPr>
        <p:txBody>
          <a:bodyPr/>
          <a:lstStyle/>
          <a:p>
            <a:r>
              <a:rPr lang="vi-VN" b="1"/>
              <a:t>Các bước của thuật toán: </a:t>
            </a:r>
            <a:endParaRPr lang="en-US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6F242-C50B-4315-BCE0-BFA2FFF6C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539" y="1255061"/>
            <a:ext cx="9949668" cy="2011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BB2CBF-0F61-4805-BF4F-E1870012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840" y="4194879"/>
            <a:ext cx="10599070" cy="18746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73B675-2B9B-4FC0-B70B-DE331B6C8303}"/>
              </a:ext>
            </a:extLst>
          </p:cNvPr>
          <p:cNvSpPr/>
          <p:nvPr/>
        </p:nvSpPr>
        <p:spPr>
          <a:xfrm>
            <a:off x="1228785" y="3492267"/>
            <a:ext cx="16203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u="sng" dirty="0">
                <a:cs typeface="Times New Roman" panose="02020603050405020304" pitchFamily="18" charset="0"/>
              </a:rPr>
              <a:t>Bước </a:t>
            </a:r>
            <a:r>
              <a:rPr lang="en-US" sz="2800" u="sng" dirty="0">
                <a:cs typeface="Times New Roman" panose="02020603050405020304" pitchFamily="18" charset="0"/>
              </a:rPr>
              <a:t>3: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751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760275-ED58-402C-A4F3-9285623BEAFB}"/>
              </a:ext>
            </a:extLst>
          </p:cNvPr>
          <p:cNvSpPr txBox="1"/>
          <p:nvPr/>
        </p:nvSpPr>
        <p:spPr>
          <a:xfrm>
            <a:off x="5062329" y="344556"/>
            <a:ext cx="221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67A176-4635-452F-8C76-300E8D968B57}"/>
              </a:ext>
            </a:extLst>
          </p:cNvPr>
          <p:cNvSpPr/>
          <p:nvPr/>
        </p:nvSpPr>
        <p:spPr>
          <a:xfrm>
            <a:off x="2014328" y="1297560"/>
            <a:ext cx="8799445" cy="26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Với</a:t>
            </a:r>
            <a:r>
              <a:rPr lang="en-US" sz="2800" dirty="0"/>
              <a:t> Q(SNAIP) 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Q1 = (SNA),Q2 =(SIP)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 = {S→NA, SI→P}   </a:t>
            </a:r>
            <a:r>
              <a:rPr lang="en-US" sz="2800" dirty="0" err="1"/>
              <a:t>Kiểm</a:t>
            </a:r>
            <a:r>
              <a:rPr lang="en-US" sz="2800" dirty="0"/>
              <a:t> </a:t>
            </a:r>
            <a:r>
              <a:rPr lang="en-US" sz="2800" dirty="0" err="1"/>
              <a:t>tra</a:t>
            </a:r>
            <a:r>
              <a:rPr lang="en-US" sz="2800" dirty="0"/>
              <a:t> </a:t>
            </a:r>
            <a:r>
              <a:rPr lang="en-US" sz="2800" dirty="0" err="1"/>
              <a:t>tính</a:t>
            </a:r>
            <a:r>
              <a:rPr lang="en-US" sz="2800" dirty="0"/>
              <a:t> </a:t>
            </a:r>
            <a:r>
              <a:rPr lang="en-US" sz="2800" dirty="0" err="1"/>
              <a:t>bảo</a:t>
            </a:r>
            <a:r>
              <a:rPr lang="en-US" sz="2800" dirty="0"/>
              <a:t> </a:t>
            </a:r>
            <a:r>
              <a:rPr lang="en-US" sz="2800" dirty="0" err="1"/>
              <a:t>toàn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của</a:t>
            </a:r>
            <a:r>
              <a:rPr lang="en-US" sz="2800" dirty="0"/>
              <a:t> </a:t>
            </a:r>
            <a:r>
              <a:rPr lang="en-US" sz="2800" dirty="0" err="1"/>
              <a:t>phép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rã Q </a:t>
            </a:r>
            <a:r>
              <a:rPr lang="en-US" sz="2800" dirty="0" err="1"/>
              <a:t>thành</a:t>
            </a:r>
            <a:r>
              <a:rPr lang="en-US" sz="2800" dirty="0"/>
              <a:t> Q1, Q2</a:t>
            </a:r>
          </a:p>
        </p:txBody>
      </p:sp>
    </p:spTree>
    <p:extLst>
      <p:ext uri="{BB962C8B-B14F-4D97-AF65-F5344CB8AC3E}">
        <p14:creationId xmlns:p14="http://schemas.microsoft.com/office/powerpoint/2010/main" val="134217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760275-ED58-402C-A4F3-9285623BEAFB}"/>
              </a:ext>
            </a:extLst>
          </p:cNvPr>
          <p:cNvSpPr txBox="1"/>
          <p:nvPr/>
        </p:nvSpPr>
        <p:spPr>
          <a:xfrm>
            <a:off x="5062329" y="344556"/>
            <a:ext cx="221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5E2DA-932C-44CF-BA5B-979554561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78" y="1164327"/>
            <a:ext cx="7566992" cy="22646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036410-9DFD-421B-8A6B-C2BC43E97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479" y="4143405"/>
            <a:ext cx="7566991" cy="23700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8CB262-E884-490A-908C-3DE8C3AF1F28}"/>
              </a:ext>
            </a:extLst>
          </p:cNvPr>
          <p:cNvSpPr/>
          <p:nvPr/>
        </p:nvSpPr>
        <p:spPr>
          <a:xfrm>
            <a:off x="1099427" y="4435784"/>
            <a:ext cx="12202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/>
              <a:t>S→NA</a:t>
            </a:r>
          </a:p>
        </p:txBody>
      </p:sp>
    </p:spTree>
    <p:extLst>
      <p:ext uri="{BB962C8B-B14F-4D97-AF65-F5344CB8AC3E}">
        <p14:creationId xmlns:p14="http://schemas.microsoft.com/office/powerpoint/2010/main" val="167436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760275-ED58-402C-A4F3-9285623BEAFB}"/>
              </a:ext>
            </a:extLst>
          </p:cNvPr>
          <p:cNvSpPr txBox="1"/>
          <p:nvPr/>
        </p:nvSpPr>
        <p:spPr>
          <a:xfrm>
            <a:off x="5062329" y="344556"/>
            <a:ext cx="221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67A176-4635-452F-8C76-300E8D968B57}"/>
              </a:ext>
            </a:extLst>
          </p:cNvPr>
          <p:cNvSpPr/>
          <p:nvPr/>
        </p:nvSpPr>
        <p:spPr>
          <a:xfrm>
            <a:off x="2014328" y="1297560"/>
            <a:ext cx="8799445" cy="325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Với</a:t>
            </a:r>
            <a:r>
              <a:rPr lang="en-US" sz="2800" dirty="0"/>
              <a:t> Q(ABCDE) 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Q1 = (AD),Q2 =(AB), Q3 =(BE), Q4 =(CDE), Q5 =(AE)  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 = {A→C,B→C,A→D,DE→C,CE→A}   </a:t>
            </a:r>
            <a:r>
              <a:rPr lang="en-US" sz="2800" dirty="0" err="1"/>
              <a:t>Kiểm</a:t>
            </a:r>
            <a:r>
              <a:rPr lang="en-US" sz="2800" dirty="0"/>
              <a:t> </a:t>
            </a:r>
            <a:r>
              <a:rPr lang="en-US" sz="2800" dirty="0" err="1"/>
              <a:t>tra</a:t>
            </a:r>
            <a:r>
              <a:rPr lang="en-US" sz="2800" dirty="0"/>
              <a:t> </a:t>
            </a:r>
            <a:r>
              <a:rPr lang="en-US" sz="2800" dirty="0" err="1"/>
              <a:t>tính</a:t>
            </a:r>
            <a:r>
              <a:rPr lang="en-US" sz="2800" dirty="0"/>
              <a:t> </a:t>
            </a:r>
            <a:r>
              <a:rPr lang="en-US" sz="2800" dirty="0" err="1"/>
              <a:t>bảo</a:t>
            </a:r>
            <a:r>
              <a:rPr lang="en-US" sz="2800" dirty="0"/>
              <a:t> </a:t>
            </a:r>
            <a:r>
              <a:rPr lang="en-US" sz="2800" dirty="0" err="1"/>
              <a:t>toàn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của</a:t>
            </a:r>
            <a:r>
              <a:rPr lang="en-US" sz="2800" dirty="0"/>
              <a:t> </a:t>
            </a:r>
            <a:r>
              <a:rPr lang="en-US" sz="2800" dirty="0" err="1"/>
              <a:t>phép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rã Q </a:t>
            </a:r>
            <a:r>
              <a:rPr lang="en-US" sz="2800" dirty="0" err="1"/>
              <a:t>thành</a:t>
            </a:r>
            <a:r>
              <a:rPr lang="en-US" sz="2800" dirty="0"/>
              <a:t> Q1, Q2, Q3, Q4, Q5</a:t>
            </a:r>
          </a:p>
        </p:txBody>
      </p:sp>
    </p:spTree>
    <p:extLst>
      <p:ext uri="{BB962C8B-B14F-4D97-AF65-F5344CB8AC3E}">
        <p14:creationId xmlns:p14="http://schemas.microsoft.com/office/powerpoint/2010/main" val="59755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6A63D-9F14-48C7-B3B4-772A0FD9C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61" y="982751"/>
            <a:ext cx="8564473" cy="491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5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54E4B1-E1B1-45EC-A2C6-C5B230517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2" y="1075586"/>
            <a:ext cx="9144951" cy="47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73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C1AC8C-6B8B-4316-98A7-67186E94F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144" y="447261"/>
            <a:ext cx="9645992" cy="59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53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E46A64-DAC8-4AC2-B7B5-B66AF5C10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80" y="659317"/>
            <a:ext cx="9580081" cy="553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15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8099EE-63F0-4401-8273-765985D3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29" y="778980"/>
            <a:ext cx="10204175" cy="530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49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FFBA09-B075-478F-97C8-96641A37A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44" y="469210"/>
            <a:ext cx="9880326" cy="550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72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3FC6A1-534F-4146-BD85-5D1E89A42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26" y="167467"/>
            <a:ext cx="9462052" cy="60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94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20DBF5-00B5-43EE-9B5A-F284B3CA1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41" y="172759"/>
            <a:ext cx="9436376" cy="612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6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AFA-E503-46C5-B3A6-C32B00B5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32" y="-2"/>
            <a:ext cx="10018713" cy="1752599"/>
          </a:xfrm>
        </p:spPr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3: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AE71-EFF1-4D5A-86AD-B4EBE3F0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732" y="1083293"/>
            <a:ext cx="10018713" cy="3124201"/>
          </a:xfrm>
        </p:spPr>
        <p:txBody>
          <a:bodyPr/>
          <a:lstStyle/>
          <a:p>
            <a:r>
              <a:rPr lang="en-US" dirty="0"/>
              <a:t>R(</a:t>
            </a:r>
            <a:r>
              <a:rPr lang="en-US" dirty="0" err="1"/>
              <a:t>MaSV</a:t>
            </a:r>
            <a:r>
              <a:rPr lang="en-US" dirty="0"/>
              <a:t>(A1), </a:t>
            </a:r>
            <a:r>
              <a:rPr lang="en-US" dirty="0" err="1"/>
              <a:t>Hoten</a:t>
            </a:r>
            <a:r>
              <a:rPr lang="en-US" dirty="0"/>
              <a:t>(A2), </a:t>
            </a:r>
            <a:r>
              <a:rPr lang="en-US" dirty="0" err="1"/>
              <a:t>Malop</a:t>
            </a:r>
            <a:r>
              <a:rPr lang="en-US" dirty="0"/>
              <a:t>(A3), </a:t>
            </a:r>
            <a:r>
              <a:rPr lang="en-US" dirty="0" err="1"/>
              <a:t>Quanso</a:t>
            </a:r>
            <a:r>
              <a:rPr lang="en-US" dirty="0"/>
              <a:t>(A4), </a:t>
            </a:r>
            <a:r>
              <a:rPr lang="en-US" dirty="0" err="1"/>
              <a:t>Tenlop</a:t>
            </a:r>
            <a:r>
              <a:rPr lang="en-US" dirty="0"/>
              <a:t>(A5)) </a:t>
            </a:r>
          </a:p>
          <a:p>
            <a:r>
              <a:rPr lang="en-US" dirty="0"/>
              <a:t>R1(</a:t>
            </a:r>
            <a:r>
              <a:rPr lang="en-US" dirty="0" err="1"/>
              <a:t>MaSV</a:t>
            </a:r>
            <a:r>
              <a:rPr lang="en-US" dirty="0"/>
              <a:t>,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) </a:t>
            </a:r>
          </a:p>
          <a:p>
            <a:r>
              <a:rPr lang="en-US" dirty="0"/>
              <a:t>R2(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Quanso</a:t>
            </a:r>
            <a:r>
              <a:rPr lang="en-US" dirty="0"/>
              <a:t>, </a:t>
            </a:r>
            <a:r>
              <a:rPr lang="en-US" dirty="0" err="1"/>
              <a:t>Tenlop</a:t>
            </a:r>
            <a:r>
              <a:rPr lang="en-US" dirty="0"/>
              <a:t>) </a:t>
            </a:r>
          </a:p>
          <a:p>
            <a:r>
              <a:rPr lang="en-US" dirty="0"/>
              <a:t>F = {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 → </a:t>
            </a:r>
            <a:r>
              <a:rPr lang="en-US" dirty="0" err="1"/>
              <a:t>Tenlop</a:t>
            </a:r>
            <a:r>
              <a:rPr lang="en-US" dirty="0"/>
              <a:t>, </a:t>
            </a:r>
            <a:r>
              <a:rPr lang="en-US" dirty="0" err="1"/>
              <a:t>Malop→Quanso</a:t>
            </a:r>
            <a:r>
              <a:rPr lang="en-US" dirty="0"/>
              <a:t>}</a:t>
            </a:r>
          </a:p>
          <a:p>
            <a:r>
              <a:rPr lang="en-US" dirty="0"/>
              <a:t>={ A1-&gt;A2; A1-&gt;A3; A3-&gt;A5; A3-&gt;A4}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DFC398-2B18-4058-BCAF-F70F71511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705580"/>
              </p:ext>
            </p:extLst>
          </p:nvPr>
        </p:nvGraphicFramePr>
        <p:xfrm>
          <a:off x="1119116" y="4207494"/>
          <a:ext cx="90954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236">
                  <a:extLst>
                    <a:ext uri="{9D8B030D-6E8A-4147-A177-3AD203B41FA5}">
                      <a16:colId xmlns:a16="http://schemas.microsoft.com/office/drawing/2014/main" val="2743227438"/>
                    </a:ext>
                  </a:extLst>
                </a:gridCol>
                <a:gridCol w="1378424">
                  <a:extLst>
                    <a:ext uri="{9D8B030D-6E8A-4147-A177-3AD203B41FA5}">
                      <a16:colId xmlns:a16="http://schemas.microsoft.com/office/drawing/2014/main" val="81840474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523532190"/>
                    </a:ext>
                  </a:extLst>
                </a:gridCol>
                <a:gridCol w="1037230">
                  <a:extLst>
                    <a:ext uri="{9D8B030D-6E8A-4147-A177-3AD203B41FA5}">
                      <a16:colId xmlns:a16="http://schemas.microsoft.com/office/drawing/2014/main" val="2634297845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1847446175"/>
                    </a:ext>
                  </a:extLst>
                </a:gridCol>
                <a:gridCol w="1138833">
                  <a:extLst>
                    <a:ext uri="{9D8B030D-6E8A-4147-A177-3AD203B41FA5}">
                      <a16:colId xmlns:a16="http://schemas.microsoft.com/office/drawing/2014/main" val="3258427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2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R1(A1,A2,A3)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8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R2(A3,A4,A5)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2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275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AFA-E503-46C5-B3A6-C32B00B5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32" y="-2"/>
            <a:ext cx="10018713" cy="1752599"/>
          </a:xfrm>
        </p:spPr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3: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AE71-EFF1-4D5A-86AD-B4EBE3F0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732" y="1083293"/>
            <a:ext cx="10018713" cy="3124201"/>
          </a:xfrm>
        </p:spPr>
        <p:txBody>
          <a:bodyPr/>
          <a:lstStyle/>
          <a:p>
            <a:r>
              <a:rPr lang="en-US" dirty="0"/>
              <a:t>R(</a:t>
            </a:r>
            <a:r>
              <a:rPr lang="en-US" dirty="0" err="1"/>
              <a:t>MaSV</a:t>
            </a:r>
            <a:r>
              <a:rPr lang="en-US" dirty="0"/>
              <a:t>(A1), </a:t>
            </a:r>
            <a:r>
              <a:rPr lang="en-US" dirty="0" err="1"/>
              <a:t>Hoten</a:t>
            </a:r>
            <a:r>
              <a:rPr lang="en-US" dirty="0"/>
              <a:t>(A2), </a:t>
            </a:r>
            <a:r>
              <a:rPr lang="en-US" dirty="0" err="1"/>
              <a:t>Malop</a:t>
            </a:r>
            <a:r>
              <a:rPr lang="en-US" dirty="0"/>
              <a:t>(A3), </a:t>
            </a:r>
            <a:r>
              <a:rPr lang="en-US" dirty="0" err="1"/>
              <a:t>Quanso</a:t>
            </a:r>
            <a:r>
              <a:rPr lang="en-US" dirty="0"/>
              <a:t>(A4), </a:t>
            </a:r>
            <a:r>
              <a:rPr lang="en-US" dirty="0" err="1"/>
              <a:t>Tenlop</a:t>
            </a:r>
            <a:r>
              <a:rPr lang="en-US" dirty="0"/>
              <a:t>(A5)) </a:t>
            </a:r>
          </a:p>
          <a:p>
            <a:r>
              <a:rPr lang="en-US" dirty="0"/>
              <a:t>R1(</a:t>
            </a:r>
            <a:r>
              <a:rPr lang="en-US" dirty="0" err="1"/>
              <a:t>MaSV</a:t>
            </a:r>
            <a:r>
              <a:rPr lang="en-US" dirty="0"/>
              <a:t>,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) </a:t>
            </a:r>
          </a:p>
          <a:p>
            <a:r>
              <a:rPr lang="en-US" dirty="0"/>
              <a:t>R2(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Quanso</a:t>
            </a:r>
            <a:r>
              <a:rPr lang="en-US" dirty="0"/>
              <a:t>, </a:t>
            </a:r>
            <a:r>
              <a:rPr lang="en-US" dirty="0" err="1"/>
              <a:t>Tenlop</a:t>
            </a:r>
            <a:r>
              <a:rPr lang="en-US" dirty="0"/>
              <a:t>) </a:t>
            </a:r>
          </a:p>
          <a:p>
            <a:r>
              <a:rPr lang="en-US" dirty="0"/>
              <a:t>F = {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 → </a:t>
            </a:r>
            <a:r>
              <a:rPr lang="en-US" dirty="0" err="1"/>
              <a:t>Tenlop</a:t>
            </a:r>
            <a:r>
              <a:rPr lang="en-US" dirty="0"/>
              <a:t>, </a:t>
            </a:r>
            <a:r>
              <a:rPr lang="en-US" dirty="0" err="1"/>
              <a:t>Malop→Quanso</a:t>
            </a:r>
            <a:r>
              <a:rPr lang="en-US" dirty="0"/>
              <a:t>}</a:t>
            </a:r>
          </a:p>
          <a:p>
            <a:r>
              <a:rPr lang="en-US" dirty="0"/>
              <a:t>={ A1-&gt;A2; A1-&gt;A3; A3-&gt;A5; A3-&gt;A4}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DFC398-2B18-4058-BCAF-F70F71511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847826"/>
              </p:ext>
            </p:extLst>
          </p:nvPr>
        </p:nvGraphicFramePr>
        <p:xfrm>
          <a:off x="1828799" y="4997467"/>
          <a:ext cx="90954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236">
                  <a:extLst>
                    <a:ext uri="{9D8B030D-6E8A-4147-A177-3AD203B41FA5}">
                      <a16:colId xmlns:a16="http://schemas.microsoft.com/office/drawing/2014/main" val="2743227438"/>
                    </a:ext>
                  </a:extLst>
                </a:gridCol>
                <a:gridCol w="1378424">
                  <a:extLst>
                    <a:ext uri="{9D8B030D-6E8A-4147-A177-3AD203B41FA5}">
                      <a16:colId xmlns:a16="http://schemas.microsoft.com/office/drawing/2014/main" val="81840474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523532190"/>
                    </a:ext>
                  </a:extLst>
                </a:gridCol>
                <a:gridCol w="1037230">
                  <a:extLst>
                    <a:ext uri="{9D8B030D-6E8A-4147-A177-3AD203B41FA5}">
                      <a16:colId xmlns:a16="http://schemas.microsoft.com/office/drawing/2014/main" val="2634297845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1847446175"/>
                    </a:ext>
                  </a:extLst>
                </a:gridCol>
                <a:gridCol w="1138833">
                  <a:extLst>
                    <a:ext uri="{9D8B030D-6E8A-4147-A177-3AD203B41FA5}">
                      <a16:colId xmlns:a16="http://schemas.microsoft.com/office/drawing/2014/main" val="3258427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2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R1(A1,A2,A3)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8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R2(A3,A4,A5)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21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F1E81F-1D7D-46B2-8D21-7C582AECC0A8}"/>
              </a:ext>
            </a:extLst>
          </p:cNvPr>
          <p:cNvSpPr txBox="1"/>
          <p:nvPr/>
        </p:nvSpPr>
        <p:spPr>
          <a:xfrm>
            <a:off x="2593074" y="4417814"/>
            <a:ext cx="6631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XÉT A1-&gt;A2: Ko </a:t>
            </a:r>
            <a:r>
              <a:rPr lang="en-GB" sz="2800" dirty="0" err="1"/>
              <a:t>có</a:t>
            </a:r>
            <a:r>
              <a:rPr lang="en-GB" sz="2800" dirty="0"/>
              <a:t> 2 </a:t>
            </a:r>
            <a:r>
              <a:rPr lang="en-GB" sz="2800" dirty="0" err="1"/>
              <a:t>dòng</a:t>
            </a:r>
            <a:r>
              <a:rPr lang="en-GB" sz="2800" dirty="0"/>
              <a:t> </a:t>
            </a:r>
            <a:r>
              <a:rPr lang="en-GB" sz="2800" dirty="0" err="1"/>
              <a:t>bằng</a:t>
            </a:r>
            <a:r>
              <a:rPr lang="en-GB" sz="2800" dirty="0"/>
              <a:t> </a:t>
            </a:r>
            <a:r>
              <a:rPr lang="en-GB" sz="2800" dirty="0" err="1"/>
              <a:t>nhau</a:t>
            </a:r>
            <a:r>
              <a:rPr lang="en-GB" sz="2800" dirty="0"/>
              <a:t> ko </a:t>
            </a:r>
            <a:r>
              <a:rPr lang="en-GB" sz="2800" dirty="0" err="1"/>
              <a:t>xét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3913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AFA-E503-46C5-B3A6-C32B00B5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32" y="-2"/>
            <a:ext cx="10018713" cy="1752599"/>
          </a:xfrm>
        </p:spPr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3: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AE71-EFF1-4D5A-86AD-B4EBE3F0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732" y="1083293"/>
            <a:ext cx="10018713" cy="3124201"/>
          </a:xfrm>
        </p:spPr>
        <p:txBody>
          <a:bodyPr/>
          <a:lstStyle/>
          <a:p>
            <a:r>
              <a:rPr lang="en-US" dirty="0"/>
              <a:t>R(</a:t>
            </a:r>
            <a:r>
              <a:rPr lang="en-US" dirty="0" err="1"/>
              <a:t>MaSV</a:t>
            </a:r>
            <a:r>
              <a:rPr lang="en-US" dirty="0"/>
              <a:t>(A1), </a:t>
            </a:r>
            <a:r>
              <a:rPr lang="en-US" dirty="0" err="1"/>
              <a:t>Hoten</a:t>
            </a:r>
            <a:r>
              <a:rPr lang="en-US" dirty="0"/>
              <a:t>(A2), </a:t>
            </a:r>
            <a:r>
              <a:rPr lang="en-US" dirty="0" err="1"/>
              <a:t>Malop</a:t>
            </a:r>
            <a:r>
              <a:rPr lang="en-US" dirty="0"/>
              <a:t>(A3), </a:t>
            </a:r>
            <a:r>
              <a:rPr lang="en-US" dirty="0" err="1"/>
              <a:t>Quanso</a:t>
            </a:r>
            <a:r>
              <a:rPr lang="en-US" dirty="0"/>
              <a:t>(A4), </a:t>
            </a:r>
            <a:r>
              <a:rPr lang="en-US" dirty="0" err="1"/>
              <a:t>Tenlop</a:t>
            </a:r>
            <a:r>
              <a:rPr lang="en-US" dirty="0"/>
              <a:t>(A5)) </a:t>
            </a:r>
          </a:p>
          <a:p>
            <a:r>
              <a:rPr lang="en-US" dirty="0"/>
              <a:t>R1(</a:t>
            </a:r>
            <a:r>
              <a:rPr lang="en-US" dirty="0" err="1"/>
              <a:t>MaSV</a:t>
            </a:r>
            <a:r>
              <a:rPr lang="en-US" dirty="0"/>
              <a:t>,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) </a:t>
            </a:r>
          </a:p>
          <a:p>
            <a:r>
              <a:rPr lang="en-US" dirty="0"/>
              <a:t>R2(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Quanso</a:t>
            </a:r>
            <a:r>
              <a:rPr lang="en-US" dirty="0"/>
              <a:t>, </a:t>
            </a:r>
            <a:r>
              <a:rPr lang="en-US" dirty="0" err="1"/>
              <a:t>Tenlop</a:t>
            </a:r>
            <a:r>
              <a:rPr lang="en-US" dirty="0"/>
              <a:t>) </a:t>
            </a:r>
          </a:p>
          <a:p>
            <a:r>
              <a:rPr lang="en-US" dirty="0"/>
              <a:t>F = {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 → </a:t>
            </a:r>
            <a:r>
              <a:rPr lang="en-US" dirty="0" err="1"/>
              <a:t>Tenlop</a:t>
            </a:r>
            <a:r>
              <a:rPr lang="en-US" dirty="0"/>
              <a:t>, </a:t>
            </a:r>
            <a:r>
              <a:rPr lang="en-US" dirty="0" err="1"/>
              <a:t>Malop→Quanso</a:t>
            </a:r>
            <a:r>
              <a:rPr lang="en-US" dirty="0"/>
              <a:t>}</a:t>
            </a:r>
          </a:p>
          <a:p>
            <a:r>
              <a:rPr lang="en-US" dirty="0"/>
              <a:t>={ A1-&gt;A2; A1-&gt;A3; A3-&gt;A5; A3-&gt;A4}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DFC398-2B18-4058-BCAF-F70F71511E2A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4997467"/>
          <a:ext cx="90954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236">
                  <a:extLst>
                    <a:ext uri="{9D8B030D-6E8A-4147-A177-3AD203B41FA5}">
                      <a16:colId xmlns:a16="http://schemas.microsoft.com/office/drawing/2014/main" val="2743227438"/>
                    </a:ext>
                  </a:extLst>
                </a:gridCol>
                <a:gridCol w="1378424">
                  <a:extLst>
                    <a:ext uri="{9D8B030D-6E8A-4147-A177-3AD203B41FA5}">
                      <a16:colId xmlns:a16="http://schemas.microsoft.com/office/drawing/2014/main" val="81840474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523532190"/>
                    </a:ext>
                  </a:extLst>
                </a:gridCol>
                <a:gridCol w="1037230">
                  <a:extLst>
                    <a:ext uri="{9D8B030D-6E8A-4147-A177-3AD203B41FA5}">
                      <a16:colId xmlns:a16="http://schemas.microsoft.com/office/drawing/2014/main" val="2634297845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1847446175"/>
                    </a:ext>
                  </a:extLst>
                </a:gridCol>
                <a:gridCol w="1138833">
                  <a:extLst>
                    <a:ext uri="{9D8B030D-6E8A-4147-A177-3AD203B41FA5}">
                      <a16:colId xmlns:a16="http://schemas.microsoft.com/office/drawing/2014/main" val="3258427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2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R1(A1,A2,A3)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8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R2(A3,A4,A5)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21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F1E81F-1D7D-46B2-8D21-7C582AECC0A8}"/>
              </a:ext>
            </a:extLst>
          </p:cNvPr>
          <p:cNvSpPr txBox="1"/>
          <p:nvPr/>
        </p:nvSpPr>
        <p:spPr>
          <a:xfrm>
            <a:off x="2593074" y="4417814"/>
            <a:ext cx="6631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XÉT A1-&gt;A3: Ko </a:t>
            </a:r>
            <a:r>
              <a:rPr lang="en-GB" sz="2800" dirty="0" err="1"/>
              <a:t>có</a:t>
            </a:r>
            <a:r>
              <a:rPr lang="en-GB" sz="2800" dirty="0"/>
              <a:t> 2 </a:t>
            </a:r>
            <a:r>
              <a:rPr lang="en-GB" sz="2800" dirty="0" err="1"/>
              <a:t>dòng</a:t>
            </a:r>
            <a:r>
              <a:rPr lang="en-GB" sz="2800" dirty="0"/>
              <a:t> </a:t>
            </a:r>
            <a:r>
              <a:rPr lang="en-GB" sz="2800" dirty="0" err="1"/>
              <a:t>bằng</a:t>
            </a:r>
            <a:r>
              <a:rPr lang="en-GB" sz="2800" dirty="0"/>
              <a:t> </a:t>
            </a:r>
            <a:r>
              <a:rPr lang="en-GB" sz="2800" dirty="0" err="1"/>
              <a:t>nhau</a:t>
            </a:r>
            <a:r>
              <a:rPr lang="en-GB" sz="2800" dirty="0"/>
              <a:t> ko </a:t>
            </a:r>
            <a:r>
              <a:rPr lang="en-GB" sz="2800" dirty="0" err="1"/>
              <a:t>xét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676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AFA-E503-46C5-B3A6-C32B00B5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32" y="-2"/>
            <a:ext cx="10018713" cy="1752599"/>
          </a:xfrm>
        </p:spPr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3: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AE71-EFF1-4D5A-86AD-B4EBE3F0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732" y="1083293"/>
            <a:ext cx="10018713" cy="3124201"/>
          </a:xfrm>
        </p:spPr>
        <p:txBody>
          <a:bodyPr/>
          <a:lstStyle/>
          <a:p>
            <a:r>
              <a:rPr lang="en-US" dirty="0"/>
              <a:t>R(</a:t>
            </a:r>
            <a:r>
              <a:rPr lang="en-US" dirty="0" err="1"/>
              <a:t>MaSV</a:t>
            </a:r>
            <a:r>
              <a:rPr lang="en-US" dirty="0"/>
              <a:t>(A1), </a:t>
            </a:r>
            <a:r>
              <a:rPr lang="en-US" dirty="0" err="1"/>
              <a:t>Hoten</a:t>
            </a:r>
            <a:r>
              <a:rPr lang="en-US" dirty="0"/>
              <a:t>(A2), </a:t>
            </a:r>
            <a:r>
              <a:rPr lang="en-US" dirty="0" err="1"/>
              <a:t>Malop</a:t>
            </a:r>
            <a:r>
              <a:rPr lang="en-US" dirty="0"/>
              <a:t>(A3), </a:t>
            </a:r>
            <a:r>
              <a:rPr lang="en-US" dirty="0" err="1"/>
              <a:t>Quanso</a:t>
            </a:r>
            <a:r>
              <a:rPr lang="en-US" dirty="0"/>
              <a:t>(A4), </a:t>
            </a:r>
            <a:r>
              <a:rPr lang="en-US" dirty="0" err="1"/>
              <a:t>Tenlop</a:t>
            </a:r>
            <a:r>
              <a:rPr lang="en-US" dirty="0"/>
              <a:t>(A5)) </a:t>
            </a:r>
          </a:p>
          <a:p>
            <a:r>
              <a:rPr lang="en-US" dirty="0"/>
              <a:t>R1(</a:t>
            </a:r>
            <a:r>
              <a:rPr lang="en-US" dirty="0" err="1"/>
              <a:t>MaSV</a:t>
            </a:r>
            <a:r>
              <a:rPr lang="en-US" dirty="0"/>
              <a:t>,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) </a:t>
            </a:r>
          </a:p>
          <a:p>
            <a:r>
              <a:rPr lang="en-US" dirty="0"/>
              <a:t>R2(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Quanso</a:t>
            </a:r>
            <a:r>
              <a:rPr lang="en-US" dirty="0"/>
              <a:t>, </a:t>
            </a:r>
            <a:r>
              <a:rPr lang="en-US" dirty="0" err="1"/>
              <a:t>Tenlop</a:t>
            </a:r>
            <a:r>
              <a:rPr lang="en-US" dirty="0"/>
              <a:t>) </a:t>
            </a:r>
          </a:p>
          <a:p>
            <a:r>
              <a:rPr lang="en-US" dirty="0"/>
              <a:t>F = {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 → </a:t>
            </a:r>
            <a:r>
              <a:rPr lang="en-US" dirty="0" err="1"/>
              <a:t>Tenlop</a:t>
            </a:r>
            <a:r>
              <a:rPr lang="en-US" dirty="0"/>
              <a:t>, </a:t>
            </a:r>
            <a:r>
              <a:rPr lang="en-US" dirty="0" err="1"/>
              <a:t>Malop→Quanso</a:t>
            </a:r>
            <a:r>
              <a:rPr lang="en-US" dirty="0"/>
              <a:t>}</a:t>
            </a:r>
          </a:p>
          <a:p>
            <a:r>
              <a:rPr lang="en-US" dirty="0"/>
              <a:t>={ A1-&gt;A2; A1-&gt;A3; A3-&gt;A5; A3-&gt;A4}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DFC398-2B18-4058-BCAF-F70F71511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13521"/>
              </p:ext>
            </p:extLst>
          </p:nvPr>
        </p:nvGraphicFramePr>
        <p:xfrm>
          <a:off x="1828799" y="4997467"/>
          <a:ext cx="90954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236">
                  <a:extLst>
                    <a:ext uri="{9D8B030D-6E8A-4147-A177-3AD203B41FA5}">
                      <a16:colId xmlns:a16="http://schemas.microsoft.com/office/drawing/2014/main" val="2743227438"/>
                    </a:ext>
                  </a:extLst>
                </a:gridCol>
                <a:gridCol w="1378424">
                  <a:extLst>
                    <a:ext uri="{9D8B030D-6E8A-4147-A177-3AD203B41FA5}">
                      <a16:colId xmlns:a16="http://schemas.microsoft.com/office/drawing/2014/main" val="81840474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523532190"/>
                    </a:ext>
                  </a:extLst>
                </a:gridCol>
                <a:gridCol w="1037230">
                  <a:extLst>
                    <a:ext uri="{9D8B030D-6E8A-4147-A177-3AD203B41FA5}">
                      <a16:colId xmlns:a16="http://schemas.microsoft.com/office/drawing/2014/main" val="2634297845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1847446175"/>
                    </a:ext>
                  </a:extLst>
                </a:gridCol>
                <a:gridCol w="1138833">
                  <a:extLst>
                    <a:ext uri="{9D8B030D-6E8A-4147-A177-3AD203B41FA5}">
                      <a16:colId xmlns:a16="http://schemas.microsoft.com/office/drawing/2014/main" val="3258427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2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R1(A1,A2,A3)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b14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8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R2(A3,A4,A5)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21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F1E81F-1D7D-46B2-8D21-7C582AECC0A8}"/>
              </a:ext>
            </a:extLst>
          </p:cNvPr>
          <p:cNvSpPr txBox="1"/>
          <p:nvPr/>
        </p:nvSpPr>
        <p:spPr>
          <a:xfrm>
            <a:off x="2593074" y="4417814"/>
            <a:ext cx="4612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XÉT A3-&gt;A5: </a:t>
            </a:r>
            <a:r>
              <a:rPr lang="en-GB" sz="2800" dirty="0" err="1"/>
              <a:t>thay</a:t>
            </a:r>
            <a:r>
              <a:rPr lang="en-GB" sz="2800" dirty="0"/>
              <a:t> b15 </a:t>
            </a:r>
            <a:r>
              <a:rPr lang="en-GB" sz="2800" dirty="0" err="1"/>
              <a:t>bằng</a:t>
            </a:r>
            <a:r>
              <a:rPr lang="en-GB" sz="2800" dirty="0"/>
              <a:t> a5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22255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AFA-E503-46C5-B3A6-C32B00B5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32" y="-2"/>
            <a:ext cx="10018713" cy="1752599"/>
          </a:xfrm>
        </p:spPr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3: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AE71-EFF1-4D5A-86AD-B4EBE3F0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732" y="1083293"/>
            <a:ext cx="10018713" cy="3124201"/>
          </a:xfrm>
        </p:spPr>
        <p:txBody>
          <a:bodyPr/>
          <a:lstStyle/>
          <a:p>
            <a:r>
              <a:rPr lang="en-US" dirty="0"/>
              <a:t>R(</a:t>
            </a:r>
            <a:r>
              <a:rPr lang="en-US" dirty="0" err="1"/>
              <a:t>MaSV</a:t>
            </a:r>
            <a:r>
              <a:rPr lang="en-US" dirty="0"/>
              <a:t>(A1), </a:t>
            </a:r>
            <a:r>
              <a:rPr lang="en-US" dirty="0" err="1"/>
              <a:t>Hoten</a:t>
            </a:r>
            <a:r>
              <a:rPr lang="en-US" dirty="0"/>
              <a:t>(A2), </a:t>
            </a:r>
            <a:r>
              <a:rPr lang="en-US" dirty="0" err="1"/>
              <a:t>Malop</a:t>
            </a:r>
            <a:r>
              <a:rPr lang="en-US" dirty="0"/>
              <a:t>(A3), </a:t>
            </a:r>
            <a:r>
              <a:rPr lang="en-US" dirty="0" err="1"/>
              <a:t>Quanso</a:t>
            </a:r>
            <a:r>
              <a:rPr lang="en-US" dirty="0"/>
              <a:t>(A4), </a:t>
            </a:r>
            <a:r>
              <a:rPr lang="en-US" dirty="0" err="1"/>
              <a:t>Tenlop</a:t>
            </a:r>
            <a:r>
              <a:rPr lang="en-US" dirty="0"/>
              <a:t>(A5)) </a:t>
            </a:r>
          </a:p>
          <a:p>
            <a:r>
              <a:rPr lang="en-US" dirty="0"/>
              <a:t>R1(</a:t>
            </a:r>
            <a:r>
              <a:rPr lang="en-US" dirty="0" err="1"/>
              <a:t>MaSV</a:t>
            </a:r>
            <a:r>
              <a:rPr lang="en-US" dirty="0"/>
              <a:t>,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) </a:t>
            </a:r>
          </a:p>
          <a:p>
            <a:r>
              <a:rPr lang="en-US" dirty="0"/>
              <a:t>R2(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Quanso</a:t>
            </a:r>
            <a:r>
              <a:rPr lang="en-US" dirty="0"/>
              <a:t>, </a:t>
            </a:r>
            <a:r>
              <a:rPr lang="en-US" dirty="0" err="1"/>
              <a:t>Tenlop</a:t>
            </a:r>
            <a:r>
              <a:rPr lang="en-US" dirty="0"/>
              <a:t>) </a:t>
            </a:r>
          </a:p>
          <a:p>
            <a:r>
              <a:rPr lang="en-US" dirty="0"/>
              <a:t>F = {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Hoten</a:t>
            </a:r>
            <a:r>
              <a:rPr lang="en-US" dirty="0"/>
              <a:t>, </a:t>
            </a:r>
            <a:r>
              <a:rPr lang="en-US" dirty="0" err="1"/>
              <a:t>MaSV</a:t>
            </a:r>
            <a:r>
              <a:rPr lang="en-US" dirty="0"/>
              <a:t> → </a:t>
            </a:r>
            <a:r>
              <a:rPr lang="en-US" dirty="0" err="1"/>
              <a:t>Malop</a:t>
            </a:r>
            <a:r>
              <a:rPr lang="en-US" dirty="0"/>
              <a:t>, </a:t>
            </a:r>
            <a:r>
              <a:rPr lang="en-US" dirty="0" err="1"/>
              <a:t>Malop</a:t>
            </a:r>
            <a:r>
              <a:rPr lang="en-US" dirty="0"/>
              <a:t> → </a:t>
            </a:r>
            <a:r>
              <a:rPr lang="en-US" dirty="0" err="1"/>
              <a:t>Tenlop</a:t>
            </a:r>
            <a:r>
              <a:rPr lang="en-US" dirty="0"/>
              <a:t>, </a:t>
            </a:r>
            <a:r>
              <a:rPr lang="en-US" dirty="0" err="1"/>
              <a:t>Malop→Quanso</a:t>
            </a:r>
            <a:r>
              <a:rPr lang="en-US" dirty="0"/>
              <a:t>}</a:t>
            </a:r>
          </a:p>
          <a:p>
            <a:r>
              <a:rPr lang="en-US" dirty="0"/>
              <a:t>={ A1-&gt;A2; A1-&gt;A3; A3-&gt;A5; A3-&gt;A4}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DFC398-2B18-4058-BCAF-F70F71511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092608"/>
              </p:ext>
            </p:extLst>
          </p:nvPr>
        </p:nvGraphicFramePr>
        <p:xfrm>
          <a:off x="1856094" y="4602480"/>
          <a:ext cx="90954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236">
                  <a:extLst>
                    <a:ext uri="{9D8B030D-6E8A-4147-A177-3AD203B41FA5}">
                      <a16:colId xmlns:a16="http://schemas.microsoft.com/office/drawing/2014/main" val="2743227438"/>
                    </a:ext>
                  </a:extLst>
                </a:gridCol>
                <a:gridCol w="1378424">
                  <a:extLst>
                    <a:ext uri="{9D8B030D-6E8A-4147-A177-3AD203B41FA5}">
                      <a16:colId xmlns:a16="http://schemas.microsoft.com/office/drawing/2014/main" val="81840474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2523532190"/>
                    </a:ext>
                  </a:extLst>
                </a:gridCol>
                <a:gridCol w="1037230">
                  <a:extLst>
                    <a:ext uri="{9D8B030D-6E8A-4147-A177-3AD203B41FA5}">
                      <a16:colId xmlns:a16="http://schemas.microsoft.com/office/drawing/2014/main" val="2634297845"/>
                    </a:ext>
                  </a:extLst>
                </a:gridCol>
                <a:gridCol w="1009934">
                  <a:extLst>
                    <a:ext uri="{9D8B030D-6E8A-4147-A177-3AD203B41FA5}">
                      <a16:colId xmlns:a16="http://schemas.microsoft.com/office/drawing/2014/main" val="1847446175"/>
                    </a:ext>
                  </a:extLst>
                </a:gridCol>
                <a:gridCol w="1138833">
                  <a:extLst>
                    <a:ext uri="{9D8B030D-6E8A-4147-A177-3AD203B41FA5}">
                      <a16:colId xmlns:a16="http://schemas.microsoft.com/office/drawing/2014/main" val="3258427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2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R1(A1,A2,A3)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8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R2(A3,A4,A5)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b22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a5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121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F1E81F-1D7D-46B2-8D21-7C582AECC0A8}"/>
              </a:ext>
            </a:extLst>
          </p:cNvPr>
          <p:cNvSpPr txBox="1"/>
          <p:nvPr/>
        </p:nvSpPr>
        <p:spPr>
          <a:xfrm>
            <a:off x="2565779" y="4079260"/>
            <a:ext cx="4612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XÉT A3-&gt;A4: </a:t>
            </a:r>
            <a:r>
              <a:rPr lang="en-GB" sz="2800" dirty="0" err="1"/>
              <a:t>thay</a:t>
            </a:r>
            <a:r>
              <a:rPr lang="en-GB" sz="2800" dirty="0"/>
              <a:t> b14 </a:t>
            </a:r>
            <a:r>
              <a:rPr lang="en-GB" sz="2800" dirty="0" err="1"/>
              <a:t>bằng</a:t>
            </a:r>
            <a:r>
              <a:rPr lang="en-GB" sz="2800" dirty="0"/>
              <a:t> a4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6D55A-7D76-43AC-8100-BF3A7437C603}"/>
              </a:ext>
            </a:extLst>
          </p:cNvPr>
          <p:cNvSpPr txBox="1"/>
          <p:nvPr/>
        </p:nvSpPr>
        <p:spPr>
          <a:xfrm>
            <a:off x="2415653" y="6156960"/>
            <a:ext cx="8857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Dòng</a:t>
            </a:r>
            <a:r>
              <a:rPr lang="en-GB" sz="2800" dirty="0"/>
              <a:t> 1 </a:t>
            </a:r>
            <a:r>
              <a:rPr lang="en-GB" sz="2800" dirty="0" err="1"/>
              <a:t>là</a:t>
            </a:r>
            <a:r>
              <a:rPr lang="en-GB" sz="2800" dirty="0"/>
              <a:t> a1, … a5: </a:t>
            </a:r>
            <a:r>
              <a:rPr lang="en-GB" sz="2800" dirty="0" err="1"/>
              <a:t>vậy</a:t>
            </a:r>
            <a:r>
              <a:rPr lang="en-GB" sz="2800" dirty="0"/>
              <a:t> </a:t>
            </a:r>
            <a:r>
              <a:rPr lang="en-GB" sz="2800" dirty="0" err="1"/>
              <a:t>phép</a:t>
            </a:r>
            <a:r>
              <a:rPr lang="en-GB" sz="2800" dirty="0"/>
              <a:t> </a:t>
            </a:r>
            <a:r>
              <a:rPr lang="en-GB" sz="2800" dirty="0" err="1"/>
              <a:t>tách</a:t>
            </a:r>
            <a:r>
              <a:rPr lang="en-GB" sz="2800" dirty="0"/>
              <a:t> </a:t>
            </a:r>
            <a:r>
              <a:rPr lang="en-GB" sz="2800" dirty="0" err="1"/>
              <a:t>bảo</a:t>
            </a:r>
            <a:r>
              <a:rPr lang="en-GB" sz="2800" dirty="0"/>
              <a:t> </a:t>
            </a:r>
            <a:r>
              <a:rPr lang="en-GB" sz="2800" dirty="0" err="1"/>
              <a:t>toàn</a:t>
            </a:r>
            <a:r>
              <a:rPr lang="en-GB" sz="2800" dirty="0"/>
              <a:t> </a:t>
            </a:r>
            <a:r>
              <a:rPr lang="en-GB" sz="2800" dirty="0" err="1"/>
              <a:t>thông</a:t>
            </a:r>
            <a:r>
              <a:rPr lang="en-GB" sz="2800" dirty="0"/>
              <a:t> tin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2829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AFA-E503-46C5-B3A6-C32B00B5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4: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toàn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AE71-EFF1-4D5A-86AD-B4EBE3F0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9009" y="1866899"/>
            <a:ext cx="10018713" cy="40152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CHO: R(IKLMNGH)</a:t>
            </a:r>
          </a:p>
          <a:p>
            <a:r>
              <a:rPr lang="en-US" dirty="0"/>
              <a:t>F = {I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L, I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K, GH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L, H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K, I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N, I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M,  GK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N}</a:t>
            </a:r>
          </a:p>
          <a:p>
            <a:r>
              <a:rPr lang="en-US" dirty="0"/>
              <a:t>KIỂM TRA TÍNH BẢO TOÀN THÔNG TIN CỦA PHÉP TÁCH R THÀNH:</a:t>
            </a:r>
          </a:p>
          <a:p>
            <a:r>
              <a:rPr lang="en-US" dirty="0"/>
              <a:t>R1(ILKMN)</a:t>
            </a:r>
          </a:p>
          <a:p>
            <a:r>
              <a:rPr lang="en-US" dirty="0"/>
              <a:t>R2(GHL)</a:t>
            </a:r>
          </a:p>
          <a:p>
            <a:r>
              <a:rPr lang="en-US" dirty="0"/>
              <a:t>R3(HK)</a:t>
            </a:r>
          </a:p>
          <a:p>
            <a:r>
              <a:rPr lang="en-US" dirty="0"/>
              <a:t>R4(GKN)</a:t>
            </a:r>
          </a:p>
        </p:txBody>
      </p:sp>
    </p:spTree>
    <p:extLst>
      <p:ext uri="{BB962C8B-B14F-4D97-AF65-F5344CB8AC3E}">
        <p14:creationId xmlns:p14="http://schemas.microsoft.com/office/powerpoint/2010/main" val="3865456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3905</TotalTime>
  <Words>1200</Words>
  <Application>Microsoft Office PowerPoint</Application>
  <PresentationFormat>Widescreen</PresentationFormat>
  <Paragraphs>166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Corbel</vt:lpstr>
      <vt:lpstr>Times New Roman</vt:lpstr>
      <vt:lpstr>Parallax</vt:lpstr>
      <vt:lpstr>2.4.2. Phép phân rã các lược đồ quan hệ</vt:lpstr>
      <vt:lpstr>2.4.2.1. Định nghĩa</vt:lpstr>
      <vt:lpstr>2.4.2.2. Phép phân rã không mất mát thông tin</vt:lpstr>
      <vt:lpstr>Ví dụ về một phép phân rã có mất mát thông tin: </vt:lpstr>
      <vt:lpstr>Ví dụ về một phép phân rã có mất mát thông tin: </vt:lpstr>
      <vt:lpstr>Ví dụ về một phép phân rã có mất mát thông tin: </vt:lpstr>
      <vt:lpstr>Thuật toán kiểm tra phép phân rã có mất mát thông tin không? </vt:lpstr>
      <vt:lpstr>Các bước của thuật toán: </vt:lpstr>
      <vt:lpstr>Các bước của thuật toán: </vt:lpstr>
      <vt:lpstr>Các bước của thuật toán: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Ví dụ 3: kiểm tra tính bảo toàn thông tin </vt:lpstr>
      <vt:lpstr>Ví dụ 3: kiểm tra tính bảo toàn thông tin</vt:lpstr>
      <vt:lpstr>Ví dụ 3: kiểm tra tính bảo toàn thông tin</vt:lpstr>
      <vt:lpstr>Ví dụ 3: kiểm tra tính bảo toàn thông tin</vt:lpstr>
      <vt:lpstr>Ví dụ 3: kiểm tra tính bảo toàn thông tin</vt:lpstr>
      <vt:lpstr>Ví dụ 4: kiểm tra tính bảo toàn thông tin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2.4.2. Phép phân rã các lược đồ quan hệ</dc:title>
  <dc:creator>ngans</dc:creator>
  <cp:lastModifiedBy>ADMIN</cp:lastModifiedBy>
  <cp:revision>26</cp:revision>
  <dcterms:created xsi:type="dcterms:W3CDTF">2020-04-23T08:45:36Z</dcterms:created>
  <dcterms:modified xsi:type="dcterms:W3CDTF">2021-06-01T08:18:30Z</dcterms:modified>
</cp:coreProperties>
</file>