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7926-577C-4A5A-A84B-3DC7527F2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338" y="1591730"/>
            <a:ext cx="9637425" cy="275859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vi-VN" sz="6600" b="1"/>
              <a:t> 2.2: KHÓA CỦA LƯỢC ĐỒ QUAN HỆ </a:t>
            </a:r>
            <a:endParaRPr lang="en-US" sz="6600" b="1"/>
          </a:p>
        </p:txBody>
      </p:sp>
    </p:spTree>
    <p:extLst>
      <p:ext uri="{BB962C8B-B14F-4D97-AF65-F5344CB8AC3E}">
        <p14:creationId xmlns:p14="http://schemas.microsoft.com/office/powerpoint/2010/main" val="255704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1BBA-95F0-4DB7-B087-1992ACC8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05483"/>
          </a:xfrm>
        </p:spPr>
        <p:txBody>
          <a:bodyPr/>
          <a:lstStyle/>
          <a:p>
            <a:pPr algn="l"/>
            <a:r>
              <a:rPr lang="vi-VN"/>
              <a:t> </a:t>
            </a:r>
            <a:r>
              <a:rPr lang="vi-VN" b="1"/>
              <a:t>2.2.1. Khái niệm: </a:t>
            </a:r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91F9B-D458-4385-8039-ACCCBA56ABC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149" y="1716946"/>
                <a:ext cx="10363826" cy="43651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vi-VN" sz="2400" cap="none"/>
                  <a:t>Cho quan hệ </a:t>
                </a:r>
                <a:r>
                  <a:rPr lang="en-US" sz="2400" cap="none"/>
                  <a:t>Q</a:t>
                </a:r>
                <a:r>
                  <a:rPr lang="vi-VN" sz="2400" cap="none"/>
                  <a:t>(a1,a2,…,an) được xác định bởi tập thuộc tính Q</a:t>
                </a:r>
                <a:r>
                  <a:rPr lang="vi-VN" sz="2400" cap="none" baseline="30000"/>
                  <a:t>+</a:t>
                </a:r>
                <a:r>
                  <a:rPr lang="vi-VN" sz="2400" cap="none"/>
                  <a:t> và tập phụ thuộc hàm F định nghĩa trên Q, cho K ⊆ Q</a:t>
                </a:r>
                <a:r>
                  <a:rPr lang="vi-VN" sz="2400" cap="none" baseline="30000"/>
                  <a:t>+</a:t>
                </a:r>
                <a:r>
                  <a:rPr lang="vi-VN" sz="2400" cap="none"/>
                  <a:t> </a:t>
                </a:r>
                <a:endParaRPr lang="en-US" sz="2400" cap="none"/>
              </a:p>
              <a:p>
                <a:pPr marL="0" indent="0">
                  <a:buNone/>
                </a:pPr>
                <a:r>
                  <a:rPr lang="vi-VN" sz="2400" cap="none"/>
                  <a:t>K là một khoá của Q  nếu thoả đồng thời cả hai điều kiện sau:  </a:t>
                </a:r>
                <a:endParaRPr lang="en-US" sz="2400" cap="none"/>
              </a:p>
              <a:p>
                <a:pPr marL="457200" indent="-457200">
                  <a:buAutoNum type="arabicPeriod"/>
                </a:pPr>
                <a:r>
                  <a:rPr lang="vi-VN" sz="2400" cap="none"/>
                  <a:t>K → Q</a:t>
                </a:r>
                <a:r>
                  <a:rPr lang="vi-VN" sz="2400" cap="none" baseline="30000"/>
                  <a:t>+</a:t>
                </a:r>
                <a14:m>
                  <m:oMath xmlns:m="http://schemas.openxmlformats.org/officeDocument/2006/math">
                    <m:r>
                      <a:rPr lang="vi-VN" sz="240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vi-VN" sz="2400" cap="none"/>
                  <a:t> F</a:t>
                </a:r>
                <a:r>
                  <a:rPr lang="vi-VN" sz="2400" cap="none" baseline="30000"/>
                  <a:t>+</a:t>
                </a:r>
                <a:r>
                  <a:rPr lang="vi-VN" sz="2400" cap="none"/>
                  <a:t> (hay K</a:t>
                </a:r>
                <a:r>
                  <a:rPr lang="vi-VN" sz="2400" cap="none" baseline="30000"/>
                  <a:t>+</a:t>
                </a:r>
                <a:r>
                  <a:rPr lang="vi-VN" sz="2400" cap="none" baseline="-25000"/>
                  <a:t>F</a:t>
                </a:r>
                <a:r>
                  <a:rPr lang="vi-VN" sz="2400" cap="none"/>
                  <a:t>  = Q</a:t>
                </a:r>
                <a:r>
                  <a:rPr lang="vi-VN" sz="2400" cap="none" baseline="30000"/>
                  <a:t>+</a:t>
                </a:r>
                <a:r>
                  <a:rPr lang="vi-VN" sz="2400" cap="none"/>
                  <a:t>)   (K chỉ thoả điều kiện 1 thì được gọi là siêu khoá) </a:t>
                </a:r>
                <a:endParaRPr lang="en-US" sz="2400" cap="none"/>
              </a:p>
              <a:p>
                <a:pPr marL="457200" indent="-457200">
                  <a:buAutoNum type="arabicPeriod"/>
                </a:pPr>
                <a:r>
                  <a:rPr lang="vi-VN" sz="2400" cap="none"/>
                  <a:t>K tối thiểu hay có nghĩa là   không tồn tại  K' </a:t>
                </a:r>
                <a14:m>
                  <m:oMath xmlns:m="http://schemas.openxmlformats.org/officeDocument/2006/math">
                    <m:r>
                      <a:rPr lang="vi-VN" sz="240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vi-VN" sz="2400" cap="none"/>
                  <a:t>  K sao cho K'</a:t>
                </a:r>
                <a:r>
                  <a:rPr lang="vi-VN" sz="2400" cap="none" baseline="30000"/>
                  <a:t>+</a:t>
                </a:r>
                <a:r>
                  <a:rPr lang="vi-VN" sz="2400" cap="none"/>
                  <a:t>= Q</a:t>
                </a:r>
                <a:r>
                  <a:rPr lang="vi-VN" sz="2400" cap="none" baseline="30000"/>
                  <a:t>+</a:t>
                </a:r>
                <a:r>
                  <a:rPr lang="vi-VN" sz="2400" cap="none"/>
                  <a:t> </a:t>
                </a:r>
                <a:endParaRPr lang="en-US" sz="2400" cap="none"/>
              </a:p>
              <a:p>
                <a:pPr marL="0" indent="0">
                  <a:buNone/>
                </a:pPr>
                <a:r>
                  <a:rPr lang="vi-VN" sz="2400" cap="none"/>
                  <a:t>* </a:t>
                </a:r>
                <a:r>
                  <a:rPr lang="en-US" sz="2400" cap="none"/>
                  <a:t>N</a:t>
                </a:r>
                <a:r>
                  <a:rPr lang="vi-VN" sz="2400" cap="none"/>
                  <a:t>hận xét: một lược đồ quan hệ có thể có nhiều khóa </a:t>
                </a:r>
                <a:endParaRPr lang="en-US" sz="2400" cap="none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91F9B-D458-4385-8039-ACCCBA56A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149" y="1716946"/>
                <a:ext cx="10363826" cy="4365199"/>
              </a:xfrm>
              <a:blipFill>
                <a:blip r:embed="rId2"/>
                <a:stretch>
                  <a:fillRect l="-941" t="-279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9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1C2F-6380-4692-BE54-7CC8F5C5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07681"/>
            <a:ext cx="10364451" cy="159617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vi-VN" sz="3200" b="1"/>
              <a:t>2.2.2. Thuật toán tìm khóa: </a:t>
            </a:r>
            <a:br>
              <a:rPr lang="en-US" sz="2800" b="1"/>
            </a:br>
            <a:r>
              <a:rPr lang="vi-VN" sz="2800" b="1"/>
              <a:t>2.2.2.1. Thuật toán tìm một khóa của một lược đồ quan hệ </a:t>
            </a:r>
            <a:endParaRPr lang="en-US" sz="28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846088-D5AF-4909-B88C-CC00DC5FA0A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064300" y="2506488"/>
                <a:ext cx="10363826" cy="342410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vi-VN" sz="2800" cap="none"/>
                  <a:t>K = Q</a:t>
                </a:r>
                <a:r>
                  <a:rPr lang="vi-VN" sz="2800" cap="none" baseline="30000"/>
                  <a:t>+</a:t>
                </a:r>
                <a:r>
                  <a:rPr lang="vi-VN" sz="2800" cap="none"/>
                  <a:t>;  </a:t>
                </a:r>
                <a:endParaRPr lang="en-US" sz="2800" cap="none"/>
              </a:p>
              <a:p>
                <a:pPr marL="0" indent="0">
                  <a:buNone/>
                </a:pPr>
                <a:r>
                  <a:rPr lang="vi-VN" sz="2800" cap="none"/>
                  <a:t>while A </a:t>
                </a:r>
                <a14:m>
                  <m:oMath xmlns:m="http://schemas.openxmlformats.org/officeDocument/2006/math">
                    <m:r>
                      <a:rPr lang="vi-VN" sz="2800" i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vi-VN" sz="2800" cap="none"/>
                  <a:t>  K do </a:t>
                </a:r>
                <a:endParaRPr lang="en-US" sz="2800" cap="none"/>
              </a:p>
              <a:p>
                <a:pPr marL="0" indent="0">
                  <a:buNone/>
                </a:pPr>
                <a:r>
                  <a:rPr lang="en-US" sz="2800" cap="none"/>
                  <a:t>       </a:t>
                </a:r>
                <a:r>
                  <a:rPr lang="vi-VN" sz="2800" cap="none"/>
                  <a:t>if  (K - A)</a:t>
                </a:r>
                <a:r>
                  <a:rPr lang="vi-VN" sz="2800" cap="none" baseline="30000"/>
                  <a:t>+</a:t>
                </a:r>
                <a:r>
                  <a:rPr lang="vi-VN" sz="2800" cap="none"/>
                  <a:t> = Q</a:t>
                </a:r>
                <a:r>
                  <a:rPr lang="vi-VN" sz="2800" cap="none" baseline="30000"/>
                  <a:t>+</a:t>
                </a:r>
                <a:r>
                  <a:rPr lang="vi-VN" sz="2800" cap="none"/>
                  <a:t> then K = K - A  </a:t>
                </a:r>
                <a:endParaRPr lang="en-US" sz="2800" cap="none"/>
              </a:p>
              <a:p>
                <a:pPr marL="0" indent="0">
                  <a:buNone/>
                </a:pPr>
                <a:r>
                  <a:rPr lang="vi-VN" sz="2800" cap="none"/>
                  <a:t>K còn lại chính là một khoá cần tìm.   </a:t>
                </a:r>
                <a:endParaRPr lang="en-US" cap="none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846088-D5AF-4909-B88C-CC00DC5F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064300" y="2506488"/>
                <a:ext cx="10363826" cy="3424107"/>
              </a:xfrm>
              <a:blipFill>
                <a:blip r:embed="rId2"/>
                <a:stretch>
                  <a:fillRect l="-1235" t="-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51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74F4-FD97-412F-82CE-89EE736D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7380"/>
            <a:ext cx="10364451" cy="808501"/>
          </a:xfrm>
        </p:spPr>
        <p:txBody>
          <a:bodyPr/>
          <a:lstStyle/>
          <a:p>
            <a:r>
              <a:rPr lang="en-US"/>
              <a:t>Ví dụ: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DF896-8E9B-4EAA-9D75-0BB7B8F5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854" y="1714244"/>
            <a:ext cx="4337386" cy="6127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4B718-29D7-491F-8B64-D13AA74B94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1382" y="1142136"/>
            <a:ext cx="10363826" cy="5161683"/>
          </a:xfrm>
        </p:spPr>
        <p:txBody>
          <a:bodyPr>
            <a:normAutofit fontScale="92500"/>
          </a:bodyPr>
          <a:lstStyle/>
          <a:p>
            <a:r>
              <a:rPr lang="vi-VN" sz="3000" cap="none"/>
              <a:t>Cho lược đồ quan hệ Q(ABC) và tập phụ thuộc hàm</a:t>
            </a:r>
            <a:endParaRPr lang="en-US" sz="3000" cap="none"/>
          </a:p>
          <a:p>
            <a:endParaRPr lang="en-US" sz="3000" cap="none"/>
          </a:p>
          <a:p>
            <a:pPr marL="0" indent="0">
              <a:buNone/>
            </a:pPr>
            <a:r>
              <a:rPr lang="en-US" sz="3000" cap="none"/>
              <a:t>Hãy tìm một khóa của Q</a:t>
            </a:r>
          </a:p>
          <a:p>
            <a:r>
              <a:rPr lang="vi-VN" sz="3000" cap="none"/>
              <a:t>Giải:  K={A,B,C}  </a:t>
            </a:r>
            <a:endParaRPr lang="en-US" sz="3000" cap="none"/>
          </a:p>
          <a:p>
            <a:r>
              <a:rPr lang="vi-VN" sz="3000" cap="none"/>
              <a:t>Loại thuộc tính A, do (K-A)</a:t>
            </a:r>
            <a:r>
              <a:rPr lang="vi-VN" sz="3000" cap="none" baseline="30000"/>
              <a:t>+</a:t>
            </a:r>
            <a:r>
              <a:rPr lang="vi-VN" sz="3000" cap="none"/>
              <a:t> = Q</a:t>
            </a:r>
            <a:r>
              <a:rPr lang="vi-VN" sz="3000" cap="none" baseline="30000"/>
              <a:t>+</a:t>
            </a:r>
            <a:r>
              <a:rPr lang="vi-VN" sz="3000" cap="none"/>
              <a:t> nên K={B,C}  </a:t>
            </a:r>
            <a:endParaRPr lang="en-US" sz="3000" cap="none"/>
          </a:p>
          <a:p>
            <a:r>
              <a:rPr lang="vi-VN" sz="3000" cap="none"/>
              <a:t>Thuộc tính B không loại được do (K - B)</a:t>
            </a:r>
            <a:r>
              <a:rPr lang="vi-VN" sz="3000" cap="none" baseline="30000"/>
              <a:t>+</a:t>
            </a:r>
            <a:r>
              <a:rPr lang="vi-VN" sz="3000" cap="none"/>
              <a:t> ≠ Q</a:t>
            </a:r>
            <a:r>
              <a:rPr lang="vi-VN" sz="3000" cap="none" baseline="30000"/>
              <a:t>+</a:t>
            </a:r>
            <a:r>
              <a:rPr lang="vi-VN" sz="3000" cap="none"/>
              <a:t> nên K={B,C}  </a:t>
            </a:r>
            <a:endParaRPr lang="en-US" sz="3000" cap="none"/>
          </a:p>
          <a:p>
            <a:r>
              <a:rPr lang="vi-VN" sz="3000" cap="none"/>
              <a:t>Loại thuộc tính C, do (K-C)</a:t>
            </a:r>
            <a:r>
              <a:rPr lang="vi-VN" sz="3000" cap="none" baseline="30000"/>
              <a:t>+</a:t>
            </a:r>
            <a:r>
              <a:rPr lang="vi-VN" sz="3000" cap="none"/>
              <a:t> = Q</a:t>
            </a:r>
            <a:r>
              <a:rPr lang="vi-VN" sz="3000" cap="none" baseline="30000"/>
              <a:t>+</a:t>
            </a:r>
            <a:r>
              <a:rPr lang="vi-VN" sz="3000" cap="none"/>
              <a:t> nên K={B}  vậy một khóa của Q là B.</a:t>
            </a:r>
            <a:endParaRPr lang="en-US" sz="3000" cap="none"/>
          </a:p>
          <a:p>
            <a:endParaRPr lang="en-US" sz="3000" cap="none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5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130000"/>
              </a:lnSpc>
            </a:pPr>
            <a:r>
              <a:rPr lang="vi-VN" sz="3200" b="1"/>
              <a:t>2.2.2.2. Thuật toán tìm tất cả các khóa của một lược đồ quan hệ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EFA4-666A-4AEB-A2EB-EBF9E5B67A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vi-VN" sz="2600" b="1" i="1" u="sng"/>
              <a:t>Thuật toán 1 (thuật toán cơ bản)  </a:t>
            </a:r>
            <a:endParaRPr lang="en-US" sz="2600" b="1" i="1" u="sng"/>
          </a:p>
          <a:p>
            <a:pPr marL="0" indent="0" algn="just">
              <a:buNone/>
            </a:pPr>
            <a:r>
              <a:rPr lang="vi-VN" sz="2600" b="1" cap="none"/>
              <a:t>Bước 1: </a:t>
            </a:r>
            <a:r>
              <a:rPr lang="vi-VN" sz="2600" cap="none"/>
              <a:t>xác định tất cả các tập con của Q</a:t>
            </a:r>
            <a:endParaRPr lang="en-US" sz="2600" cap="none"/>
          </a:p>
          <a:p>
            <a:pPr marL="0" indent="0" algn="just">
              <a:buNone/>
            </a:pPr>
            <a:r>
              <a:rPr lang="vi-VN" sz="2600" cap="none"/>
              <a:t>Để xác định tất cả các tập con của một lược đồ quan hệ q(a</a:t>
            </a:r>
            <a:r>
              <a:rPr lang="vi-VN" sz="2600" cap="none" baseline="-25000"/>
              <a:t>1</a:t>
            </a:r>
            <a:r>
              <a:rPr lang="vi-VN" sz="2600" cap="none"/>
              <a:t>,a</a:t>
            </a:r>
            <a:r>
              <a:rPr lang="vi-VN" sz="2600" cap="none" baseline="-25000"/>
              <a:t>2</a:t>
            </a:r>
            <a:r>
              <a:rPr lang="vi-VN" sz="2600" cap="none"/>
              <a:t>,…,a</a:t>
            </a:r>
            <a:r>
              <a:rPr lang="vi-VN" sz="2600" cap="none" baseline="-25000"/>
              <a:t>n</a:t>
            </a:r>
            <a:r>
              <a:rPr lang="vi-VN" sz="2600" cap="none"/>
              <a:t>) ta lần lượt duyệt tất cả 2</a:t>
            </a:r>
            <a:r>
              <a:rPr lang="vi-VN" sz="2600" cap="none" baseline="30000"/>
              <a:t>n</a:t>
            </a:r>
            <a:r>
              <a:rPr lang="vi-VN" sz="2600" cap="none"/>
              <a:t> </a:t>
            </a:r>
            <a:r>
              <a:rPr lang="en-US" sz="2600" cap="none"/>
              <a:t>-1</a:t>
            </a:r>
            <a:r>
              <a:rPr lang="vi-VN" sz="2600" cap="none"/>
              <a:t>tập hợp con khác rỗng của Q</a:t>
            </a:r>
            <a:r>
              <a:rPr lang="vi-VN" sz="2600" cap="none" baseline="30000"/>
              <a:t>+</a:t>
            </a:r>
            <a:r>
              <a:rPr lang="vi-VN" sz="2600" cap="none"/>
              <a:t> (n là số thuộc tính của lược đồ quan hệ Q), kết quả tìm được giả sử là các tập thuộc tính: S={X</a:t>
            </a:r>
            <a:r>
              <a:rPr lang="vi-VN" sz="2600" cap="none" baseline="-25000"/>
              <a:t>1</a:t>
            </a:r>
            <a:r>
              <a:rPr lang="vi-VN" sz="2600" cap="none"/>
              <a:t>, X</a:t>
            </a:r>
            <a:r>
              <a:rPr lang="vi-VN" sz="2600" cap="none" baseline="-25000"/>
              <a:t>2</a:t>
            </a:r>
            <a:r>
              <a:rPr lang="vi-VN" sz="2600" cap="none"/>
              <a:t>, …,x</a:t>
            </a:r>
            <a:r>
              <a:rPr lang="vi-VN" sz="2600" cap="none" baseline="-25000"/>
              <a:t>2n-1</a:t>
            </a:r>
            <a:r>
              <a:rPr lang="vi-VN" sz="2600" cap="none"/>
              <a:t> }</a:t>
            </a:r>
            <a:endParaRPr lang="en-US" sz="2600" cap="none"/>
          </a:p>
        </p:txBody>
      </p:sp>
    </p:spTree>
    <p:extLst>
      <p:ext uri="{BB962C8B-B14F-4D97-AF65-F5344CB8AC3E}">
        <p14:creationId xmlns:p14="http://schemas.microsoft.com/office/powerpoint/2010/main" val="323959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13717"/>
            <a:ext cx="10364451" cy="1596177"/>
          </a:xfrm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</a:pPr>
            <a:r>
              <a:rPr lang="vi-VN" sz="3200" b="1"/>
              <a:t>2.2.2.2. Thuật toán tìm tất cả các khóa của một lược đồ quan hệ</a:t>
            </a:r>
            <a:endParaRPr lang="en-US" sz="3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0EFA4-666A-4AEB-A2EB-EBF9E5B67A3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36683" y="1909894"/>
                <a:ext cx="10363826" cy="474028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40000"/>
                  </a:lnSpc>
                  <a:buNone/>
                </a:pPr>
                <a:r>
                  <a:rPr lang="vi-VN" sz="2600" b="1" cap="none"/>
                  <a:t>Bước 2:</a:t>
                </a:r>
                <a:r>
                  <a:rPr lang="vi-VN" sz="2600" cap="none"/>
                  <a:t> Tìm bao đóng của các X</a:t>
                </a:r>
                <a:r>
                  <a:rPr lang="vi-VN" sz="2600" cap="none" baseline="-25000"/>
                  <a:t>i</a:t>
                </a:r>
                <a:r>
                  <a:rPr lang="vi-VN" sz="2600" cap="none"/>
                  <a:t> (Tính X</a:t>
                </a:r>
                <a:r>
                  <a:rPr lang="vi-VN" sz="2600" cap="none" baseline="-25000"/>
                  <a:t>i</a:t>
                </a:r>
                <a:r>
                  <a:rPr lang="vi-VN" sz="2600" cap="none" baseline="30000"/>
                  <a:t>+</a:t>
                </a:r>
                <a:r>
                  <a:rPr lang="vi-VN" sz="2600" cap="none"/>
                  <a:t>) </a:t>
                </a:r>
                <a:endParaRPr lang="en-US" sz="2600" cap="none"/>
              </a:p>
              <a:p>
                <a:pPr marL="0" indent="0" algn="just">
                  <a:lnSpc>
                    <a:spcPct val="140000"/>
                  </a:lnSpc>
                  <a:buNone/>
                </a:pPr>
                <a:r>
                  <a:rPr lang="vi-VN" sz="2600" b="1" cap="none"/>
                  <a:t>Bước 3:</a:t>
                </a:r>
                <a:r>
                  <a:rPr lang="vi-VN" sz="2600" cap="none"/>
                  <a:t> Nếu X</a:t>
                </a:r>
                <a:r>
                  <a:rPr lang="vi-VN" sz="2600" cap="none" baseline="-25000"/>
                  <a:t>i</a:t>
                </a:r>
                <a:r>
                  <a:rPr lang="vi-VN" sz="2600" cap="none" baseline="30000"/>
                  <a:t>+</a:t>
                </a:r>
                <a:r>
                  <a:rPr lang="vi-VN" sz="2600" cap="none"/>
                  <a:t> = Q</a:t>
                </a:r>
                <a:r>
                  <a:rPr lang="vi-VN" sz="2600" cap="none" baseline="30000"/>
                  <a:t>+</a:t>
                </a:r>
                <a:r>
                  <a:rPr lang="vi-VN" sz="2600" cap="none"/>
                  <a:t>  thì X</a:t>
                </a:r>
                <a:r>
                  <a:rPr lang="vi-VN" sz="2600" cap="none" baseline="-25000"/>
                  <a:t>i</a:t>
                </a:r>
                <a:r>
                  <a:rPr lang="vi-VN" sz="2600" cap="none"/>
                  <a:t> là siêu khoá  Giả sử sau bước này có m siêu khoá:  S = {S</a:t>
                </a:r>
                <a:r>
                  <a:rPr lang="vi-VN" sz="2600" cap="none" baseline="-25000"/>
                  <a:t>1</a:t>
                </a:r>
                <a:r>
                  <a:rPr lang="vi-VN" sz="2600" cap="none"/>
                  <a:t>,S</a:t>
                </a:r>
                <a:r>
                  <a:rPr lang="vi-VN" sz="2600" cap="none" baseline="-25000"/>
                  <a:t>2</a:t>
                </a:r>
                <a:r>
                  <a:rPr lang="vi-VN" sz="2600" cap="none"/>
                  <a:t>,…,S</a:t>
                </a:r>
                <a:r>
                  <a:rPr lang="vi-VN" sz="2600" cap="none" baseline="-25000"/>
                  <a:t>m</a:t>
                </a:r>
                <a:r>
                  <a:rPr lang="vi-VN" sz="2600" cap="none"/>
                  <a:t>}  </a:t>
                </a:r>
                <a:endParaRPr lang="en-US" sz="2600" cap="none"/>
              </a:p>
              <a:p>
                <a:pPr marL="0" indent="0" algn="just">
                  <a:lnSpc>
                    <a:spcPct val="140000"/>
                  </a:lnSpc>
                  <a:buNone/>
                </a:pPr>
                <a:r>
                  <a:rPr lang="vi-VN" sz="2600" b="1" cap="none"/>
                  <a:t>Bước 4</a:t>
                </a:r>
                <a:r>
                  <a:rPr lang="en-US" sz="2600" b="1" cap="none"/>
                  <a:t>:</a:t>
                </a:r>
                <a:r>
                  <a:rPr lang="vi-VN" sz="2600" cap="none"/>
                  <a:t> Xây dựng tập chứa tất cả các khoá của Q từ tập S  Xét mọi S</a:t>
                </a:r>
                <a:r>
                  <a:rPr lang="vi-VN" sz="2600" cap="none" baseline="-25000"/>
                  <a:t>i</a:t>
                </a:r>
                <a:r>
                  <a:rPr lang="vi-VN" sz="2600" cap="none"/>
                  <a:t>,S</a:t>
                </a:r>
                <a:r>
                  <a:rPr lang="vi-VN" sz="2600" cap="none" baseline="-25000"/>
                  <a:t>j</a:t>
                </a:r>
                <a:r>
                  <a:rPr lang="vi-VN" sz="2600" cap="none"/>
                  <a:t> con của S (i ≠ j), nếu S</a:t>
                </a:r>
                <a:r>
                  <a:rPr lang="vi-VN" sz="2600" cap="none" baseline="-25000"/>
                  <a:t>i</a:t>
                </a:r>
                <a:r>
                  <a:rPr lang="vi-VN" sz="2600" cap="none"/>
                  <a:t> </a:t>
                </a:r>
                <a14:m>
                  <m:oMath xmlns:m="http://schemas.openxmlformats.org/officeDocument/2006/math">
                    <m:r>
                      <a:rPr lang="vi-VN" sz="2800" i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vi-VN" sz="2600" cap="none"/>
                  <a:t> S</a:t>
                </a:r>
                <a:r>
                  <a:rPr lang="vi-VN" sz="2600" cap="none" baseline="-25000"/>
                  <a:t>j</a:t>
                </a:r>
                <a:r>
                  <a:rPr lang="vi-VN" sz="2600" cap="none"/>
                  <a:t> thì ta loại S</a:t>
                </a:r>
                <a:r>
                  <a:rPr lang="vi-VN" sz="2600" cap="none" baseline="-25000"/>
                  <a:t>j</a:t>
                </a:r>
                <a:r>
                  <a:rPr lang="vi-VN" sz="2600" cap="none"/>
                  <a:t> (i,j=1..m), kết quả còn lại chính là tập tất cả các khoá cần tìm.</a:t>
                </a:r>
                <a:endParaRPr lang="en-US" sz="2600" cap="none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0EFA4-666A-4AEB-A2EB-EBF9E5B67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36683" y="1909894"/>
                <a:ext cx="10363826" cy="4740288"/>
              </a:xfrm>
              <a:blipFill>
                <a:blip r:embed="rId2"/>
                <a:stretch>
                  <a:fillRect l="-1058" r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56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13717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3200" b="1"/>
              <a:t>Ví dụ 1: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EFA4-666A-4AEB-A2EB-EBF9E5B67A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6182"/>
            <a:ext cx="10363826" cy="114992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vi-VN" sz="2600" b="1" cap="none"/>
              <a:t>Tìm tất cả các khoá của lược đồ quan hệ Q và tập phụ thuộc hàm  F được cho như sau:</a:t>
            </a:r>
            <a:endParaRPr lang="en-US" sz="2600" cap="non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A9745-8280-43D8-8284-CDBF0B5BD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15" y="2676558"/>
            <a:ext cx="1672503" cy="1826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F7572A-4373-41D9-AD98-AEBC60834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187" y="2122796"/>
            <a:ext cx="5041322" cy="442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8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13717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3200" b="1"/>
              <a:t>Ví dụ </a:t>
            </a:r>
            <a:r>
              <a:rPr lang="en-US" sz="3200" b="1"/>
              <a:t>2</a:t>
            </a:r>
            <a:r>
              <a:rPr lang="vi-VN" sz="3200" b="1"/>
              <a:t>: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EFA4-666A-4AEB-A2EB-EBF9E5B67A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6182"/>
            <a:ext cx="10363826" cy="114992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vi-VN" sz="2600" b="1" cap="none"/>
              <a:t>Tìm tất cả các khoá của lược đồ quan hệ Q và tập phụ thuộc hàm  F được cho như sau:</a:t>
            </a:r>
            <a:endParaRPr lang="en-US" sz="2600" cap="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B6FE25-7600-4EA8-A6EB-31046916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54" y="2775457"/>
            <a:ext cx="5902038" cy="68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9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13717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3200" b="1"/>
              <a:t>Thuật toán 2 (thuật toán cải tiến)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EFA4-666A-4AEB-A2EB-EBF9E5B67A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6182"/>
            <a:ext cx="10363826" cy="490450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vi-VN" sz="2600" cap="none"/>
              <a:t>Trước khi đi vào thuật toán cải tiến, ta cần đưa thêm một số khái niệm sau:  </a:t>
            </a:r>
            <a:endParaRPr lang="en-US" sz="2600" cap="none"/>
          </a:p>
          <a:p>
            <a:pPr algn="just">
              <a:lnSpc>
                <a:spcPct val="140000"/>
              </a:lnSpc>
              <a:buFontTx/>
              <a:buChar char="-"/>
            </a:pPr>
            <a:r>
              <a:rPr lang="vi-VN" sz="2600" b="1" cap="none"/>
              <a:t>Tập thuộc tính nguồn (TN) </a:t>
            </a:r>
            <a:r>
              <a:rPr lang="vi-VN" sz="2600" cap="none"/>
              <a:t>chứa tất cả các thuộc tính có xuất hiện  ở vế trái và không xuất hiện ở vế phải của tập phụ thuộc hàm. Những thuộc tính không tham gia vào bất kỳ một phụ thuộc hàm nào thì cũng đưa vào tập nguồn.  </a:t>
            </a:r>
            <a:endParaRPr lang="en-US" sz="2600" cap="none"/>
          </a:p>
          <a:p>
            <a:pPr algn="just">
              <a:lnSpc>
                <a:spcPct val="140000"/>
              </a:lnSpc>
              <a:buFontTx/>
              <a:buChar char="-"/>
            </a:pPr>
            <a:r>
              <a:rPr lang="vi-VN" sz="2600" b="1" cap="none"/>
              <a:t>Tập thuộc tính đích (TD) </a:t>
            </a:r>
            <a:r>
              <a:rPr lang="vi-VN" sz="2600" cap="none"/>
              <a:t>chứa tất cả các thuộc tính có xuất hiện ở vế phải và không xuất hiện ở vế trái của tập  phụ thuộc hàm.  </a:t>
            </a:r>
            <a:endParaRPr lang="en-US" sz="2600" cap="none"/>
          </a:p>
          <a:p>
            <a:pPr algn="just">
              <a:lnSpc>
                <a:spcPct val="140000"/>
              </a:lnSpc>
              <a:buFontTx/>
              <a:buChar char="-"/>
            </a:pPr>
            <a:r>
              <a:rPr lang="vi-VN" sz="2600" b="1" cap="none"/>
              <a:t>Tập trung gian(TG)</a:t>
            </a:r>
            <a:r>
              <a:rPr lang="vi-VN" sz="2600" cap="none"/>
              <a:t> chứa tất cả các  thuộc tính vừa tham gia vào vế trái vừa tham gia vào vế phải.</a:t>
            </a:r>
            <a:endParaRPr lang="en-US" sz="2600" cap="none"/>
          </a:p>
        </p:txBody>
      </p:sp>
    </p:spTree>
    <p:extLst>
      <p:ext uri="{BB962C8B-B14F-4D97-AF65-F5344CB8AC3E}">
        <p14:creationId xmlns:p14="http://schemas.microsoft.com/office/powerpoint/2010/main" val="6766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13717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 b="1"/>
              <a:t>Ví dụ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5FAA77-4AC9-4387-B245-9757EE55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16" y="1212273"/>
            <a:ext cx="1672503" cy="1826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11B944-868D-4900-A990-40403A264F18}"/>
                  </a:ext>
                </a:extLst>
              </p:cNvPr>
              <p:cNvSpPr txBox="1"/>
              <p:nvPr/>
            </p:nvSpPr>
            <p:spPr>
              <a:xfrm>
                <a:off x="4274440" y="1293492"/>
                <a:ext cx="284018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TN =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2800">
                  <a:ea typeface="Cambria Math" panose="02040503050406030204" pitchFamily="18" charset="0"/>
                </a:endParaRPr>
              </a:p>
              <a:p>
                <a:r>
                  <a:rPr lang="en-US" sz="2800"/>
                  <a:t>TĐ={C}</a:t>
                </a:r>
              </a:p>
              <a:p>
                <a:r>
                  <a:rPr lang="en-US" sz="2800"/>
                  <a:t>TG={A,B}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11B944-868D-4900-A990-40403A264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440" y="1293492"/>
                <a:ext cx="2840181" cy="1384995"/>
              </a:xfrm>
              <a:prstGeom prst="rect">
                <a:avLst/>
              </a:prstGeom>
              <a:blipFill>
                <a:blip r:embed="rId3"/>
                <a:stretch>
                  <a:fillRect l="-429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D967754-C067-4D20-8C16-1BCD44065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63" y="4040793"/>
            <a:ext cx="5902038" cy="687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A8D6BA-C722-4C20-B2D7-0F4067351EF4}"/>
                  </a:ext>
                </a:extLst>
              </p:cNvPr>
              <p:cNvSpPr txBox="1"/>
              <p:nvPr/>
            </p:nvSpPr>
            <p:spPr>
              <a:xfrm>
                <a:off x="7467600" y="3796146"/>
                <a:ext cx="284018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TN =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>
                  <a:ea typeface="Cambria Math" panose="02040503050406030204" pitchFamily="18" charset="0"/>
                </a:endParaRPr>
              </a:p>
              <a:p>
                <a:r>
                  <a:rPr lang="en-US" sz="2800"/>
                  <a:t>TĐ=</a:t>
                </a:r>
                <a:r>
                  <a:rPr lang="en-US" sz="280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2800"/>
              </a:p>
              <a:p>
                <a:r>
                  <a:rPr lang="en-US" sz="2800"/>
                  <a:t>TG={C,Z}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A8D6BA-C722-4C20-B2D7-0F4067351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3796146"/>
                <a:ext cx="2840181" cy="1384995"/>
              </a:xfrm>
              <a:prstGeom prst="rect">
                <a:avLst/>
              </a:prstGeom>
              <a:blipFill>
                <a:blip r:embed="rId5"/>
                <a:stretch>
                  <a:fillRect l="-4292" t="-4846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792" y="0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3200" b="1"/>
              <a:t>Thuật toán 2 (thuật toán cải tiến)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EFA4-666A-4AEB-A2EB-EBF9E5B67A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872836"/>
            <a:ext cx="10363826" cy="57357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vi-VN" sz="2600" b="1" cap="none"/>
              <a:t>Dữ liệu vào: </a:t>
            </a:r>
            <a:r>
              <a:rPr lang="vi-VN" sz="2600" cap="none"/>
              <a:t>Lược đồ quan hệ phổ quát Q và tập phụ thuộc dữ liệu F  </a:t>
            </a:r>
            <a:endParaRPr lang="en-US" sz="2600" cap="none"/>
          </a:p>
          <a:p>
            <a:pPr marL="0" indent="0" algn="just">
              <a:lnSpc>
                <a:spcPct val="140000"/>
              </a:lnSpc>
              <a:buNone/>
            </a:pPr>
            <a:r>
              <a:rPr lang="vi-VN" sz="2600" b="1" cap="none"/>
              <a:t>Dữ liệu ra:</a:t>
            </a:r>
            <a:r>
              <a:rPr lang="vi-VN" sz="2600" cap="none"/>
              <a:t>  Tất cả các khoá của quan hệ  </a:t>
            </a:r>
            <a:endParaRPr lang="en-US" sz="2600" cap="none"/>
          </a:p>
          <a:p>
            <a:pPr marL="0" indent="0" algn="just">
              <a:lnSpc>
                <a:spcPct val="140000"/>
              </a:lnSpc>
              <a:buNone/>
            </a:pPr>
            <a:r>
              <a:rPr lang="vi-VN" sz="2600" b="1" cap="none"/>
              <a:t>Bước 0:</a:t>
            </a:r>
            <a:r>
              <a:rPr lang="vi-VN" sz="2600" cap="none"/>
              <a:t> Tìm tập thuộc tính nguồn(TN), tập thuộc tính trung gian(TG)  Tìm tất cả các tập con của tập trung gian gọi là X</a:t>
            </a:r>
            <a:r>
              <a:rPr lang="vi-VN" sz="2600" cap="none" baseline="-25000"/>
              <a:t>i</a:t>
            </a:r>
            <a:endParaRPr lang="en-US" sz="2600" cap="none"/>
          </a:p>
          <a:p>
            <a:pPr marL="0" indent="0" algn="just">
              <a:lnSpc>
                <a:spcPct val="140000"/>
              </a:lnSpc>
              <a:buNone/>
            </a:pPr>
            <a:r>
              <a:rPr lang="vi-VN" sz="2600" cap="none"/>
              <a:t> if   tập trung gian=∅  then  (lược đồ quan hệ chỉ có một khóa K)   </a:t>
            </a:r>
            <a:endParaRPr lang="en-US" sz="2600" cap="none"/>
          </a:p>
          <a:p>
            <a:pPr marL="0" indent="0" algn="just">
              <a:lnSpc>
                <a:spcPct val="140000"/>
              </a:lnSpc>
              <a:buNone/>
            </a:pPr>
            <a:r>
              <a:rPr lang="vi-VN" sz="2600" cap="none"/>
              <a:t>Tập Khoá = Tập nguồn ;</a:t>
            </a:r>
            <a:r>
              <a:rPr lang="en-US" sz="2600" cap="none"/>
              <a:t>   </a:t>
            </a:r>
            <a:r>
              <a:rPr lang="vi-VN" sz="2600" cap="none"/>
              <a:t>kết thúc   Ngược lại  </a:t>
            </a:r>
          </a:p>
          <a:p>
            <a:pPr marL="0" indent="0" algn="just">
              <a:lnSpc>
                <a:spcPct val="140000"/>
              </a:lnSpc>
              <a:buNone/>
            </a:pPr>
            <a:r>
              <a:rPr lang="vi-VN" sz="2600" cap="none"/>
              <a:t>Qua bước 1</a:t>
            </a:r>
            <a:endParaRPr lang="en-US" sz="2600" cap="none"/>
          </a:p>
        </p:txBody>
      </p:sp>
    </p:spTree>
    <p:extLst>
      <p:ext uri="{BB962C8B-B14F-4D97-AF65-F5344CB8AC3E}">
        <p14:creationId xmlns:p14="http://schemas.microsoft.com/office/powerpoint/2010/main" val="126521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792" y="0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3200" b="1"/>
              <a:t>Thuật toán 2 (thuật toán cải tiến)</a:t>
            </a:r>
            <a:endParaRPr lang="en-US" sz="3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1B24E-AA56-4614-B4DA-94BDBC657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96" y="1351684"/>
            <a:ext cx="8923980" cy="415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76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792" y="0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3200" b="1"/>
              <a:t>Thuật toán 2 (thuật toán cải tiến)</a:t>
            </a:r>
            <a:endParaRPr lang="en-US" sz="3200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6592FA-0698-4947-8212-C3010A249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12" y="3710635"/>
            <a:ext cx="10560582" cy="1176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3E5CFE-0265-4008-84D9-4A7EF759F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646" y="1072251"/>
            <a:ext cx="2219851" cy="743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BA0CD-BAA6-4A92-9375-EF779650D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646" y="1983518"/>
            <a:ext cx="2880872" cy="618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CA46D5-8A7B-4296-96AB-410DE5294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647" y="2650580"/>
            <a:ext cx="5991702" cy="7258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A921A5-4715-471C-87F0-DB84F0621718}"/>
              </a:ext>
            </a:extLst>
          </p:cNvPr>
          <p:cNvSpPr txBox="1"/>
          <p:nvPr/>
        </p:nvSpPr>
        <p:spPr>
          <a:xfrm>
            <a:off x="1184223" y="1287206"/>
            <a:ext cx="1932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ỚC 1.1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37645-2D01-4B58-83C6-2615551C68D3}"/>
              </a:ext>
            </a:extLst>
          </p:cNvPr>
          <p:cNvSpPr txBox="1"/>
          <p:nvPr/>
        </p:nvSpPr>
        <p:spPr>
          <a:xfrm>
            <a:off x="1184223" y="2127360"/>
            <a:ext cx="1932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ỚC 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B8F1AB-6EAF-47D5-8E38-4F384C9ED382}"/>
              </a:ext>
            </a:extLst>
          </p:cNvPr>
          <p:cNvSpPr txBox="1"/>
          <p:nvPr/>
        </p:nvSpPr>
        <p:spPr>
          <a:xfrm>
            <a:off x="1184223" y="2823672"/>
            <a:ext cx="1932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ỚC 1.3</a:t>
            </a:r>
          </a:p>
        </p:txBody>
      </p:sp>
    </p:spTree>
    <p:extLst>
      <p:ext uri="{BB962C8B-B14F-4D97-AF65-F5344CB8AC3E}">
        <p14:creationId xmlns:p14="http://schemas.microsoft.com/office/powerpoint/2010/main" val="303187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792" y="0"/>
            <a:ext cx="10364451" cy="10024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3200" b="1"/>
              <a:t>Thuật toán 2 (thuật toán cải tiến)</a:t>
            </a:r>
            <a:endParaRPr lang="en-US" sz="32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04481E-6766-4DCD-8407-6BC1002D5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0" y="2556911"/>
            <a:ext cx="7735050" cy="10107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B192D5-B86F-4739-B4E3-6C16E89EA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10" y="4031195"/>
            <a:ext cx="10566412" cy="1395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D28B7E-6832-4C96-B6B7-E899ABA2F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09" y="1648918"/>
            <a:ext cx="9217467" cy="676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B76272-7BBC-4553-975A-8F087D10EE4A}"/>
              </a:ext>
            </a:extLst>
          </p:cNvPr>
          <p:cNvSpPr txBox="1"/>
          <p:nvPr/>
        </p:nvSpPr>
        <p:spPr>
          <a:xfrm>
            <a:off x="1139252" y="1009814"/>
            <a:ext cx="1932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ỚC 2</a:t>
            </a:r>
          </a:p>
        </p:txBody>
      </p:sp>
    </p:spTree>
    <p:extLst>
      <p:ext uri="{BB962C8B-B14F-4D97-AF65-F5344CB8AC3E}">
        <p14:creationId xmlns:p14="http://schemas.microsoft.com/office/powerpoint/2010/main" val="293926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071" y="346456"/>
            <a:ext cx="10364451" cy="100246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vi-VN" sz="2400" b="1"/>
              <a:t>Ví dụ:  Tìm tất cả các khoá của lược đồ quan hệ Q và tập phụ thuộc hàm  F được cho như sau:</a:t>
            </a:r>
            <a:endParaRPr lang="en-US" sz="24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9D96E-AA39-40A7-8540-8B9930E03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29" y="1798926"/>
            <a:ext cx="1914526" cy="2132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6EE053-7F68-4F8A-80B2-CFC3884B5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413" y="1676401"/>
            <a:ext cx="4272169" cy="742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BE14C6-9614-4216-B0F1-17E2EC19D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401" y="2549236"/>
            <a:ext cx="7911893" cy="37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9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C9C3-8DBA-442A-B716-19452F11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071" y="346456"/>
            <a:ext cx="10364451" cy="100246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vi-VN" sz="2400" b="1"/>
              <a:t>Ví dụ:  Tìm tất cả các khoá của lược đồ quan hệ Q và tập phụ thuộc hàm  F được cho như sau:</a:t>
            </a:r>
            <a:endParaRPr lang="en-US" sz="24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BFB23-D2D4-49A8-8295-789B827A9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854" y="2004175"/>
            <a:ext cx="5902038" cy="68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2835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320</TotalTime>
  <Words>929</Words>
  <Application>Microsoft Office PowerPoint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Cambria Math</vt:lpstr>
      <vt:lpstr>Times New Roman</vt:lpstr>
      <vt:lpstr>Tw Cen MT</vt:lpstr>
      <vt:lpstr>Droplet</vt:lpstr>
      <vt:lpstr> 2.2: KHÓA CỦA LƯỢC ĐỒ QUAN HỆ </vt:lpstr>
      <vt:lpstr> 2.2.1. Khái niệm: </vt:lpstr>
      <vt:lpstr>2.2.2. Thuật toán tìm khóa:  2.2.2.1. Thuật toán tìm một khóa của một lược đồ quan hệ </vt:lpstr>
      <vt:lpstr>Ví dụ:</vt:lpstr>
      <vt:lpstr>2.2.2.2. Thuật toán tìm tất cả các khóa của một lược đồ quan hệ</vt:lpstr>
      <vt:lpstr>2.2.2.2. Thuật toán tìm tất cả các khóa của một lược đồ quan hệ</vt:lpstr>
      <vt:lpstr>Ví dụ 1:</vt:lpstr>
      <vt:lpstr>Ví dụ 2:</vt:lpstr>
      <vt:lpstr>Thuật toán 2 (thuật toán cải tiến)</vt:lpstr>
      <vt:lpstr>Ví dụ</vt:lpstr>
      <vt:lpstr>Thuật toán 2 (thuật toán cải tiến)</vt:lpstr>
      <vt:lpstr>Thuật toán 2 (thuật toán cải tiến)</vt:lpstr>
      <vt:lpstr>Thuật toán 2 (thuật toán cải tiến)</vt:lpstr>
      <vt:lpstr>Thuật toán 2 (thuật toán cải tiến)</vt:lpstr>
      <vt:lpstr>Ví dụ:  Tìm tất cả các khoá của lược đồ quan hệ Q và tập phụ thuộc hàm  F được cho như sau:</vt:lpstr>
      <vt:lpstr>Ví dụ:  Tìm tất cả các khoá của lược đồ quan hệ Q và tập phụ thuộc hàm  F được cho như sau: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2.2: KHÓA CỦA LƯỢC ĐỒ QUAN HỆ</dc:title>
  <dc:creator>ngans</dc:creator>
  <cp:lastModifiedBy>ngans</cp:lastModifiedBy>
  <cp:revision>20</cp:revision>
  <dcterms:created xsi:type="dcterms:W3CDTF">2020-04-04T07:25:36Z</dcterms:created>
  <dcterms:modified xsi:type="dcterms:W3CDTF">2020-04-08T09:39:31Z</dcterms:modified>
</cp:coreProperties>
</file>